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257" r:id="rId3"/>
    <p:sldId id="258" r:id="rId4"/>
    <p:sldId id="259" r:id="rId5"/>
    <p:sldId id="260" r:id="rId6"/>
    <p:sldId id="422" r:id="rId7"/>
    <p:sldId id="261" r:id="rId8"/>
    <p:sldId id="262" r:id="rId9"/>
    <p:sldId id="263" r:id="rId10"/>
    <p:sldId id="265" r:id="rId11"/>
    <p:sldId id="264" r:id="rId12"/>
    <p:sldId id="266" r:id="rId13"/>
    <p:sldId id="267" r:id="rId14"/>
    <p:sldId id="268" r:id="rId15"/>
    <p:sldId id="269" r:id="rId16"/>
    <p:sldId id="270" r:id="rId17"/>
    <p:sldId id="271" r:id="rId18"/>
    <p:sldId id="273" r:id="rId19"/>
    <p:sldId id="274" r:id="rId20"/>
    <p:sldId id="276" r:id="rId21"/>
    <p:sldId id="272"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9" r:id="rId54"/>
    <p:sldId id="308" r:id="rId55"/>
    <p:sldId id="310" r:id="rId56"/>
    <p:sldId id="311" r:id="rId57"/>
    <p:sldId id="312" r:id="rId58"/>
    <p:sldId id="313" r:id="rId59"/>
    <p:sldId id="316" r:id="rId60"/>
    <p:sldId id="317" r:id="rId61"/>
    <p:sldId id="349" r:id="rId62"/>
    <p:sldId id="350" r:id="rId63"/>
    <p:sldId id="414" r:id="rId64"/>
    <p:sldId id="415" r:id="rId65"/>
    <p:sldId id="417" r:id="rId66"/>
    <p:sldId id="416" r:id="rId67"/>
    <p:sldId id="418" r:id="rId68"/>
    <p:sldId id="419" r:id="rId69"/>
    <p:sldId id="420" r:id="rId70"/>
    <p:sldId id="327" r:id="rId71"/>
    <p:sldId id="333" r:id="rId72"/>
    <p:sldId id="423" r:id="rId73"/>
    <p:sldId id="424" r:id="rId74"/>
    <p:sldId id="354" r:id="rId75"/>
    <p:sldId id="355" r:id="rId76"/>
    <p:sldId id="425" r:id="rId77"/>
    <p:sldId id="426" r:id="rId78"/>
    <p:sldId id="427" r:id="rId79"/>
    <p:sldId id="428" r:id="rId80"/>
    <p:sldId id="429" r:id="rId81"/>
    <p:sldId id="430" r:id="rId82"/>
    <p:sldId id="431" r:id="rId83"/>
    <p:sldId id="326" r:id="rId84"/>
    <p:sldId id="339" r:id="rId85"/>
    <p:sldId id="432" r:id="rId86"/>
    <p:sldId id="348" r:id="rId87"/>
    <p:sldId id="389" r:id="rId88"/>
    <p:sldId id="356" r:id="rId89"/>
    <p:sldId id="388" r:id="rId90"/>
    <p:sldId id="408" r:id="rId91"/>
    <p:sldId id="410" r:id="rId92"/>
    <p:sldId id="411" r:id="rId93"/>
    <p:sldId id="436" r:id="rId94"/>
    <p:sldId id="437" r:id="rId95"/>
    <p:sldId id="413" r:id="rId96"/>
    <p:sldId id="434" r:id="rId97"/>
    <p:sldId id="438" r:id="rId98"/>
    <p:sldId id="394" r:id="rId99"/>
    <p:sldId id="395" r:id="rId100"/>
    <p:sldId id="396" r:id="rId101"/>
    <p:sldId id="402" r:id="rId102"/>
    <p:sldId id="439" r:id="rId103"/>
    <p:sldId id="440" r:id="rId104"/>
    <p:sldId id="441" r:id="rId105"/>
    <p:sldId id="442" r:id="rId106"/>
    <p:sldId id="443" r:id="rId107"/>
    <p:sldId id="445" r:id="rId108"/>
    <p:sldId id="446" r:id="rId109"/>
    <p:sldId id="444" r:id="rId110"/>
    <p:sldId id="447" r:id="rId111"/>
    <p:sldId id="448" r:id="rId112"/>
    <p:sldId id="449" r:id="rId113"/>
    <p:sldId id="450" r:id="rId1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unson Ebony" initials="TE" lastIdx="4" clrIdx="0">
    <p:extLst>
      <p:ext uri="{19B8F6BF-5375-455C-9EA6-DF929625EA0E}">
        <p15:presenceInfo xmlns:p15="http://schemas.microsoft.com/office/powerpoint/2012/main" userId="d8299e3f28fc71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p:scale>
          <a:sx n="100" d="100"/>
          <a:sy n="100" d="100"/>
        </p:scale>
        <p:origin x="183"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image" Target="../media/image69.wmf"/><Relationship Id="rId7" Type="http://schemas.openxmlformats.org/officeDocument/2006/relationships/image" Target="../media/image73.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10" Type="http://schemas.openxmlformats.org/officeDocument/2006/relationships/image" Target="../media/image76.wmf"/><Relationship Id="rId4" Type="http://schemas.openxmlformats.org/officeDocument/2006/relationships/image" Target="../media/image70.wmf"/><Relationship Id="rId9" Type="http://schemas.openxmlformats.org/officeDocument/2006/relationships/image" Target="../media/image7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B5336-6A1F-403E-8F22-1C74B9388531}" type="datetimeFigureOut">
              <a:rPr lang="zh-CN" altLang="en-US" smtClean="0"/>
              <a:t>2026/6/20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045986-7256-498E-A8B4-3AF4BCC3617D}" type="slidenum">
              <a:rPr lang="zh-CN" altLang="en-US" smtClean="0"/>
              <a:t>‹#›</a:t>
            </a:fld>
            <a:endParaRPr lang="zh-CN" altLang="en-US"/>
          </a:p>
        </p:txBody>
      </p:sp>
    </p:spTree>
    <p:extLst>
      <p:ext uri="{BB962C8B-B14F-4D97-AF65-F5344CB8AC3E}">
        <p14:creationId xmlns:p14="http://schemas.microsoft.com/office/powerpoint/2010/main" val="3497102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84</a:t>
            </a:fld>
            <a:endParaRPr lang="zh-CN" altLang="en-US"/>
          </a:p>
        </p:txBody>
      </p:sp>
    </p:spTree>
    <p:extLst>
      <p:ext uri="{BB962C8B-B14F-4D97-AF65-F5344CB8AC3E}">
        <p14:creationId xmlns:p14="http://schemas.microsoft.com/office/powerpoint/2010/main" val="228338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86</a:t>
            </a:fld>
            <a:endParaRPr lang="zh-CN" altLang="en-US"/>
          </a:p>
        </p:txBody>
      </p:sp>
    </p:spTree>
    <p:extLst>
      <p:ext uri="{BB962C8B-B14F-4D97-AF65-F5344CB8AC3E}">
        <p14:creationId xmlns:p14="http://schemas.microsoft.com/office/powerpoint/2010/main" val="20825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87</a:t>
            </a:fld>
            <a:endParaRPr lang="zh-CN" altLang="en-US"/>
          </a:p>
        </p:txBody>
      </p:sp>
    </p:spTree>
    <p:extLst>
      <p:ext uri="{BB962C8B-B14F-4D97-AF65-F5344CB8AC3E}">
        <p14:creationId xmlns:p14="http://schemas.microsoft.com/office/powerpoint/2010/main" val="39205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D68F7-223D-4F4E-8882-A91373F2FC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344AC9-284C-41D4-A06A-6F9747DD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ECC99C9-1DF3-4D98-A5C0-4510396B6247}"/>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586E547A-AF30-4A5E-B11A-4511FA488F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46DFB5-F0BE-440B-B2FA-6F7E50908B39}"/>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03172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4627E-2097-477B-85E8-837F6ACB83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ED9E76-08F5-4FA3-AFA6-B3D3D3B615E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9E1953-AB6F-4DC1-A638-7D48E3329C53}"/>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6965E3EF-9B9B-476C-A563-0E09EFAD15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83F053-13FF-4BD4-B454-7DEC029B0746}"/>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1664032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1FBC8D-6956-4A4E-868E-20C5AB939E5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FA97249-89A4-4F2A-9B23-5CE6F094DD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68E38-A6C8-4D51-922B-364E5398230D}"/>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0AB9ACAE-88E0-4CED-88B8-F8C8B02A57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B222A2-F1EC-47B3-A124-1CF4E9B5D30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1678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CC6E9-A5B6-4F60-888C-86C6D2B1608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7B0F217-7F56-4B26-AAD1-61D24FE3BB1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6BDACE5-B52B-48DD-8012-8C2B2A02B67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4779245-8E0E-46C5-8742-13AEC6E3B170}"/>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A796C279-BEC6-4CDF-BE6F-1C28671FD7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F109DF-F05C-4910-A828-35ECC656174D}"/>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14620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6F22D-134B-468A-B7DA-0E7E84BA38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740B21F-DDB8-45D7-81DD-B72226E6FD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86F3BED-CC4F-4078-AC90-4B2C1102E30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E59AA7F-9A4D-4EE8-847B-F5E2A8E197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B4F2553-EA8C-4713-BDA5-30F03783463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3931A57-76DA-41B0-AADA-80B8E9D34207}"/>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8" name="页脚占位符 7">
            <a:extLst>
              <a:ext uri="{FF2B5EF4-FFF2-40B4-BE49-F238E27FC236}">
                <a16:creationId xmlns:a16="http://schemas.microsoft.com/office/drawing/2014/main" id="{B5787810-5D17-42A1-998F-C6E2B1F001E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754C992-E2BF-485F-9DB6-4D6248C7D0FA}"/>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3922161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DB7A56-9FF9-4FD1-A04F-3F2D892722C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8EBB91-F109-4691-89B9-0F98A8559431}"/>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4" name="页脚占位符 3">
            <a:extLst>
              <a:ext uri="{FF2B5EF4-FFF2-40B4-BE49-F238E27FC236}">
                <a16:creationId xmlns:a16="http://schemas.microsoft.com/office/drawing/2014/main" id="{8D105151-CC37-48DE-B313-2F61D417907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BE23689-B1FC-4C2D-9BCB-3FFB1A3AC17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409485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F4287D0-CA94-413D-841F-4470718CA6FC}"/>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3" name="页脚占位符 2">
            <a:extLst>
              <a:ext uri="{FF2B5EF4-FFF2-40B4-BE49-F238E27FC236}">
                <a16:creationId xmlns:a16="http://schemas.microsoft.com/office/drawing/2014/main" id="{106B2333-734F-4352-A184-D00EEB423E0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6B44D18-F3FE-4684-96E7-6145BE83CF7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477335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3D38B-08DF-4448-9F78-C61B0CF97A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25D4490-BFBA-42EB-A68F-787A91AF7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7CA574-64AE-4C5E-8700-D8C03B329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ACF8BDD-538B-422B-A548-A2A2CC617FDF}"/>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B5C3E524-5A6E-4060-A7DB-7A22353832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2792AEB-08D5-4F42-8ED0-BF025E2FD300}"/>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32520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66923-BA1A-4871-A503-5E39E2ABE8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E994CFA-4B3B-4309-9E43-7AB03DFC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D9FE2BC-1E60-46DE-8C83-F664CF9EB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7F7AFE-6F6B-4768-8186-C68D09E188A9}"/>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DAB91D22-9FE2-40C0-B627-1AE8A50853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DA6443-3402-43A2-BF32-9DD08DEE1C30}"/>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72469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B7C168-2C3B-49FB-9152-6F1EA20F3B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60E1B69-5AF5-41DB-9E3F-E40CC2A931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26E491-8B52-4629-81CA-E7E2752911DB}"/>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5BCFD5A4-1A68-47BD-BF15-64C89FD0BA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F085A5-025C-44F7-9ACD-1CC7E5D1C2F7}"/>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735296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7536BE-14E6-404D-A35F-17F8B7D4256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1636F32-E661-4C69-991F-C4BBE438049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92AE63-5347-476E-9233-23F277CF70E0}"/>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C6FD0279-227A-406D-A6F5-0344681E81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7CB889-DA66-4E33-A8A8-82A627F89E02}"/>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4098680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3" name="图片 2" descr="SUFE"/>
          <p:cNvPicPr>
            <a:picLocks noChangeAspect="1"/>
          </p:cNvPicPr>
          <p:nvPr userDrawn="1"/>
        </p:nvPicPr>
        <p:blipFill>
          <a:blip r:embed="rId2">
            <a:grayscl/>
          </a:blip>
          <a:stretch>
            <a:fillRect/>
          </a:stretch>
        </p:blipFill>
        <p:spPr>
          <a:xfrm>
            <a:off x="9533255" y="281305"/>
            <a:ext cx="2411095" cy="621665"/>
          </a:xfrm>
          <a:prstGeom prst="rect">
            <a:avLst/>
          </a:prstGeom>
        </p:spPr>
      </p:pic>
    </p:spTree>
    <p:extLst>
      <p:ext uri="{BB962C8B-B14F-4D97-AF65-F5344CB8AC3E}">
        <p14:creationId xmlns:p14="http://schemas.microsoft.com/office/powerpoint/2010/main" val="601374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descr="SUFE"/>
          <p:cNvPicPr>
            <a:picLocks noChangeAspect="1"/>
          </p:cNvPicPr>
          <p:nvPr userDrawn="1"/>
        </p:nvPicPr>
        <p:blipFill>
          <a:blip r:embed="rId2">
            <a:grayscl/>
          </a:blip>
          <a:stretch>
            <a:fillRect/>
          </a:stretch>
        </p:blipFill>
        <p:spPr>
          <a:xfrm>
            <a:off x="9533255" y="281305"/>
            <a:ext cx="2411095" cy="621665"/>
          </a:xfrm>
          <a:prstGeom prst="rect">
            <a:avLst/>
          </a:prstGeom>
        </p:spPr>
      </p:pic>
    </p:spTree>
    <p:extLst>
      <p:ext uri="{BB962C8B-B14F-4D97-AF65-F5344CB8AC3E}">
        <p14:creationId xmlns:p14="http://schemas.microsoft.com/office/powerpoint/2010/main" val="308003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0BB587-EB3B-4458-9DBB-2A43BDDE01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38219C0-4EA5-430D-9FA7-CDAEC8A62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E7A9B7-D334-4D48-9481-3DF3E661DE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71287770-9BA7-426C-8757-B3E9FAE143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137A55-612F-473F-B3DD-EB1AE0156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027947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oleObject" Target="../embeddings/oleObject6.bin"/><Relationship Id="rId18" Type="http://schemas.openxmlformats.org/officeDocument/2006/relationships/image" Target="../media/image74.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71.wmf"/><Relationship Id="rId17" Type="http://schemas.openxmlformats.org/officeDocument/2006/relationships/oleObject" Target="../embeddings/oleObject8.bin"/><Relationship Id="rId2" Type="http://schemas.openxmlformats.org/officeDocument/2006/relationships/slideLayout" Target="../slideLayouts/slideLayout12.xml"/><Relationship Id="rId16" Type="http://schemas.openxmlformats.org/officeDocument/2006/relationships/image" Target="../media/image73.wmf"/><Relationship Id="rId20" Type="http://schemas.openxmlformats.org/officeDocument/2006/relationships/image" Target="../media/image75.wmf"/><Relationship Id="rId1" Type="http://schemas.openxmlformats.org/officeDocument/2006/relationships/vmlDrawing" Target="../drawings/vmlDrawing1.vml"/><Relationship Id="rId6" Type="http://schemas.openxmlformats.org/officeDocument/2006/relationships/image" Target="../media/image68.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70.wmf"/><Relationship Id="rId19" Type="http://schemas.openxmlformats.org/officeDocument/2006/relationships/oleObject" Target="../embeddings/oleObject9.bin"/><Relationship Id="rId4" Type="http://schemas.openxmlformats.org/officeDocument/2006/relationships/image" Target="../media/image67.wmf"/><Relationship Id="rId9" Type="http://schemas.openxmlformats.org/officeDocument/2006/relationships/oleObject" Target="../embeddings/oleObject4.bin"/><Relationship Id="rId14" Type="http://schemas.openxmlformats.org/officeDocument/2006/relationships/image" Target="../media/image72.wmf"/><Relationship Id="rId22" Type="http://schemas.openxmlformats.org/officeDocument/2006/relationships/image" Target="../media/image76.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78.wmf"/><Relationship Id="rId5" Type="http://schemas.openxmlformats.org/officeDocument/2006/relationships/oleObject" Target="../embeddings/oleObject12.bin"/><Relationship Id="rId4" Type="http://schemas.openxmlformats.org/officeDocument/2006/relationships/image" Target="../media/image77.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79.pn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78.wmf"/><Relationship Id="rId5" Type="http://schemas.openxmlformats.org/officeDocument/2006/relationships/oleObject" Target="../embeddings/oleObject12.bin"/><Relationship Id="rId4" Type="http://schemas.openxmlformats.org/officeDocument/2006/relationships/image" Target="../media/image77.wmf"/></Relationships>
</file>

<file path=ppt/slides/_rels/slide7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87.wmf"/><Relationship Id="rId2" Type="http://schemas.openxmlformats.org/officeDocument/2006/relationships/slideLayout" Target="../slideLayouts/slideLayout12.xml"/><Relationship Id="rId16" Type="http://schemas.microsoft.com/office/2007/relationships/hdphoto" Target="../media/hdphoto1.wdp"/><Relationship Id="rId1" Type="http://schemas.openxmlformats.org/officeDocument/2006/relationships/vmlDrawing" Target="../drawings/vmlDrawing4.vml"/><Relationship Id="rId6" Type="http://schemas.openxmlformats.org/officeDocument/2006/relationships/image" Target="../media/image84.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image" Target="../media/image89.png"/><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16.bin"/><Relationship Id="rId14" Type="http://schemas.openxmlformats.org/officeDocument/2006/relationships/image" Target="../media/image88.wmf"/></Relationships>
</file>

<file path=ppt/slides/_rels/slide7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8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em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6AA48-4864-4815-88E8-193AAEF5A254}"/>
              </a:ext>
            </a:extLst>
          </p:cNvPr>
          <p:cNvSpPr>
            <a:spLocks noGrp="1"/>
          </p:cNvSpPr>
          <p:nvPr>
            <p:ph type="ctrTitle"/>
          </p:nvPr>
        </p:nvSpPr>
        <p:spPr/>
        <p:txBody>
          <a:bodyPr/>
          <a:lstStyle/>
          <a:p>
            <a:r>
              <a:rPr lang="en-US" altLang="zh-CN" dirty="0"/>
              <a:t>One Last JGJ</a:t>
            </a:r>
            <a:endParaRPr lang="zh-CN" altLang="en-US" dirty="0"/>
          </a:p>
        </p:txBody>
      </p:sp>
      <p:sp>
        <p:nvSpPr>
          <p:cNvPr id="3" name="副标题 2">
            <a:extLst>
              <a:ext uri="{FF2B5EF4-FFF2-40B4-BE49-F238E27FC236}">
                <a16:creationId xmlns:a16="http://schemas.microsoft.com/office/drawing/2014/main" id="{6BBDFBCB-0C6D-4266-97E5-4C2B6A7E56CF}"/>
              </a:ext>
            </a:extLst>
          </p:cNvPr>
          <p:cNvSpPr>
            <a:spLocks noGrp="1"/>
          </p:cNvSpPr>
          <p:nvPr>
            <p:ph type="subTitle" idx="1"/>
          </p:nvPr>
        </p:nvSpPr>
        <p:spPr/>
        <p:txBody>
          <a:bodyPr/>
          <a:lstStyle/>
          <a:p>
            <a:r>
              <a:rPr lang="zh-CN" altLang="en-US" b="1" i="0" dirty="0">
                <a:solidFill>
                  <a:srgbClr val="222222"/>
                </a:solidFill>
                <a:effectLst/>
                <a:latin typeface="??"/>
              </a:rPr>
              <a:t>经济管理中的计算机应用考试注意事项</a:t>
            </a:r>
            <a:endParaRPr lang="zh-CN" altLang="en-US" dirty="0"/>
          </a:p>
        </p:txBody>
      </p:sp>
    </p:spTree>
    <p:extLst>
      <p:ext uri="{BB962C8B-B14F-4D97-AF65-F5344CB8AC3E}">
        <p14:creationId xmlns:p14="http://schemas.microsoft.com/office/powerpoint/2010/main" val="578741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F3E21B-5B36-4D17-8829-35411F99340F}"/>
              </a:ext>
            </a:extLst>
          </p:cNvPr>
          <p:cNvSpPr>
            <a:spLocks noGrp="1"/>
          </p:cNvSpPr>
          <p:nvPr>
            <p:ph type="title"/>
          </p:nvPr>
        </p:nvSpPr>
        <p:spPr/>
        <p:txBody>
          <a:bodyPr/>
          <a:lstStyle/>
          <a:p>
            <a:r>
              <a:rPr lang="en-US" altLang="zh-CN" dirty="0"/>
              <a:t>Part 1</a:t>
            </a:r>
            <a:endParaRPr lang="zh-CN" altLang="en-US" dirty="0"/>
          </a:p>
        </p:txBody>
      </p:sp>
      <p:sp>
        <p:nvSpPr>
          <p:cNvPr id="3" name="文本占位符 2">
            <a:extLst>
              <a:ext uri="{FF2B5EF4-FFF2-40B4-BE49-F238E27FC236}">
                <a16:creationId xmlns:a16="http://schemas.microsoft.com/office/drawing/2014/main" id="{A02AACA5-64C9-4EA6-88B9-94345CC9B06D}"/>
              </a:ext>
            </a:extLst>
          </p:cNvPr>
          <p:cNvSpPr>
            <a:spLocks noGrp="1"/>
          </p:cNvSpPr>
          <p:nvPr>
            <p:ph type="body" idx="1"/>
          </p:nvPr>
        </p:nvSpPr>
        <p:spPr/>
        <p:txBody>
          <a:bodyPr/>
          <a:lstStyle/>
          <a:p>
            <a:r>
              <a:rPr lang="zh-CN" altLang="en-US" b="1" dirty="0"/>
              <a:t>数据获取与数据库查询</a:t>
            </a:r>
            <a:endParaRPr lang="zh-CN" altLang="en-US" dirty="0"/>
          </a:p>
        </p:txBody>
      </p:sp>
    </p:spTree>
    <p:extLst>
      <p:ext uri="{BB962C8B-B14F-4D97-AF65-F5344CB8AC3E}">
        <p14:creationId xmlns:p14="http://schemas.microsoft.com/office/powerpoint/2010/main" val="76606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906BA4-0B77-4095-AFF0-C3419D13A822}"/>
              </a:ext>
            </a:extLst>
          </p:cNvPr>
          <p:cNvSpPr>
            <a:spLocks noGrp="1"/>
          </p:cNvSpPr>
          <p:nvPr>
            <p:ph type="title"/>
          </p:nvPr>
        </p:nvSpPr>
        <p:spPr/>
        <p:txBody>
          <a:bodyPr/>
          <a:lstStyle/>
          <a:p>
            <a:r>
              <a:rPr lang="zh-CN" altLang="en-US" b="1" dirty="0"/>
              <a:t>开启 </a:t>
            </a:r>
            <a:r>
              <a:rPr lang="en-US" altLang="zh-CN" b="1" dirty="0"/>
              <a:t>Microsoft Query </a:t>
            </a:r>
            <a:r>
              <a:rPr lang="zh-CN" altLang="en-US" b="1" dirty="0"/>
              <a:t>功能</a:t>
            </a:r>
            <a:br>
              <a:rPr lang="zh-CN" altLang="en-US" dirty="0"/>
            </a:br>
            <a:endParaRPr lang="zh-CN" altLang="en-US" dirty="0"/>
          </a:p>
        </p:txBody>
      </p:sp>
      <p:pic>
        <p:nvPicPr>
          <p:cNvPr id="4" name="图片 3">
            <a:extLst>
              <a:ext uri="{FF2B5EF4-FFF2-40B4-BE49-F238E27FC236}">
                <a16:creationId xmlns:a16="http://schemas.microsoft.com/office/drawing/2014/main" id="{8A6AE380-C909-4926-9C12-E5FA36A93DFA}"/>
              </a:ext>
            </a:extLst>
          </p:cNvPr>
          <p:cNvPicPr>
            <a:picLocks noChangeAspect="1"/>
          </p:cNvPicPr>
          <p:nvPr/>
        </p:nvPicPr>
        <p:blipFill>
          <a:blip r:embed="rId2"/>
          <a:stretch>
            <a:fillRect/>
          </a:stretch>
        </p:blipFill>
        <p:spPr>
          <a:xfrm>
            <a:off x="942571" y="1302227"/>
            <a:ext cx="5764616" cy="4669062"/>
          </a:xfrm>
          <a:prstGeom prst="rect">
            <a:avLst/>
          </a:prstGeom>
        </p:spPr>
      </p:pic>
      <p:sp>
        <p:nvSpPr>
          <p:cNvPr id="5" name="Rectangle 1">
            <a:extLst>
              <a:ext uri="{FF2B5EF4-FFF2-40B4-BE49-F238E27FC236}">
                <a16:creationId xmlns:a16="http://schemas.microsoft.com/office/drawing/2014/main" id="{7613570B-8230-48FA-A923-F0DA749D1A54}"/>
              </a:ext>
            </a:extLst>
          </p:cNvPr>
          <p:cNvSpPr>
            <a:spLocks noChangeArrowheads="1"/>
          </p:cNvSpPr>
          <p:nvPr/>
        </p:nvSpPr>
        <p:spPr bwMode="auto">
          <a:xfrm>
            <a:off x="838200" y="6218330"/>
            <a:ext cx="8164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Arial Unicode MS"/>
              </a:rPr>
              <a:t>路径：文件 -&gt; 选项 -&gt; 数据 -&gt; 把“显示旧数据导入向导” 全勾上 -&gt; 确定 </a:t>
            </a:r>
            <a:endParaRPr kumimoji="0" lang="zh-CN" altLang="zh-CN" sz="44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5F0F3239-8D34-475B-A42D-BF44E642CAF1}"/>
              </a:ext>
            </a:extLst>
          </p:cNvPr>
          <p:cNvPicPr>
            <a:picLocks noChangeAspect="1"/>
          </p:cNvPicPr>
          <p:nvPr/>
        </p:nvPicPr>
        <p:blipFill>
          <a:blip r:embed="rId3"/>
          <a:stretch>
            <a:fillRect/>
          </a:stretch>
        </p:blipFill>
        <p:spPr>
          <a:xfrm>
            <a:off x="7150656" y="1490359"/>
            <a:ext cx="2114565" cy="4148168"/>
          </a:xfrm>
          <a:prstGeom prst="rect">
            <a:avLst/>
          </a:prstGeom>
        </p:spPr>
      </p:pic>
      <p:sp>
        <p:nvSpPr>
          <p:cNvPr id="7" name="文本框 6">
            <a:extLst>
              <a:ext uri="{FF2B5EF4-FFF2-40B4-BE49-F238E27FC236}">
                <a16:creationId xmlns:a16="http://schemas.microsoft.com/office/drawing/2014/main" id="{0B30DD9F-3B96-445F-BDC3-545D103832E4}"/>
              </a:ext>
            </a:extLst>
          </p:cNvPr>
          <p:cNvSpPr txBox="1"/>
          <p:nvPr/>
        </p:nvSpPr>
        <p:spPr>
          <a:xfrm>
            <a:off x="9443435" y="1545804"/>
            <a:ext cx="2429698" cy="923330"/>
          </a:xfrm>
          <a:prstGeom prst="rect">
            <a:avLst/>
          </a:prstGeom>
          <a:noFill/>
        </p:spPr>
        <p:txBody>
          <a:bodyPr wrap="square" rtlCol="0">
            <a:spAutoFit/>
          </a:bodyPr>
          <a:lstStyle/>
          <a:p>
            <a:r>
              <a:rPr lang="zh-CN" altLang="en-US" dirty="0"/>
              <a:t>在自其他源或者传统向导中找到 </a:t>
            </a:r>
            <a:r>
              <a:rPr lang="en-US" altLang="zh-CN" dirty="0"/>
              <a:t>Microsoft Query</a:t>
            </a:r>
            <a:endParaRPr lang="zh-CN" altLang="en-US" dirty="0"/>
          </a:p>
        </p:txBody>
      </p:sp>
    </p:spTree>
    <p:extLst>
      <p:ext uri="{BB962C8B-B14F-4D97-AF65-F5344CB8AC3E}">
        <p14:creationId xmlns:p14="http://schemas.microsoft.com/office/powerpoint/2010/main" val="613529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F6C0-287A-4655-A457-08843DF8422C}"/>
              </a:ext>
            </a:extLst>
          </p:cNvPr>
          <p:cNvSpPr>
            <a:spLocks noGrp="1"/>
          </p:cNvSpPr>
          <p:nvPr>
            <p:ph type="title"/>
          </p:nvPr>
        </p:nvSpPr>
        <p:spPr/>
        <p:txBody>
          <a:bodyPr/>
          <a:lstStyle/>
          <a:p>
            <a:r>
              <a:rPr lang="zh-CN" altLang="en-US" b="1" dirty="0"/>
              <a:t>取消 “使用” 前的勾进入“高手模式”</a:t>
            </a:r>
            <a:br>
              <a:rPr lang="zh-CN" altLang="en-US" dirty="0"/>
            </a:br>
            <a:endParaRPr lang="zh-CN" altLang="en-US" dirty="0"/>
          </a:p>
        </p:txBody>
      </p:sp>
      <p:pic>
        <p:nvPicPr>
          <p:cNvPr id="4" name="图片 3">
            <a:extLst>
              <a:ext uri="{FF2B5EF4-FFF2-40B4-BE49-F238E27FC236}">
                <a16:creationId xmlns:a16="http://schemas.microsoft.com/office/drawing/2014/main" id="{8678085E-D863-4A74-81E2-02C7B931DF8E}"/>
              </a:ext>
            </a:extLst>
          </p:cNvPr>
          <p:cNvPicPr>
            <a:picLocks noChangeAspect="1"/>
          </p:cNvPicPr>
          <p:nvPr/>
        </p:nvPicPr>
        <p:blipFill>
          <a:blip r:embed="rId2"/>
          <a:stretch>
            <a:fillRect/>
          </a:stretch>
        </p:blipFill>
        <p:spPr>
          <a:xfrm>
            <a:off x="1893277" y="1490369"/>
            <a:ext cx="8686800" cy="4524375"/>
          </a:xfrm>
          <a:prstGeom prst="rect">
            <a:avLst/>
          </a:prstGeom>
        </p:spPr>
      </p:pic>
    </p:spTree>
    <p:extLst>
      <p:ext uri="{BB962C8B-B14F-4D97-AF65-F5344CB8AC3E}">
        <p14:creationId xmlns:p14="http://schemas.microsoft.com/office/powerpoint/2010/main" val="835380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F6C0-287A-4655-A457-08843DF8422C}"/>
              </a:ext>
            </a:extLst>
          </p:cNvPr>
          <p:cNvSpPr>
            <a:spLocks noGrp="1"/>
          </p:cNvSpPr>
          <p:nvPr>
            <p:ph type="title"/>
          </p:nvPr>
        </p:nvSpPr>
        <p:spPr/>
        <p:txBody>
          <a:bodyPr/>
          <a:lstStyle/>
          <a:p>
            <a:r>
              <a:rPr lang="zh-CN" altLang="en-US" b="1" dirty="0"/>
              <a:t>创建新数据源</a:t>
            </a:r>
            <a:endParaRPr lang="zh-CN" altLang="en-US" dirty="0"/>
          </a:p>
        </p:txBody>
      </p:sp>
      <p:pic>
        <p:nvPicPr>
          <p:cNvPr id="4" name="图片 3">
            <a:extLst>
              <a:ext uri="{FF2B5EF4-FFF2-40B4-BE49-F238E27FC236}">
                <a16:creationId xmlns:a16="http://schemas.microsoft.com/office/drawing/2014/main" id="{8678085E-D863-4A74-81E2-02C7B931DF8E}"/>
              </a:ext>
            </a:extLst>
          </p:cNvPr>
          <p:cNvPicPr>
            <a:picLocks noChangeAspect="1"/>
          </p:cNvPicPr>
          <p:nvPr/>
        </p:nvPicPr>
        <p:blipFill>
          <a:blip r:embed="rId2"/>
          <a:stretch>
            <a:fillRect/>
          </a:stretch>
        </p:blipFill>
        <p:spPr>
          <a:xfrm>
            <a:off x="1893277" y="1690688"/>
            <a:ext cx="8686800" cy="4524375"/>
          </a:xfrm>
          <a:prstGeom prst="rect">
            <a:avLst/>
          </a:prstGeom>
        </p:spPr>
      </p:pic>
    </p:spTree>
    <p:extLst>
      <p:ext uri="{BB962C8B-B14F-4D97-AF65-F5344CB8AC3E}">
        <p14:creationId xmlns:p14="http://schemas.microsoft.com/office/powerpoint/2010/main" val="306719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3E441-4BC9-4D8E-8C97-43ACAD632577}"/>
              </a:ext>
            </a:extLst>
          </p:cNvPr>
          <p:cNvSpPr>
            <a:spLocks noGrp="1"/>
          </p:cNvSpPr>
          <p:nvPr>
            <p:ph type="title"/>
          </p:nvPr>
        </p:nvSpPr>
        <p:spPr>
          <a:xfrm>
            <a:off x="838200" y="365125"/>
            <a:ext cx="10964594" cy="1325563"/>
          </a:xfrm>
        </p:spPr>
        <p:txBody>
          <a:bodyPr/>
          <a:lstStyle/>
          <a:p>
            <a:r>
              <a:rPr lang="zh-CN" altLang="en-US" dirty="0"/>
              <a:t>如果遇到了“无法选中对象”</a:t>
            </a:r>
          </a:p>
        </p:txBody>
      </p:sp>
      <p:pic>
        <p:nvPicPr>
          <p:cNvPr id="5" name="图片 4">
            <a:extLst>
              <a:ext uri="{FF2B5EF4-FFF2-40B4-BE49-F238E27FC236}">
                <a16:creationId xmlns:a16="http://schemas.microsoft.com/office/drawing/2014/main" id="{935AB9E1-6891-4EA1-9C0D-DBD8482DE6C2}"/>
              </a:ext>
            </a:extLst>
          </p:cNvPr>
          <p:cNvPicPr>
            <a:picLocks noChangeAspect="1"/>
          </p:cNvPicPr>
          <p:nvPr/>
        </p:nvPicPr>
        <p:blipFill>
          <a:blip r:embed="rId2"/>
          <a:stretch>
            <a:fillRect/>
          </a:stretch>
        </p:blipFill>
        <p:spPr>
          <a:xfrm>
            <a:off x="544240" y="1657013"/>
            <a:ext cx="6930987" cy="3912937"/>
          </a:xfrm>
          <a:prstGeom prst="rect">
            <a:avLst/>
          </a:prstGeom>
        </p:spPr>
      </p:pic>
      <p:pic>
        <p:nvPicPr>
          <p:cNvPr id="7" name="图片 6">
            <a:extLst>
              <a:ext uri="{FF2B5EF4-FFF2-40B4-BE49-F238E27FC236}">
                <a16:creationId xmlns:a16="http://schemas.microsoft.com/office/drawing/2014/main" id="{2A5C691F-DC28-4C5D-883B-34C5887566DA}"/>
              </a:ext>
            </a:extLst>
          </p:cNvPr>
          <p:cNvPicPr>
            <a:picLocks noChangeAspect="1"/>
          </p:cNvPicPr>
          <p:nvPr/>
        </p:nvPicPr>
        <p:blipFill>
          <a:blip r:embed="rId3"/>
          <a:stretch>
            <a:fillRect/>
          </a:stretch>
        </p:blipFill>
        <p:spPr>
          <a:xfrm>
            <a:off x="7256849" y="1939619"/>
            <a:ext cx="4352957" cy="3381400"/>
          </a:xfrm>
          <a:prstGeom prst="rect">
            <a:avLst/>
          </a:prstGeom>
        </p:spPr>
      </p:pic>
      <p:sp>
        <p:nvSpPr>
          <p:cNvPr id="8" name="文本框 7">
            <a:extLst>
              <a:ext uri="{FF2B5EF4-FFF2-40B4-BE49-F238E27FC236}">
                <a16:creationId xmlns:a16="http://schemas.microsoft.com/office/drawing/2014/main" id="{5C8856F6-E42B-44CA-A41C-6A47A4DE8B72}"/>
              </a:ext>
            </a:extLst>
          </p:cNvPr>
          <p:cNvSpPr txBox="1"/>
          <p:nvPr/>
        </p:nvSpPr>
        <p:spPr>
          <a:xfrm>
            <a:off x="3891673" y="5903782"/>
            <a:ext cx="3820277" cy="369332"/>
          </a:xfrm>
          <a:prstGeom prst="rect">
            <a:avLst/>
          </a:prstGeom>
          <a:noFill/>
        </p:spPr>
        <p:txBody>
          <a:bodyPr wrap="none" rtlCol="0">
            <a:spAutoFit/>
          </a:bodyPr>
          <a:lstStyle/>
          <a:p>
            <a:r>
              <a:rPr lang="zh-CN" altLang="en-US" dirty="0"/>
              <a:t>打开“编辑”</a:t>
            </a:r>
            <a:r>
              <a:rPr lang="en-US" altLang="zh-CN" dirty="0"/>
              <a:t>-&gt;</a:t>
            </a:r>
            <a:r>
              <a:rPr lang="zh-CN" altLang="en-US" dirty="0"/>
              <a:t>“选项”</a:t>
            </a:r>
            <a:r>
              <a:rPr lang="en-US" altLang="zh-CN" dirty="0"/>
              <a:t>-&gt;</a:t>
            </a:r>
            <a:r>
              <a:rPr lang="zh-CN" altLang="en-US" dirty="0"/>
              <a:t>关闭所有功能</a:t>
            </a:r>
          </a:p>
        </p:txBody>
      </p:sp>
    </p:spTree>
    <p:extLst>
      <p:ext uri="{BB962C8B-B14F-4D97-AF65-F5344CB8AC3E}">
        <p14:creationId xmlns:p14="http://schemas.microsoft.com/office/powerpoint/2010/main" val="826705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3E441-4BC9-4D8E-8C97-43ACAD632577}"/>
              </a:ext>
            </a:extLst>
          </p:cNvPr>
          <p:cNvSpPr>
            <a:spLocks noGrp="1"/>
          </p:cNvSpPr>
          <p:nvPr>
            <p:ph type="title"/>
          </p:nvPr>
        </p:nvSpPr>
        <p:spPr>
          <a:xfrm>
            <a:off x="838200" y="365125"/>
            <a:ext cx="10964594" cy="1325563"/>
          </a:xfrm>
        </p:spPr>
        <p:txBody>
          <a:bodyPr/>
          <a:lstStyle/>
          <a:p>
            <a:r>
              <a:rPr lang="zh-CN" altLang="en-US" b="1" dirty="0"/>
              <a:t>养成跳到最后一个结果观察查询总数的习惯</a:t>
            </a:r>
            <a:endParaRPr lang="zh-CN" altLang="en-US" dirty="0"/>
          </a:p>
        </p:txBody>
      </p:sp>
      <p:pic>
        <p:nvPicPr>
          <p:cNvPr id="4" name="图片 3">
            <a:extLst>
              <a:ext uri="{FF2B5EF4-FFF2-40B4-BE49-F238E27FC236}">
                <a16:creationId xmlns:a16="http://schemas.microsoft.com/office/drawing/2014/main" id="{B0B5EBE3-55D4-4C05-859F-3D883DC7E555}"/>
              </a:ext>
            </a:extLst>
          </p:cNvPr>
          <p:cNvPicPr>
            <a:picLocks noChangeAspect="1"/>
          </p:cNvPicPr>
          <p:nvPr/>
        </p:nvPicPr>
        <p:blipFill>
          <a:blip r:embed="rId2"/>
          <a:stretch>
            <a:fillRect/>
          </a:stretch>
        </p:blipFill>
        <p:spPr>
          <a:xfrm>
            <a:off x="1681089" y="1535032"/>
            <a:ext cx="9117100" cy="5147122"/>
          </a:xfrm>
          <a:prstGeom prst="rect">
            <a:avLst/>
          </a:prstGeom>
        </p:spPr>
      </p:pic>
    </p:spTree>
    <p:extLst>
      <p:ext uri="{BB962C8B-B14F-4D97-AF65-F5344CB8AC3E}">
        <p14:creationId xmlns:p14="http://schemas.microsoft.com/office/powerpoint/2010/main" val="2493264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2BBD5-FBEA-44DE-8756-A9196A794B1A}"/>
              </a:ext>
            </a:extLst>
          </p:cNvPr>
          <p:cNvSpPr>
            <a:spLocks noGrp="1"/>
          </p:cNvSpPr>
          <p:nvPr>
            <p:ph type="title"/>
          </p:nvPr>
        </p:nvSpPr>
        <p:spPr/>
        <p:txBody>
          <a:bodyPr/>
          <a:lstStyle/>
          <a:p>
            <a:r>
              <a:rPr lang="zh-CN" altLang="en-US" b="1" dirty="0"/>
              <a:t>确保 </a:t>
            </a:r>
            <a:r>
              <a:rPr lang="en-US" altLang="zh-CN" b="1" dirty="0"/>
              <a:t>ER </a:t>
            </a:r>
            <a:r>
              <a:rPr lang="zh-CN" altLang="en-US" b="1" dirty="0"/>
              <a:t>图中所有表都是被连接的</a:t>
            </a:r>
            <a:br>
              <a:rPr lang="zh-CN" altLang="en-US" dirty="0"/>
            </a:br>
            <a:endParaRPr lang="zh-CN" altLang="en-US" dirty="0"/>
          </a:p>
        </p:txBody>
      </p:sp>
      <p:pic>
        <p:nvPicPr>
          <p:cNvPr id="4" name="图片 3">
            <a:extLst>
              <a:ext uri="{FF2B5EF4-FFF2-40B4-BE49-F238E27FC236}">
                <a16:creationId xmlns:a16="http://schemas.microsoft.com/office/drawing/2014/main" id="{B96F2F5B-7214-4F7A-9BB0-43FE189625DF}"/>
              </a:ext>
            </a:extLst>
          </p:cNvPr>
          <p:cNvPicPr>
            <a:picLocks noChangeAspect="1"/>
          </p:cNvPicPr>
          <p:nvPr/>
        </p:nvPicPr>
        <p:blipFill>
          <a:blip r:embed="rId2"/>
          <a:stretch>
            <a:fillRect/>
          </a:stretch>
        </p:blipFill>
        <p:spPr>
          <a:xfrm>
            <a:off x="2175432" y="1294227"/>
            <a:ext cx="8370647" cy="4490942"/>
          </a:xfrm>
          <a:prstGeom prst="rect">
            <a:avLst/>
          </a:prstGeom>
        </p:spPr>
      </p:pic>
      <p:sp>
        <p:nvSpPr>
          <p:cNvPr id="5" name="文本框 4">
            <a:extLst>
              <a:ext uri="{FF2B5EF4-FFF2-40B4-BE49-F238E27FC236}">
                <a16:creationId xmlns:a16="http://schemas.microsoft.com/office/drawing/2014/main" id="{559527B5-F0EC-4ABF-8476-EBE55B31622A}"/>
              </a:ext>
            </a:extLst>
          </p:cNvPr>
          <p:cNvSpPr txBox="1"/>
          <p:nvPr/>
        </p:nvSpPr>
        <p:spPr>
          <a:xfrm>
            <a:off x="838200" y="6182751"/>
            <a:ext cx="10289996" cy="369332"/>
          </a:xfrm>
          <a:prstGeom prst="rect">
            <a:avLst/>
          </a:prstGeom>
          <a:noFill/>
        </p:spPr>
        <p:txBody>
          <a:bodyPr wrap="none" rtlCol="0">
            <a:spAutoFit/>
          </a:bodyPr>
          <a:lstStyle/>
          <a:p>
            <a:r>
              <a:rPr lang="en-US" altLang="zh-CN" dirty="0" err="1"/>
              <a:t>NorthWind</a:t>
            </a:r>
            <a:r>
              <a:rPr lang="zh-CN" altLang="en-US" dirty="0"/>
              <a:t>中的运货商和所有的表都没有连接关系。其他的表如果未连接，说明表添加的时候就错了</a:t>
            </a:r>
          </a:p>
        </p:txBody>
      </p:sp>
    </p:spTree>
    <p:extLst>
      <p:ext uri="{BB962C8B-B14F-4D97-AF65-F5344CB8AC3E}">
        <p14:creationId xmlns:p14="http://schemas.microsoft.com/office/powerpoint/2010/main" val="1762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2BBD5-FBEA-44DE-8756-A9196A794B1A}"/>
              </a:ext>
            </a:extLst>
          </p:cNvPr>
          <p:cNvSpPr>
            <a:spLocks noGrp="1"/>
          </p:cNvSpPr>
          <p:nvPr>
            <p:ph type="title"/>
          </p:nvPr>
        </p:nvSpPr>
        <p:spPr>
          <a:xfrm>
            <a:off x="838200" y="233863"/>
            <a:ext cx="10515600" cy="1325563"/>
          </a:xfrm>
        </p:spPr>
        <p:txBody>
          <a:bodyPr/>
          <a:lstStyle/>
          <a:p>
            <a:r>
              <a:rPr lang="zh-CN" altLang="en-US" b="1" dirty="0"/>
              <a:t>订购明细</a:t>
            </a:r>
            <a:r>
              <a:rPr lang="en-US" altLang="zh-CN" b="1" dirty="0"/>
              <a:t>.</a:t>
            </a:r>
            <a:r>
              <a:rPr lang="zh-CN" altLang="en-US" b="1" dirty="0"/>
              <a:t>单价</a:t>
            </a:r>
            <a:r>
              <a:rPr lang="en-US" altLang="zh-CN" b="1" dirty="0"/>
              <a:t>*</a:t>
            </a:r>
            <a:r>
              <a:rPr lang="zh-CN" altLang="en-US" b="1" dirty="0"/>
              <a:t>数量</a:t>
            </a:r>
            <a:r>
              <a:rPr lang="en-US" altLang="zh-CN" b="1" dirty="0"/>
              <a:t>*(1-</a:t>
            </a:r>
            <a:r>
              <a:rPr lang="zh-CN" altLang="en-US" b="1" dirty="0"/>
              <a:t>折扣</a:t>
            </a:r>
            <a:r>
              <a:rPr lang="en-US" altLang="zh-CN" b="1" dirty="0"/>
              <a:t>)</a:t>
            </a:r>
            <a:endParaRPr lang="zh-CN" altLang="en-US" dirty="0"/>
          </a:p>
        </p:txBody>
      </p:sp>
      <p:pic>
        <p:nvPicPr>
          <p:cNvPr id="6" name="图片 5">
            <a:extLst>
              <a:ext uri="{FF2B5EF4-FFF2-40B4-BE49-F238E27FC236}">
                <a16:creationId xmlns:a16="http://schemas.microsoft.com/office/drawing/2014/main" id="{63C18542-0530-4A8A-B6F0-0A34AEA54E06}"/>
              </a:ext>
            </a:extLst>
          </p:cNvPr>
          <p:cNvPicPr>
            <a:picLocks noChangeAspect="1"/>
          </p:cNvPicPr>
          <p:nvPr/>
        </p:nvPicPr>
        <p:blipFill>
          <a:blip r:embed="rId2"/>
          <a:stretch>
            <a:fillRect/>
          </a:stretch>
        </p:blipFill>
        <p:spPr>
          <a:xfrm>
            <a:off x="2131254" y="1451823"/>
            <a:ext cx="8276093" cy="4401639"/>
          </a:xfrm>
          <a:prstGeom prst="rect">
            <a:avLst/>
          </a:prstGeom>
        </p:spPr>
      </p:pic>
      <p:sp>
        <p:nvSpPr>
          <p:cNvPr id="7" name="文本框 6">
            <a:extLst>
              <a:ext uri="{FF2B5EF4-FFF2-40B4-BE49-F238E27FC236}">
                <a16:creationId xmlns:a16="http://schemas.microsoft.com/office/drawing/2014/main" id="{9605393E-7A40-4540-B99C-1C8BC0C87407}"/>
              </a:ext>
            </a:extLst>
          </p:cNvPr>
          <p:cNvSpPr txBox="1"/>
          <p:nvPr/>
        </p:nvSpPr>
        <p:spPr>
          <a:xfrm>
            <a:off x="991772" y="6175717"/>
            <a:ext cx="4801314" cy="369332"/>
          </a:xfrm>
          <a:prstGeom prst="rect">
            <a:avLst/>
          </a:prstGeom>
          <a:noFill/>
        </p:spPr>
        <p:txBody>
          <a:bodyPr wrap="none" rtlCol="0">
            <a:spAutoFit/>
          </a:bodyPr>
          <a:lstStyle/>
          <a:p>
            <a:r>
              <a:rPr lang="zh-CN" altLang="en-US" dirty="0"/>
              <a:t>产品表中也有单价，注意以订单明细中的为准</a:t>
            </a:r>
            <a:endParaRPr lang="en-US" altLang="zh-CN" dirty="0"/>
          </a:p>
        </p:txBody>
      </p:sp>
    </p:spTree>
    <p:extLst>
      <p:ext uri="{BB962C8B-B14F-4D97-AF65-F5344CB8AC3E}">
        <p14:creationId xmlns:p14="http://schemas.microsoft.com/office/powerpoint/2010/main" val="3235093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DE591-5C61-45E7-BF42-18E74DB603CF}"/>
              </a:ext>
            </a:extLst>
          </p:cNvPr>
          <p:cNvSpPr>
            <a:spLocks noGrp="1"/>
          </p:cNvSpPr>
          <p:nvPr>
            <p:ph type="title"/>
          </p:nvPr>
        </p:nvSpPr>
        <p:spPr/>
        <p:txBody>
          <a:bodyPr/>
          <a:lstStyle/>
          <a:p>
            <a:r>
              <a:rPr lang="en-US" altLang="zh-CN" dirty="0"/>
              <a:t>Part 2</a:t>
            </a:r>
            <a:endParaRPr lang="zh-CN" altLang="en-US" dirty="0"/>
          </a:p>
        </p:txBody>
      </p:sp>
      <p:sp>
        <p:nvSpPr>
          <p:cNvPr id="3" name="文本占位符 2">
            <a:extLst>
              <a:ext uri="{FF2B5EF4-FFF2-40B4-BE49-F238E27FC236}">
                <a16:creationId xmlns:a16="http://schemas.microsoft.com/office/drawing/2014/main" id="{4D86D409-9805-4A22-B9B4-6829DDA12F82}"/>
              </a:ext>
            </a:extLst>
          </p:cNvPr>
          <p:cNvSpPr>
            <a:spLocks noGrp="1"/>
          </p:cNvSpPr>
          <p:nvPr>
            <p:ph type="body" idx="1"/>
          </p:nvPr>
        </p:nvSpPr>
        <p:spPr/>
        <p:txBody>
          <a:bodyPr/>
          <a:lstStyle/>
          <a:p>
            <a:r>
              <a:rPr lang="zh-CN" altLang="en-US" dirty="0"/>
              <a:t>数据透视表</a:t>
            </a:r>
          </a:p>
        </p:txBody>
      </p:sp>
    </p:spTree>
    <p:extLst>
      <p:ext uri="{BB962C8B-B14F-4D97-AF65-F5344CB8AC3E}">
        <p14:creationId xmlns:p14="http://schemas.microsoft.com/office/powerpoint/2010/main" val="45374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B5179-1C26-4B1E-926C-E8EA006120D3}"/>
              </a:ext>
            </a:extLst>
          </p:cNvPr>
          <p:cNvSpPr>
            <a:spLocks noGrp="1"/>
          </p:cNvSpPr>
          <p:nvPr>
            <p:ph type="title"/>
          </p:nvPr>
        </p:nvSpPr>
        <p:spPr/>
        <p:txBody>
          <a:bodyPr/>
          <a:lstStyle/>
          <a:p>
            <a:r>
              <a:rPr lang="zh-CN" altLang="en-US" b="1" dirty="0"/>
              <a:t>好习惯：为数据透视表查询数据时一定要把</a:t>
            </a:r>
            <a:r>
              <a:rPr lang="en-US" altLang="zh-CN" b="1" dirty="0"/>
              <a:t>.</a:t>
            </a:r>
            <a:r>
              <a:rPr lang="en-US" altLang="zh-CN" b="1" dirty="0" err="1"/>
              <a:t>dqy</a:t>
            </a:r>
            <a:r>
              <a:rPr lang="zh-CN" altLang="en-US" b="1" dirty="0"/>
              <a:t>文件保存</a:t>
            </a:r>
            <a:endParaRPr lang="zh-CN" altLang="en-US" dirty="0"/>
          </a:p>
        </p:txBody>
      </p:sp>
      <p:pic>
        <p:nvPicPr>
          <p:cNvPr id="4" name="图片 3">
            <a:extLst>
              <a:ext uri="{FF2B5EF4-FFF2-40B4-BE49-F238E27FC236}">
                <a16:creationId xmlns:a16="http://schemas.microsoft.com/office/drawing/2014/main" id="{3E24F001-ACB9-4873-8BB4-799E5C452BA3}"/>
              </a:ext>
            </a:extLst>
          </p:cNvPr>
          <p:cNvPicPr>
            <a:picLocks noChangeAspect="1"/>
          </p:cNvPicPr>
          <p:nvPr/>
        </p:nvPicPr>
        <p:blipFill>
          <a:blip r:embed="rId2"/>
          <a:stretch>
            <a:fillRect/>
          </a:stretch>
        </p:blipFill>
        <p:spPr>
          <a:xfrm>
            <a:off x="288388" y="2189360"/>
            <a:ext cx="6295292" cy="3121924"/>
          </a:xfrm>
          <a:prstGeom prst="rect">
            <a:avLst/>
          </a:prstGeom>
        </p:spPr>
      </p:pic>
      <p:sp>
        <p:nvSpPr>
          <p:cNvPr id="5" name="文本框 4">
            <a:extLst>
              <a:ext uri="{FF2B5EF4-FFF2-40B4-BE49-F238E27FC236}">
                <a16:creationId xmlns:a16="http://schemas.microsoft.com/office/drawing/2014/main" id="{75FCE222-18BB-4897-8A26-85B9CF025290}"/>
              </a:ext>
            </a:extLst>
          </p:cNvPr>
          <p:cNvSpPr txBox="1"/>
          <p:nvPr/>
        </p:nvSpPr>
        <p:spPr>
          <a:xfrm>
            <a:off x="838200" y="5809957"/>
            <a:ext cx="6417141" cy="646331"/>
          </a:xfrm>
          <a:prstGeom prst="rect">
            <a:avLst/>
          </a:prstGeom>
          <a:noFill/>
        </p:spPr>
        <p:txBody>
          <a:bodyPr wrap="none" rtlCol="0">
            <a:spAutoFit/>
          </a:bodyPr>
          <a:lstStyle/>
          <a:p>
            <a:r>
              <a:rPr lang="zh-CN" altLang="en-US" dirty="0"/>
              <a:t>数据透视表查询结果无法回溯，唯一的办法是把查询记录保存</a:t>
            </a:r>
            <a:endParaRPr lang="en-US" altLang="zh-CN" dirty="0"/>
          </a:p>
          <a:p>
            <a:r>
              <a:rPr lang="zh-CN" altLang="en-US" dirty="0"/>
              <a:t>在 </a:t>
            </a:r>
            <a:r>
              <a:rPr lang="en-US" altLang="zh-CN" dirty="0"/>
              <a:t>MQ </a:t>
            </a:r>
            <a:r>
              <a:rPr lang="zh-CN" altLang="en-US" dirty="0"/>
              <a:t>中，点“文件”</a:t>
            </a:r>
            <a:r>
              <a:rPr lang="en-US" altLang="zh-CN" dirty="0"/>
              <a:t>-&gt;</a:t>
            </a:r>
            <a:r>
              <a:rPr lang="zh-CN" altLang="en-US" dirty="0"/>
              <a:t>“另存为”</a:t>
            </a:r>
          </a:p>
        </p:txBody>
      </p:sp>
      <p:pic>
        <p:nvPicPr>
          <p:cNvPr id="7" name="图片 6">
            <a:extLst>
              <a:ext uri="{FF2B5EF4-FFF2-40B4-BE49-F238E27FC236}">
                <a16:creationId xmlns:a16="http://schemas.microsoft.com/office/drawing/2014/main" id="{6B5D7765-3FB5-496B-8598-7B8F6BB91A3F}"/>
              </a:ext>
            </a:extLst>
          </p:cNvPr>
          <p:cNvPicPr>
            <a:picLocks noChangeAspect="1"/>
          </p:cNvPicPr>
          <p:nvPr/>
        </p:nvPicPr>
        <p:blipFill>
          <a:blip r:embed="rId3"/>
          <a:stretch>
            <a:fillRect/>
          </a:stretch>
        </p:blipFill>
        <p:spPr>
          <a:xfrm>
            <a:off x="6766560" y="2272294"/>
            <a:ext cx="5235238" cy="2956056"/>
          </a:xfrm>
          <a:prstGeom prst="rect">
            <a:avLst/>
          </a:prstGeom>
        </p:spPr>
      </p:pic>
      <p:sp>
        <p:nvSpPr>
          <p:cNvPr id="3" name="文本框 2">
            <a:extLst>
              <a:ext uri="{FF2B5EF4-FFF2-40B4-BE49-F238E27FC236}">
                <a16:creationId xmlns:a16="http://schemas.microsoft.com/office/drawing/2014/main" id="{3A935D5E-8D9B-4CBA-8FB1-EF9E2CA46169}"/>
              </a:ext>
            </a:extLst>
          </p:cNvPr>
          <p:cNvSpPr txBox="1"/>
          <p:nvPr/>
        </p:nvSpPr>
        <p:spPr>
          <a:xfrm>
            <a:off x="7306606" y="5856849"/>
            <a:ext cx="4743606" cy="369332"/>
          </a:xfrm>
          <a:prstGeom prst="rect">
            <a:avLst/>
          </a:prstGeom>
          <a:noFill/>
        </p:spPr>
        <p:txBody>
          <a:bodyPr wrap="none" rtlCol="0">
            <a:spAutoFit/>
          </a:bodyPr>
          <a:lstStyle/>
          <a:p>
            <a:r>
              <a:rPr lang="zh-CN" altLang="en-US" dirty="0"/>
              <a:t>也可以选中数据透视表之后</a:t>
            </a:r>
            <a:r>
              <a:rPr lang="en-US" altLang="zh-CN" dirty="0" err="1"/>
              <a:t>Alt+D+P</a:t>
            </a:r>
            <a:r>
              <a:rPr lang="zh-CN" altLang="en-US" dirty="0"/>
              <a:t>编辑查询</a:t>
            </a:r>
          </a:p>
        </p:txBody>
      </p:sp>
    </p:spTree>
    <p:extLst>
      <p:ext uri="{BB962C8B-B14F-4D97-AF65-F5344CB8AC3E}">
        <p14:creationId xmlns:p14="http://schemas.microsoft.com/office/powerpoint/2010/main" val="311016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298D5-1D0C-4596-99A3-85C6BE38CAB9}"/>
              </a:ext>
            </a:extLst>
          </p:cNvPr>
          <p:cNvSpPr>
            <a:spLocks noGrp="1"/>
          </p:cNvSpPr>
          <p:nvPr>
            <p:ph type="title"/>
          </p:nvPr>
        </p:nvSpPr>
        <p:spPr/>
        <p:txBody>
          <a:bodyPr/>
          <a:lstStyle/>
          <a:p>
            <a:r>
              <a:rPr lang="zh-CN" altLang="en-US" dirty="0"/>
              <a:t>柱状图宽度调节</a:t>
            </a:r>
          </a:p>
        </p:txBody>
      </p:sp>
      <p:pic>
        <p:nvPicPr>
          <p:cNvPr id="4" name="图片 3">
            <a:extLst>
              <a:ext uri="{FF2B5EF4-FFF2-40B4-BE49-F238E27FC236}">
                <a16:creationId xmlns:a16="http://schemas.microsoft.com/office/drawing/2014/main" id="{CEEEE387-682B-49D7-B314-71EC87F3DE1B}"/>
              </a:ext>
            </a:extLst>
          </p:cNvPr>
          <p:cNvPicPr>
            <a:picLocks noChangeAspect="1"/>
          </p:cNvPicPr>
          <p:nvPr/>
        </p:nvPicPr>
        <p:blipFill>
          <a:blip r:embed="rId2"/>
          <a:stretch>
            <a:fillRect/>
          </a:stretch>
        </p:blipFill>
        <p:spPr>
          <a:xfrm>
            <a:off x="1364565" y="1789088"/>
            <a:ext cx="9575409" cy="4338857"/>
          </a:xfrm>
          <a:prstGeom prst="rect">
            <a:avLst/>
          </a:prstGeom>
        </p:spPr>
      </p:pic>
    </p:spTree>
    <p:extLst>
      <p:ext uri="{BB962C8B-B14F-4D97-AF65-F5344CB8AC3E}">
        <p14:creationId xmlns:p14="http://schemas.microsoft.com/office/powerpoint/2010/main" val="2695420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填充数据透视表中的空值</a:t>
            </a:r>
          </a:p>
        </p:txBody>
      </p:sp>
      <p:pic>
        <p:nvPicPr>
          <p:cNvPr id="4" name="图片 3">
            <a:extLst>
              <a:ext uri="{FF2B5EF4-FFF2-40B4-BE49-F238E27FC236}">
                <a16:creationId xmlns:a16="http://schemas.microsoft.com/office/drawing/2014/main" id="{6CCE3EAE-931C-425E-BD20-46EEA29B8DF3}"/>
              </a:ext>
            </a:extLst>
          </p:cNvPr>
          <p:cNvPicPr>
            <a:picLocks noChangeAspect="1"/>
          </p:cNvPicPr>
          <p:nvPr/>
        </p:nvPicPr>
        <p:blipFill>
          <a:blip r:embed="rId2"/>
          <a:stretch>
            <a:fillRect/>
          </a:stretch>
        </p:blipFill>
        <p:spPr>
          <a:xfrm>
            <a:off x="2180492" y="1820301"/>
            <a:ext cx="7831015" cy="3768676"/>
          </a:xfrm>
          <a:prstGeom prst="rect">
            <a:avLst/>
          </a:prstGeom>
        </p:spPr>
      </p:pic>
      <p:sp>
        <p:nvSpPr>
          <p:cNvPr id="5" name="文本框 4">
            <a:extLst>
              <a:ext uri="{FF2B5EF4-FFF2-40B4-BE49-F238E27FC236}">
                <a16:creationId xmlns:a16="http://schemas.microsoft.com/office/drawing/2014/main" id="{1E605160-E522-453E-A7E3-F0C68233DD77}"/>
              </a:ext>
            </a:extLst>
          </p:cNvPr>
          <p:cNvSpPr txBox="1"/>
          <p:nvPr/>
        </p:nvSpPr>
        <p:spPr>
          <a:xfrm>
            <a:off x="675249" y="6056142"/>
            <a:ext cx="7983416" cy="369332"/>
          </a:xfrm>
          <a:prstGeom prst="rect">
            <a:avLst/>
          </a:prstGeom>
          <a:noFill/>
        </p:spPr>
        <p:txBody>
          <a:bodyPr wrap="square" rtlCol="0">
            <a:spAutoFit/>
          </a:bodyPr>
          <a:lstStyle/>
          <a:p>
            <a:r>
              <a:rPr lang="zh-CN" altLang="en-US" dirty="0"/>
              <a:t>右键数据透视表 </a:t>
            </a:r>
            <a:r>
              <a:rPr lang="en-US" altLang="zh-CN" dirty="0"/>
              <a:t>-&gt; </a:t>
            </a:r>
            <a:r>
              <a:rPr lang="zh-CN" altLang="en-US" dirty="0"/>
              <a:t>数据透视表选项 </a:t>
            </a:r>
            <a:r>
              <a:rPr lang="en-US" altLang="zh-CN" dirty="0"/>
              <a:t>-&gt; </a:t>
            </a:r>
            <a:r>
              <a:rPr lang="zh-CN" altLang="en-US" dirty="0"/>
              <a:t>“布局与格式”</a:t>
            </a:r>
          </a:p>
        </p:txBody>
      </p:sp>
    </p:spTree>
    <p:extLst>
      <p:ext uri="{BB962C8B-B14F-4D97-AF65-F5344CB8AC3E}">
        <p14:creationId xmlns:p14="http://schemas.microsoft.com/office/powerpoint/2010/main" val="201704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把“订购日期”拖到数据透视表中自动出现“年”与“季度”字段</a:t>
            </a:r>
          </a:p>
        </p:txBody>
      </p:sp>
      <p:pic>
        <p:nvPicPr>
          <p:cNvPr id="6" name="图片 5">
            <a:extLst>
              <a:ext uri="{FF2B5EF4-FFF2-40B4-BE49-F238E27FC236}">
                <a16:creationId xmlns:a16="http://schemas.microsoft.com/office/drawing/2014/main" id="{DCF345D5-415E-4490-BDFA-B4A987F616BE}"/>
              </a:ext>
            </a:extLst>
          </p:cNvPr>
          <p:cNvPicPr>
            <a:picLocks noChangeAspect="1"/>
          </p:cNvPicPr>
          <p:nvPr/>
        </p:nvPicPr>
        <p:blipFill>
          <a:blip r:embed="rId2"/>
          <a:stretch>
            <a:fillRect/>
          </a:stretch>
        </p:blipFill>
        <p:spPr>
          <a:xfrm>
            <a:off x="2226645" y="1757565"/>
            <a:ext cx="8063831" cy="4797980"/>
          </a:xfrm>
          <a:prstGeom prst="rect">
            <a:avLst/>
          </a:prstGeom>
        </p:spPr>
      </p:pic>
    </p:spTree>
    <p:extLst>
      <p:ext uri="{BB962C8B-B14F-4D97-AF65-F5344CB8AC3E}">
        <p14:creationId xmlns:p14="http://schemas.microsoft.com/office/powerpoint/2010/main" val="2790302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熟练使用“分类汇总”、“总计”、“报表布局”调整数据透视表格式</a:t>
            </a:r>
          </a:p>
        </p:txBody>
      </p:sp>
      <p:pic>
        <p:nvPicPr>
          <p:cNvPr id="8" name="图片 7">
            <a:extLst>
              <a:ext uri="{FF2B5EF4-FFF2-40B4-BE49-F238E27FC236}">
                <a16:creationId xmlns:a16="http://schemas.microsoft.com/office/drawing/2014/main" id="{7A6E8897-B795-49AD-A298-3B96722476DC}"/>
              </a:ext>
            </a:extLst>
          </p:cNvPr>
          <p:cNvPicPr>
            <a:picLocks noChangeAspect="1"/>
          </p:cNvPicPr>
          <p:nvPr/>
        </p:nvPicPr>
        <p:blipFill>
          <a:blip r:embed="rId2"/>
          <a:stretch>
            <a:fillRect/>
          </a:stretch>
        </p:blipFill>
        <p:spPr>
          <a:xfrm>
            <a:off x="2576285" y="1848255"/>
            <a:ext cx="7801918" cy="4450809"/>
          </a:xfrm>
          <a:prstGeom prst="rect">
            <a:avLst/>
          </a:prstGeom>
        </p:spPr>
      </p:pic>
    </p:spTree>
    <p:extLst>
      <p:ext uri="{BB962C8B-B14F-4D97-AF65-F5344CB8AC3E}">
        <p14:creationId xmlns:p14="http://schemas.microsoft.com/office/powerpoint/2010/main" val="80897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en-US" altLang="zh-CN" dirty="0"/>
              <a:t>Excel bug</a:t>
            </a:r>
            <a:r>
              <a:rPr lang="zh-CN" altLang="en-US" dirty="0"/>
              <a:t>：从右下拖到左上无法分组</a:t>
            </a:r>
          </a:p>
        </p:txBody>
      </p:sp>
      <p:pic>
        <p:nvPicPr>
          <p:cNvPr id="4" name="图片 3">
            <a:extLst>
              <a:ext uri="{FF2B5EF4-FFF2-40B4-BE49-F238E27FC236}">
                <a16:creationId xmlns:a16="http://schemas.microsoft.com/office/drawing/2014/main" id="{51383FA3-6040-4EA0-AD84-B9B930209AAE}"/>
              </a:ext>
            </a:extLst>
          </p:cNvPr>
          <p:cNvPicPr>
            <a:picLocks noChangeAspect="1"/>
          </p:cNvPicPr>
          <p:nvPr/>
        </p:nvPicPr>
        <p:blipFill>
          <a:blip r:embed="rId2"/>
          <a:stretch>
            <a:fillRect/>
          </a:stretch>
        </p:blipFill>
        <p:spPr>
          <a:xfrm>
            <a:off x="1292124" y="1522518"/>
            <a:ext cx="4233893" cy="4305331"/>
          </a:xfrm>
          <a:prstGeom prst="rect">
            <a:avLst/>
          </a:prstGeom>
        </p:spPr>
      </p:pic>
      <p:pic>
        <p:nvPicPr>
          <p:cNvPr id="6" name="图片 5">
            <a:extLst>
              <a:ext uri="{FF2B5EF4-FFF2-40B4-BE49-F238E27FC236}">
                <a16:creationId xmlns:a16="http://schemas.microsoft.com/office/drawing/2014/main" id="{B486A9B3-02CA-4450-871E-225EA88EF1A0}"/>
              </a:ext>
            </a:extLst>
          </p:cNvPr>
          <p:cNvPicPr>
            <a:picLocks noChangeAspect="1"/>
          </p:cNvPicPr>
          <p:nvPr/>
        </p:nvPicPr>
        <p:blipFill>
          <a:blip r:embed="rId3"/>
          <a:stretch>
            <a:fillRect/>
          </a:stretch>
        </p:blipFill>
        <p:spPr>
          <a:xfrm>
            <a:off x="7258660" y="1522518"/>
            <a:ext cx="3386162" cy="4667284"/>
          </a:xfrm>
          <a:prstGeom prst="rect">
            <a:avLst/>
          </a:prstGeom>
        </p:spPr>
      </p:pic>
      <p:sp>
        <p:nvSpPr>
          <p:cNvPr id="7" name="文本框 6">
            <a:extLst>
              <a:ext uri="{FF2B5EF4-FFF2-40B4-BE49-F238E27FC236}">
                <a16:creationId xmlns:a16="http://schemas.microsoft.com/office/drawing/2014/main" id="{F3CB98C9-7800-4ED9-877B-D35E8A8DC2C4}"/>
              </a:ext>
            </a:extLst>
          </p:cNvPr>
          <p:cNvSpPr txBox="1"/>
          <p:nvPr/>
        </p:nvSpPr>
        <p:spPr>
          <a:xfrm>
            <a:off x="1610751" y="6323428"/>
            <a:ext cx="2560316" cy="369332"/>
          </a:xfrm>
          <a:prstGeom prst="rect">
            <a:avLst/>
          </a:prstGeom>
          <a:noFill/>
        </p:spPr>
        <p:txBody>
          <a:bodyPr wrap="none" rtlCol="0">
            <a:spAutoFit/>
          </a:bodyPr>
          <a:lstStyle/>
          <a:p>
            <a:r>
              <a:rPr lang="zh-CN" altLang="en-US" dirty="0"/>
              <a:t>右下往左上拖无法组合</a:t>
            </a:r>
          </a:p>
        </p:txBody>
      </p:sp>
      <p:sp>
        <p:nvSpPr>
          <p:cNvPr id="9" name="文本框 8">
            <a:extLst>
              <a:ext uri="{FF2B5EF4-FFF2-40B4-BE49-F238E27FC236}">
                <a16:creationId xmlns:a16="http://schemas.microsoft.com/office/drawing/2014/main" id="{87210708-3826-4C80-AC57-9A886EA093C4}"/>
              </a:ext>
            </a:extLst>
          </p:cNvPr>
          <p:cNvSpPr txBox="1"/>
          <p:nvPr/>
        </p:nvSpPr>
        <p:spPr>
          <a:xfrm>
            <a:off x="7411330" y="6338131"/>
            <a:ext cx="2468946" cy="369332"/>
          </a:xfrm>
          <a:prstGeom prst="rect">
            <a:avLst/>
          </a:prstGeom>
          <a:noFill/>
        </p:spPr>
        <p:txBody>
          <a:bodyPr wrap="none" rtlCol="0">
            <a:spAutoFit/>
          </a:bodyPr>
          <a:lstStyle/>
          <a:p>
            <a:r>
              <a:rPr lang="zh-CN" altLang="en-US" dirty="0"/>
              <a:t>左上往右下拖可以组合</a:t>
            </a:r>
          </a:p>
        </p:txBody>
      </p:sp>
    </p:spTree>
    <p:extLst>
      <p:ext uri="{BB962C8B-B14F-4D97-AF65-F5344CB8AC3E}">
        <p14:creationId xmlns:p14="http://schemas.microsoft.com/office/powerpoint/2010/main" val="1754134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开始</a:t>
            </a:r>
            <a:r>
              <a:rPr lang="en-US" altLang="zh-CN" dirty="0"/>
              <a:t>-&gt;</a:t>
            </a:r>
            <a:r>
              <a:rPr lang="zh-CN" altLang="en-US" dirty="0"/>
              <a:t>条件格式</a:t>
            </a:r>
            <a:r>
              <a:rPr lang="en-US" altLang="zh-CN" dirty="0"/>
              <a:t>-&gt;</a:t>
            </a:r>
            <a:r>
              <a:rPr lang="zh-CN" altLang="en-US" dirty="0"/>
              <a:t>数据条</a:t>
            </a:r>
          </a:p>
        </p:txBody>
      </p:sp>
      <p:pic>
        <p:nvPicPr>
          <p:cNvPr id="5" name="图片 4">
            <a:extLst>
              <a:ext uri="{FF2B5EF4-FFF2-40B4-BE49-F238E27FC236}">
                <a16:creationId xmlns:a16="http://schemas.microsoft.com/office/drawing/2014/main" id="{B7898D10-5707-47B9-AFE4-E3400B4ECFD0}"/>
              </a:ext>
            </a:extLst>
          </p:cNvPr>
          <p:cNvPicPr>
            <a:picLocks noChangeAspect="1"/>
          </p:cNvPicPr>
          <p:nvPr/>
        </p:nvPicPr>
        <p:blipFill>
          <a:blip r:embed="rId2"/>
          <a:stretch>
            <a:fillRect/>
          </a:stretch>
        </p:blipFill>
        <p:spPr>
          <a:xfrm>
            <a:off x="1251681" y="1526345"/>
            <a:ext cx="9812639" cy="5030108"/>
          </a:xfrm>
          <a:prstGeom prst="rect">
            <a:avLst/>
          </a:prstGeom>
        </p:spPr>
      </p:pic>
    </p:spTree>
    <p:extLst>
      <p:ext uri="{BB962C8B-B14F-4D97-AF65-F5344CB8AC3E}">
        <p14:creationId xmlns:p14="http://schemas.microsoft.com/office/powerpoint/2010/main" val="1901061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1</a:t>
            </a:r>
            <a:endParaRPr lang="zh-CN" altLang="en-US" dirty="0"/>
          </a:p>
        </p:txBody>
      </p:sp>
      <p:sp>
        <p:nvSpPr>
          <p:cNvPr id="7" name="文本框 5">
            <a:extLst>
              <a:ext uri="{FF2B5EF4-FFF2-40B4-BE49-F238E27FC236}">
                <a16:creationId xmlns:a16="http://schemas.microsoft.com/office/drawing/2014/main" id="{00000000-0008-0000-0100-000006000000}"/>
              </a:ext>
            </a:extLst>
          </p:cNvPr>
          <p:cNvSpPr txBox="1"/>
          <p:nvPr/>
        </p:nvSpPr>
        <p:spPr>
          <a:xfrm>
            <a:off x="838200" y="1503503"/>
            <a:ext cx="7285333" cy="4989372"/>
          </a:xfrm>
          <a:prstGeom prst="rect">
            <a:avLst/>
          </a:prstGeom>
          <a:solidFill>
            <a:schemeClr val="accent5">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auto" latinLnBrk="0" hangingPunct="1">
              <a:lnSpc>
                <a:spcPct val="120000"/>
              </a:lnSpc>
              <a:spcBef>
                <a:spcPts val="0"/>
              </a:spcBef>
              <a:spcAft>
                <a:spcPts val="0"/>
              </a:spcAft>
              <a:buClrTx/>
              <a:buSzTx/>
              <a:buFontTx/>
              <a:buNone/>
              <a:tabLst/>
              <a:defRPr/>
            </a:pPr>
            <a:r>
              <a:rPr lang="zh-CN" altLang="en-US" sz="1200" b="1">
                <a:latin typeface="宋体" panose="02010600030101010101" pitchFamily="2" charset="-122"/>
                <a:ea typeface="宋体" panose="02010600030101010101" pitchFamily="2" charset="-122"/>
              </a:rPr>
              <a:t>第</a:t>
            </a:r>
            <a:r>
              <a:rPr lang="en-US" altLang="zh-CN" sz="1200" b="1">
                <a:latin typeface="宋体" panose="02010600030101010101" pitchFamily="2" charset="-122"/>
                <a:ea typeface="宋体" panose="02010600030101010101" pitchFamily="2" charset="-122"/>
              </a:rPr>
              <a:t>1</a:t>
            </a:r>
            <a:r>
              <a:rPr lang="zh-CN" altLang="en-US" sz="1200" b="1">
                <a:latin typeface="宋体" panose="02010600030101010101" pitchFamily="2" charset="-122"/>
                <a:ea typeface="宋体" panose="02010600030101010101" pitchFamily="2" charset="-122"/>
              </a:rPr>
              <a:t>题</a:t>
            </a:r>
            <a:r>
              <a:rPr lang="zh-CN" altLang="en-US" sz="1200" b="0">
                <a:solidFill>
                  <a:schemeClr val="tx1"/>
                </a:solidFill>
                <a:latin typeface="宋体" panose="02010600030101010101" pitchFamily="2" charset="-122"/>
                <a:ea typeface="宋体" panose="02010600030101010101" pitchFamily="2" charset="-122"/>
              </a:rPr>
              <a:t>（</a:t>
            </a:r>
            <a:r>
              <a:rPr lang="en-US" altLang="zh-CN" sz="1200" b="0">
                <a:solidFill>
                  <a:schemeClr val="tx1"/>
                </a:solidFill>
                <a:latin typeface="宋体" panose="02010600030101010101" pitchFamily="2" charset="-122"/>
                <a:ea typeface="宋体" panose="02010600030101010101" pitchFamily="2" charset="-122"/>
              </a:rPr>
              <a:t>10</a:t>
            </a:r>
            <a:r>
              <a:rPr lang="zh-CN" altLang="en-US" sz="1200" b="0">
                <a:solidFill>
                  <a:schemeClr val="tx1"/>
                </a:solidFill>
                <a:latin typeface="宋体" panose="02010600030101010101" pitchFamily="2" charset="-122"/>
                <a:ea typeface="宋体" panose="02010600030101010101" pitchFamily="2" charset="-122"/>
              </a:rPr>
              <a:t>分）使用数据透视表和</a:t>
            </a:r>
            <a:r>
              <a:rPr lang="en-US" altLang="zh-CN" sz="1200" b="0">
                <a:solidFill>
                  <a:schemeClr val="tx1"/>
                </a:solidFill>
                <a:latin typeface="宋体" panose="02010600030101010101" pitchFamily="2" charset="-122"/>
                <a:ea typeface="宋体" panose="02010600030101010101" pitchFamily="2" charset="-122"/>
              </a:rPr>
              <a:t>Microsoft</a:t>
            </a:r>
            <a:r>
              <a:rPr lang="en-US" altLang="zh-CN" sz="1200" b="0" baseline="0">
                <a:solidFill>
                  <a:schemeClr val="tx1"/>
                </a:solidFill>
                <a:latin typeface="宋体" panose="02010600030101010101" pitchFamily="2" charset="-122"/>
                <a:ea typeface="宋体" panose="02010600030101010101" pitchFamily="2" charset="-122"/>
              </a:rPr>
              <a:t> </a:t>
            </a:r>
            <a:r>
              <a:rPr lang="en-US" altLang="zh-CN" sz="1200" b="0">
                <a:solidFill>
                  <a:schemeClr val="tx1"/>
                </a:solidFill>
                <a:latin typeface="宋体" panose="02010600030101010101" pitchFamily="2" charset="-122"/>
                <a:ea typeface="宋体" panose="02010600030101010101" pitchFamily="2" charset="-122"/>
              </a:rPr>
              <a:t>Query</a:t>
            </a:r>
            <a:r>
              <a:rPr lang="zh-CN" altLang="en-US" sz="1200">
                <a:latin typeface="宋体" panose="02010600030101010101" pitchFamily="2" charset="-122"/>
                <a:ea typeface="宋体" panose="02010600030101010101" pitchFamily="2" charset="-122"/>
              </a:rPr>
              <a:t>软件，在不导入数据的情况下，汇总</a:t>
            </a:r>
            <a:r>
              <a:rPr lang="en-US" altLang="zh-CN" sz="1200">
                <a:latin typeface="宋体" panose="02010600030101010101" pitchFamily="2" charset="-122"/>
                <a:ea typeface="宋体" panose="02010600030101010101" pitchFamily="2" charset="-122"/>
              </a:rPr>
              <a:t>Northwind</a:t>
            </a:r>
            <a:r>
              <a:rPr lang="zh-CN" altLang="en-US" sz="1200">
                <a:latin typeface="宋体" panose="02010600030101010101" pitchFamily="2" charset="-122"/>
                <a:ea typeface="宋体" panose="02010600030101010101" pitchFamily="2" charset="-122"/>
              </a:rPr>
              <a:t>公司两个销售团队的销售情况。</a:t>
            </a:r>
            <a:r>
              <a:rPr lang="zh-CN" altLang="en-US" sz="1200" b="1" i="1">
                <a:latin typeface="宋体" panose="02010600030101010101" pitchFamily="2" charset="-122"/>
                <a:ea typeface="宋体" panose="02010600030101010101" pitchFamily="2" charset="-122"/>
              </a:rPr>
              <a:t>销售团队</a:t>
            </a:r>
            <a:r>
              <a:rPr lang="en-US" altLang="zh-CN" sz="1200" b="1" i="1">
                <a:latin typeface="宋体" panose="02010600030101010101" pitchFamily="2" charset="-122"/>
                <a:ea typeface="宋体" panose="02010600030101010101" pitchFamily="2" charset="-122"/>
              </a:rPr>
              <a:t>1</a:t>
            </a:r>
            <a:r>
              <a:rPr lang="zh-CN" altLang="en-US" sz="1200">
                <a:latin typeface="宋体" panose="02010600030101010101" pitchFamily="2" charset="-122"/>
                <a:ea typeface="宋体" panose="02010600030101010101" pitchFamily="2" charset="-122"/>
              </a:rPr>
              <a:t>包括：</a:t>
            </a:r>
            <a:r>
              <a:rPr lang="zh-CN" altLang="zh-CN" sz="1200">
                <a:solidFill>
                  <a:schemeClr val="dk1"/>
                </a:solidFill>
                <a:effectLst/>
                <a:latin typeface="宋体" panose="02010600030101010101" pitchFamily="2" charset="-122"/>
                <a:ea typeface="宋体" panose="02010600030101010101" pitchFamily="2" charset="-122"/>
                <a:cs typeface="+mn-cs"/>
              </a:rPr>
              <a:t>赵军、张雪眉、金士鹏、孙林</a:t>
            </a:r>
            <a:r>
              <a:rPr lang="zh-CN" altLang="en-US" sz="1200">
                <a:solidFill>
                  <a:schemeClr val="dk1"/>
                </a:solidFill>
                <a:effectLst/>
                <a:latin typeface="宋体" panose="02010600030101010101" pitchFamily="2" charset="-122"/>
                <a:ea typeface="宋体" panose="02010600030101010101" pitchFamily="2" charset="-122"/>
                <a:cs typeface="+mn-cs"/>
              </a:rPr>
              <a:t>等四名员工，其他员工属于</a:t>
            </a:r>
            <a:r>
              <a:rPr lang="zh-CN" altLang="en-US" sz="1200" b="1" i="1">
                <a:solidFill>
                  <a:schemeClr val="dk1"/>
                </a:solidFill>
                <a:effectLst/>
                <a:latin typeface="宋体" panose="02010600030101010101" pitchFamily="2" charset="-122"/>
                <a:ea typeface="宋体" panose="02010600030101010101" pitchFamily="2" charset="-122"/>
                <a:cs typeface="+mn-cs"/>
              </a:rPr>
              <a:t>销售团队</a:t>
            </a:r>
            <a:r>
              <a:rPr lang="en-US" altLang="zh-CN" sz="1200" b="1" i="1">
                <a:solidFill>
                  <a:schemeClr val="dk1"/>
                </a:solidFill>
                <a:effectLst/>
                <a:latin typeface="宋体" panose="02010600030101010101" pitchFamily="2" charset="-122"/>
                <a:ea typeface="宋体" panose="02010600030101010101" pitchFamily="2" charset="-122"/>
                <a:cs typeface="+mn-cs"/>
              </a:rPr>
              <a:t>2</a:t>
            </a:r>
            <a:r>
              <a:rPr lang="zh-CN" altLang="en-US" sz="1200">
                <a:solidFill>
                  <a:schemeClr val="dk1"/>
                </a:solidFill>
                <a:effectLst/>
                <a:latin typeface="宋体" panose="02010600030101010101" pitchFamily="2" charset="-122"/>
                <a:ea typeface="宋体" panose="02010600030101010101" pitchFamily="2" charset="-122"/>
                <a:cs typeface="+mn-cs"/>
              </a:rPr>
              <a:t>。请按照客户所在地区、销售团队、雇员，汇总</a:t>
            </a:r>
            <a:r>
              <a:rPr lang="en-US" altLang="zh-CN" sz="1200">
                <a:solidFill>
                  <a:schemeClr val="dk1"/>
                </a:solidFill>
                <a:effectLst/>
                <a:latin typeface="宋体" panose="02010600030101010101" pitchFamily="2" charset="-122"/>
                <a:ea typeface="宋体" panose="02010600030101010101" pitchFamily="2" charset="-122"/>
                <a:cs typeface="+mn-cs"/>
              </a:rPr>
              <a:t>1997</a:t>
            </a:r>
            <a:r>
              <a:rPr lang="zh-CN" altLang="en-US" sz="1200">
                <a:solidFill>
                  <a:schemeClr val="dk1"/>
                </a:solidFill>
                <a:effectLst/>
                <a:latin typeface="宋体" panose="02010600030101010101" pitchFamily="2" charset="-122"/>
                <a:ea typeface="宋体" panose="02010600030101010101" pitchFamily="2" charset="-122"/>
                <a:cs typeface="+mn-cs"/>
              </a:rPr>
              <a:t>年和</a:t>
            </a:r>
            <a:r>
              <a:rPr lang="en-US" altLang="zh-CN" sz="1200">
                <a:solidFill>
                  <a:schemeClr val="dk1"/>
                </a:solidFill>
                <a:effectLst/>
                <a:latin typeface="宋体" panose="02010600030101010101" pitchFamily="2" charset="-122"/>
                <a:ea typeface="宋体" panose="02010600030101010101" pitchFamily="2" charset="-122"/>
                <a:cs typeface="+mn-cs"/>
              </a:rPr>
              <a:t>1998</a:t>
            </a:r>
            <a:r>
              <a:rPr lang="zh-CN" altLang="en-US" sz="1200">
                <a:solidFill>
                  <a:schemeClr val="dk1"/>
                </a:solidFill>
                <a:effectLst/>
                <a:latin typeface="宋体" panose="02010600030101010101" pitchFamily="2" charset="-122"/>
                <a:ea typeface="宋体" panose="02010600030101010101" pitchFamily="2" charset="-122"/>
                <a:cs typeface="+mn-cs"/>
              </a:rPr>
              <a:t>年的总销售额和订单张数，汇总结果需如下图所示。</a:t>
            </a:r>
            <a:r>
              <a:rPr lang="zh-CN" altLang="en-US" sz="1200">
                <a:latin typeface="宋体" panose="02010600030101010101" pitchFamily="2" charset="-122"/>
                <a:ea typeface="宋体" panose="02010600030101010101" pitchFamily="2" charset="-122"/>
              </a:rPr>
              <a:t>汇总数据需要按照雇员的</a:t>
            </a:r>
            <a:r>
              <a:rPr lang="en-US" altLang="zh-CN" sz="1200">
                <a:latin typeface="宋体" panose="02010600030101010101" pitchFamily="2" charset="-122"/>
                <a:ea typeface="宋体" panose="02010600030101010101" pitchFamily="2" charset="-122"/>
              </a:rPr>
              <a:t>1997</a:t>
            </a:r>
            <a:r>
              <a:rPr lang="zh-CN" altLang="en-US" sz="1200">
                <a:latin typeface="宋体" panose="02010600030101010101" pitchFamily="2" charset="-122"/>
                <a:ea typeface="宋体" panose="02010600030101010101" pitchFamily="2" charset="-122"/>
              </a:rPr>
              <a:t>年销售额从高到低排序，对于没有销售额的项目，需要显示为</a:t>
            </a:r>
            <a:r>
              <a:rPr lang="en-US" altLang="zh-CN" sz="1200">
                <a:latin typeface="宋体" panose="02010600030101010101" pitchFamily="2" charset="-122"/>
                <a:ea typeface="宋体" panose="02010600030101010101" pitchFamily="2" charset="-122"/>
              </a:rPr>
              <a:t>0</a:t>
            </a:r>
            <a:r>
              <a:rPr lang="zh-CN" altLang="en-US" sz="1200">
                <a:latin typeface="宋体" panose="02010600030101010101" pitchFamily="2" charset="-122"/>
                <a:ea typeface="宋体" panose="02010600030101010101" pitchFamily="2" charset="-122"/>
              </a:rPr>
              <a:t>，并添加地区切片器。</a:t>
            </a:r>
            <a:endParaRPr lang="en-US" altLang="zh-CN" sz="120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00000000-0008-0000-0100-000007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1915" y="2958299"/>
            <a:ext cx="5705315" cy="2812406"/>
          </a:xfrm>
          <a:prstGeom prst="rect">
            <a:avLst/>
          </a:prstGeom>
          <a:solidFill>
            <a:schemeClr val="accent5">
              <a:lumMod val="20000"/>
              <a:lumOff val="80000"/>
            </a:schemeClr>
          </a:solidFill>
          <a:ln>
            <a:solidFill>
              <a:schemeClr val="bg1">
                <a:lumMod val="65000"/>
              </a:schemeClr>
            </a:solidFill>
          </a:ln>
        </p:spPr>
      </p:pic>
    </p:spTree>
    <p:extLst>
      <p:ext uri="{BB962C8B-B14F-4D97-AF65-F5344CB8AC3E}">
        <p14:creationId xmlns:p14="http://schemas.microsoft.com/office/powerpoint/2010/main" val="2093506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2</a:t>
            </a:r>
            <a:endParaRPr lang="zh-CN" altLang="en-US" dirty="0"/>
          </a:p>
        </p:txBody>
      </p:sp>
      <p:pic>
        <p:nvPicPr>
          <p:cNvPr id="4" name="图片 3">
            <a:extLst>
              <a:ext uri="{FF2B5EF4-FFF2-40B4-BE49-F238E27FC236}">
                <a16:creationId xmlns:a16="http://schemas.microsoft.com/office/drawing/2014/main" id="{11D9D9E5-6AF8-4D1B-BA30-BF462F56D08F}"/>
              </a:ext>
            </a:extLst>
          </p:cNvPr>
          <p:cNvPicPr>
            <a:picLocks noChangeAspect="1"/>
          </p:cNvPicPr>
          <p:nvPr/>
        </p:nvPicPr>
        <p:blipFill>
          <a:blip r:embed="rId2"/>
          <a:stretch>
            <a:fillRect/>
          </a:stretch>
        </p:blipFill>
        <p:spPr>
          <a:xfrm>
            <a:off x="838200" y="1690688"/>
            <a:ext cx="7198010" cy="4173508"/>
          </a:xfrm>
          <a:prstGeom prst="rect">
            <a:avLst/>
          </a:prstGeom>
        </p:spPr>
      </p:pic>
      <p:sp>
        <p:nvSpPr>
          <p:cNvPr id="5" name="文本框 4">
            <a:extLst>
              <a:ext uri="{FF2B5EF4-FFF2-40B4-BE49-F238E27FC236}">
                <a16:creationId xmlns:a16="http://schemas.microsoft.com/office/drawing/2014/main" id="{2ECD4436-A879-4DA8-B4B6-3D1C8A7F5249}"/>
              </a:ext>
            </a:extLst>
          </p:cNvPr>
          <p:cNvSpPr txBox="1"/>
          <p:nvPr/>
        </p:nvSpPr>
        <p:spPr>
          <a:xfrm>
            <a:off x="764060" y="6123543"/>
            <a:ext cx="4134465" cy="369332"/>
          </a:xfrm>
          <a:prstGeom prst="rect">
            <a:avLst/>
          </a:prstGeom>
          <a:noFill/>
        </p:spPr>
        <p:txBody>
          <a:bodyPr wrap="none" rtlCol="0">
            <a:spAutoFit/>
          </a:bodyPr>
          <a:lstStyle/>
          <a:p>
            <a:r>
              <a:rPr lang="zh-CN" altLang="en-US" dirty="0"/>
              <a:t>不对销售额求和导致订单</a:t>
            </a:r>
            <a:r>
              <a:rPr lang="en-US" altLang="zh-CN" dirty="0"/>
              <a:t>ID</a:t>
            </a:r>
            <a:r>
              <a:rPr lang="zh-CN" altLang="en-US" dirty="0"/>
              <a:t>被多次计数</a:t>
            </a:r>
          </a:p>
        </p:txBody>
      </p:sp>
      <p:pic>
        <p:nvPicPr>
          <p:cNvPr id="8" name="图片 7">
            <a:extLst>
              <a:ext uri="{FF2B5EF4-FFF2-40B4-BE49-F238E27FC236}">
                <a16:creationId xmlns:a16="http://schemas.microsoft.com/office/drawing/2014/main" id="{CED405D7-8937-4FA8-8C42-F5905B916D58}"/>
              </a:ext>
            </a:extLst>
          </p:cNvPr>
          <p:cNvPicPr>
            <a:picLocks noChangeAspect="1"/>
          </p:cNvPicPr>
          <p:nvPr/>
        </p:nvPicPr>
        <p:blipFill>
          <a:blip r:embed="rId3"/>
          <a:stretch>
            <a:fillRect/>
          </a:stretch>
        </p:blipFill>
        <p:spPr>
          <a:xfrm>
            <a:off x="5104926" y="2657851"/>
            <a:ext cx="6529435" cy="2695595"/>
          </a:xfrm>
          <a:prstGeom prst="rect">
            <a:avLst/>
          </a:prstGeom>
        </p:spPr>
      </p:pic>
    </p:spTree>
    <p:extLst>
      <p:ext uri="{BB962C8B-B14F-4D97-AF65-F5344CB8AC3E}">
        <p14:creationId xmlns:p14="http://schemas.microsoft.com/office/powerpoint/2010/main" val="3487039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3</a:t>
            </a:r>
            <a:endParaRPr lang="zh-CN" altLang="en-US" dirty="0"/>
          </a:p>
        </p:txBody>
      </p:sp>
      <p:sp>
        <p:nvSpPr>
          <p:cNvPr id="5" name="文本框 4">
            <a:extLst>
              <a:ext uri="{FF2B5EF4-FFF2-40B4-BE49-F238E27FC236}">
                <a16:creationId xmlns:a16="http://schemas.microsoft.com/office/drawing/2014/main" id="{2ECD4436-A879-4DA8-B4B6-3D1C8A7F5249}"/>
              </a:ext>
            </a:extLst>
          </p:cNvPr>
          <p:cNvSpPr txBox="1"/>
          <p:nvPr/>
        </p:nvSpPr>
        <p:spPr>
          <a:xfrm>
            <a:off x="764060" y="6123543"/>
            <a:ext cx="2153154" cy="369332"/>
          </a:xfrm>
          <a:prstGeom prst="rect">
            <a:avLst/>
          </a:prstGeom>
          <a:noFill/>
        </p:spPr>
        <p:txBody>
          <a:bodyPr wrap="none" rtlCol="0">
            <a:spAutoFit/>
          </a:bodyPr>
          <a:lstStyle/>
          <a:p>
            <a:r>
              <a:rPr lang="zh-CN" altLang="en-US" dirty="0"/>
              <a:t>求和后只被计数</a:t>
            </a:r>
            <a:r>
              <a:rPr lang="en-US" altLang="zh-CN" dirty="0"/>
              <a:t>1</a:t>
            </a:r>
            <a:r>
              <a:rPr lang="zh-CN" altLang="en-US" dirty="0"/>
              <a:t>次</a:t>
            </a:r>
          </a:p>
        </p:txBody>
      </p:sp>
      <p:pic>
        <p:nvPicPr>
          <p:cNvPr id="6" name="图片 5">
            <a:extLst>
              <a:ext uri="{FF2B5EF4-FFF2-40B4-BE49-F238E27FC236}">
                <a16:creationId xmlns:a16="http://schemas.microsoft.com/office/drawing/2014/main" id="{B636E1DF-A15C-4278-A739-26EECCDD3B79}"/>
              </a:ext>
            </a:extLst>
          </p:cNvPr>
          <p:cNvPicPr>
            <a:picLocks noChangeAspect="1"/>
          </p:cNvPicPr>
          <p:nvPr/>
        </p:nvPicPr>
        <p:blipFill>
          <a:blip r:embed="rId2"/>
          <a:stretch>
            <a:fillRect/>
          </a:stretch>
        </p:blipFill>
        <p:spPr>
          <a:xfrm>
            <a:off x="617838" y="1545347"/>
            <a:ext cx="7187762" cy="4069407"/>
          </a:xfrm>
          <a:prstGeom prst="rect">
            <a:avLst/>
          </a:prstGeom>
        </p:spPr>
      </p:pic>
      <p:pic>
        <p:nvPicPr>
          <p:cNvPr id="7" name="图片 6">
            <a:extLst>
              <a:ext uri="{FF2B5EF4-FFF2-40B4-BE49-F238E27FC236}">
                <a16:creationId xmlns:a16="http://schemas.microsoft.com/office/drawing/2014/main" id="{ECD010C4-89D1-4A6E-B5FD-929593CB26F8}"/>
              </a:ext>
            </a:extLst>
          </p:cNvPr>
          <p:cNvPicPr>
            <a:picLocks noChangeAspect="1"/>
          </p:cNvPicPr>
          <p:nvPr/>
        </p:nvPicPr>
        <p:blipFill>
          <a:blip r:embed="rId3"/>
          <a:stretch>
            <a:fillRect/>
          </a:stretch>
        </p:blipFill>
        <p:spPr>
          <a:xfrm>
            <a:off x="6096000" y="2226076"/>
            <a:ext cx="5269654" cy="2914335"/>
          </a:xfrm>
          <a:prstGeom prst="rect">
            <a:avLst/>
          </a:prstGeom>
        </p:spPr>
      </p:pic>
    </p:spTree>
    <p:extLst>
      <p:ext uri="{BB962C8B-B14F-4D97-AF65-F5344CB8AC3E}">
        <p14:creationId xmlns:p14="http://schemas.microsoft.com/office/powerpoint/2010/main" val="2411149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其他坑点</a:t>
            </a:r>
          </a:p>
        </p:txBody>
      </p:sp>
      <p:pic>
        <p:nvPicPr>
          <p:cNvPr id="4" name="图片 3">
            <a:extLst>
              <a:ext uri="{FF2B5EF4-FFF2-40B4-BE49-F238E27FC236}">
                <a16:creationId xmlns:a16="http://schemas.microsoft.com/office/drawing/2014/main" id="{C6BF105C-8079-4F44-A7D3-76F17F97AE99}"/>
              </a:ext>
            </a:extLst>
          </p:cNvPr>
          <p:cNvPicPr>
            <a:picLocks noChangeAspect="1"/>
          </p:cNvPicPr>
          <p:nvPr/>
        </p:nvPicPr>
        <p:blipFill>
          <a:blip r:embed="rId2"/>
          <a:stretch>
            <a:fillRect/>
          </a:stretch>
        </p:blipFill>
        <p:spPr>
          <a:xfrm>
            <a:off x="619545" y="1596682"/>
            <a:ext cx="5689815" cy="4255476"/>
          </a:xfrm>
          <a:prstGeom prst="rect">
            <a:avLst/>
          </a:prstGeom>
        </p:spPr>
      </p:pic>
      <p:sp>
        <p:nvSpPr>
          <p:cNvPr id="6" name="文本框 5">
            <a:extLst>
              <a:ext uri="{FF2B5EF4-FFF2-40B4-BE49-F238E27FC236}">
                <a16:creationId xmlns:a16="http://schemas.microsoft.com/office/drawing/2014/main" id="{E038E6DF-BCC7-4547-A981-DBC1EB4DA144}"/>
              </a:ext>
            </a:extLst>
          </p:cNvPr>
          <p:cNvSpPr txBox="1"/>
          <p:nvPr/>
        </p:nvSpPr>
        <p:spPr>
          <a:xfrm>
            <a:off x="1112216" y="6009243"/>
            <a:ext cx="4628271" cy="646331"/>
          </a:xfrm>
          <a:prstGeom prst="rect">
            <a:avLst/>
          </a:prstGeom>
          <a:noFill/>
        </p:spPr>
        <p:txBody>
          <a:bodyPr wrap="square" rtlCol="0">
            <a:spAutoFit/>
          </a:bodyPr>
          <a:lstStyle/>
          <a:p>
            <a:r>
              <a:rPr lang="zh-CN" altLang="en-US" dirty="0"/>
              <a:t>不要忘记修改数据透视表中单元格的名称</a:t>
            </a:r>
            <a:endParaRPr lang="en-US" altLang="zh-CN" dirty="0"/>
          </a:p>
          <a:p>
            <a:r>
              <a:rPr lang="zh-CN" altLang="en-US" dirty="0"/>
              <a:t>注意看是否要求对数据排序</a:t>
            </a:r>
          </a:p>
        </p:txBody>
      </p:sp>
      <p:pic>
        <p:nvPicPr>
          <p:cNvPr id="8" name="图片 7">
            <a:extLst>
              <a:ext uri="{FF2B5EF4-FFF2-40B4-BE49-F238E27FC236}">
                <a16:creationId xmlns:a16="http://schemas.microsoft.com/office/drawing/2014/main" id="{2FA92E96-1068-44C2-99FC-0C6C92B2DC17}"/>
              </a:ext>
            </a:extLst>
          </p:cNvPr>
          <p:cNvPicPr>
            <a:picLocks noChangeAspect="1"/>
          </p:cNvPicPr>
          <p:nvPr/>
        </p:nvPicPr>
        <p:blipFill>
          <a:blip r:embed="rId3"/>
          <a:stretch>
            <a:fillRect/>
          </a:stretch>
        </p:blipFill>
        <p:spPr>
          <a:xfrm>
            <a:off x="6970541" y="1596682"/>
            <a:ext cx="4433431" cy="4212728"/>
          </a:xfrm>
          <a:prstGeom prst="rect">
            <a:avLst/>
          </a:prstGeom>
        </p:spPr>
      </p:pic>
      <p:sp>
        <p:nvSpPr>
          <p:cNvPr id="9" name="文本框 8">
            <a:extLst>
              <a:ext uri="{FF2B5EF4-FFF2-40B4-BE49-F238E27FC236}">
                <a16:creationId xmlns:a16="http://schemas.microsoft.com/office/drawing/2014/main" id="{75B30107-1A7F-4001-BB49-F9F0B7B3C80F}"/>
              </a:ext>
            </a:extLst>
          </p:cNvPr>
          <p:cNvSpPr txBox="1"/>
          <p:nvPr/>
        </p:nvSpPr>
        <p:spPr>
          <a:xfrm>
            <a:off x="6775701" y="6063168"/>
            <a:ext cx="4628271" cy="369332"/>
          </a:xfrm>
          <a:prstGeom prst="rect">
            <a:avLst/>
          </a:prstGeom>
          <a:noFill/>
        </p:spPr>
        <p:txBody>
          <a:bodyPr wrap="square" rtlCol="0">
            <a:spAutoFit/>
          </a:bodyPr>
          <a:lstStyle/>
          <a:p>
            <a:r>
              <a:rPr lang="zh-CN" altLang="en-US" dirty="0"/>
              <a:t>按要求调整值显示方式</a:t>
            </a:r>
          </a:p>
        </p:txBody>
      </p:sp>
    </p:spTree>
    <p:extLst>
      <p:ext uri="{BB962C8B-B14F-4D97-AF65-F5344CB8AC3E}">
        <p14:creationId xmlns:p14="http://schemas.microsoft.com/office/powerpoint/2010/main" val="989058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B40D1-A955-4854-ABA3-FF9CF404B9BF}"/>
              </a:ext>
            </a:extLst>
          </p:cNvPr>
          <p:cNvSpPr>
            <a:spLocks noGrp="1"/>
          </p:cNvSpPr>
          <p:nvPr>
            <p:ph type="title"/>
          </p:nvPr>
        </p:nvSpPr>
        <p:spPr/>
        <p:txBody>
          <a:bodyPr/>
          <a:lstStyle/>
          <a:p>
            <a:r>
              <a:rPr lang="en-US" altLang="zh-CN" dirty="0"/>
              <a:t>Part 3</a:t>
            </a:r>
            <a:endParaRPr lang="zh-CN" altLang="en-US" dirty="0"/>
          </a:p>
        </p:txBody>
      </p:sp>
      <p:sp>
        <p:nvSpPr>
          <p:cNvPr id="3" name="文本占位符 2">
            <a:extLst>
              <a:ext uri="{FF2B5EF4-FFF2-40B4-BE49-F238E27FC236}">
                <a16:creationId xmlns:a16="http://schemas.microsoft.com/office/drawing/2014/main" id="{A946E2D5-C3A5-4147-9600-A90573648F1F}"/>
              </a:ext>
            </a:extLst>
          </p:cNvPr>
          <p:cNvSpPr>
            <a:spLocks noGrp="1"/>
          </p:cNvSpPr>
          <p:nvPr>
            <p:ph type="body" idx="1"/>
          </p:nvPr>
        </p:nvSpPr>
        <p:spPr/>
        <p:txBody>
          <a:bodyPr/>
          <a:lstStyle/>
          <a:p>
            <a:r>
              <a:rPr lang="zh-CN" altLang="en-US" dirty="0"/>
              <a:t>动态图表</a:t>
            </a:r>
          </a:p>
        </p:txBody>
      </p:sp>
    </p:spTree>
    <p:extLst>
      <p:ext uri="{BB962C8B-B14F-4D97-AF65-F5344CB8AC3E}">
        <p14:creationId xmlns:p14="http://schemas.microsoft.com/office/powerpoint/2010/main" val="1376099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获取年份</a:t>
            </a:r>
          </a:p>
        </p:txBody>
      </p:sp>
      <p:pic>
        <p:nvPicPr>
          <p:cNvPr id="11" name="图片 10">
            <a:extLst>
              <a:ext uri="{FF2B5EF4-FFF2-40B4-BE49-F238E27FC236}">
                <a16:creationId xmlns:a16="http://schemas.microsoft.com/office/drawing/2014/main" id="{E678F8D7-8408-4961-9C57-7973CEC1A789}"/>
              </a:ext>
            </a:extLst>
          </p:cNvPr>
          <p:cNvPicPr>
            <a:picLocks noChangeAspect="1"/>
          </p:cNvPicPr>
          <p:nvPr/>
        </p:nvPicPr>
        <p:blipFill>
          <a:blip r:embed="rId2"/>
          <a:stretch>
            <a:fillRect/>
          </a:stretch>
        </p:blipFill>
        <p:spPr>
          <a:xfrm>
            <a:off x="838200" y="1517693"/>
            <a:ext cx="9316995" cy="4460511"/>
          </a:xfrm>
          <a:prstGeom prst="rect">
            <a:avLst/>
          </a:prstGeom>
        </p:spPr>
      </p:pic>
      <p:sp>
        <p:nvSpPr>
          <p:cNvPr id="3" name="文本框 2">
            <a:extLst>
              <a:ext uri="{FF2B5EF4-FFF2-40B4-BE49-F238E27FC236}">
                <a16:creationId xmlns:a16="http://schemas.microsoft.com/office/drawing/2014/main" id="{56920852-3F02-46B0-8AAD-56BBC8F6C91D}"/>
              </a:ext>
            </a:extLst>
          </p:cNvPr>
          <p:cNvSpPr txBox="1"/>
          <p:nvPr/>
        </p:nvSpPr>
        <p:spPr>
          <a:xfrm>
            <a:off x="838200" y="6219568"/>
            <a:ext cx="9228438" cy="369332"/>
          </a:xfrm>
          <a:prstGeom prst="rect">
            <a:avLst/>
          </a:prstGeom>
          <a:noFill/>
        </p:spPr>
        <p:txBody>
          <a:bodyPr wrap="square" rtlCol="0">
            <a:spAutoFit/>
          </a:bodyPr>
          <a:lstStyle/>
          <a:p>
            <a:r>
              <a:rPr lang="en-US" altLang="zh-CN" b="1" dirty="0"/>
              <a:t>=YEAR(A3)&amp;“</a:t>
            </a:r>
            <a:r>
              <a:rPr lang="zh-CN" altLang="en-US" b="1" dirty="0"/>
              <a:t>年</a:t>
            </a:r>
            <a:r>
              <a:rPr lang="en-US" altLang="zh-CN" b="1" dirty="0"/>
              <a:t>“ </a:t>
            </a:r>
            <a:r>
              <a:rPr lang="zh-CN" altLang="en-US" dirty="0"/>
              <a:t>或者 </a:t>
            </a:r>
            <a:r>
              <a:rPr lang="en-US" altLang="zh-CN" b="1" dirty="0"/>
              <a:t>=YEAR(A3)&amp;“</a:t>
            </a:r>
            <a:r>
              <a:rPr lang="zh-CN" altLang="en-US" b="1" dirty="0"/>
              <a:t> </a:t>
            </a:r>
            <a:r>
              <a:rPr lang="en-US" altLang="zh-CN" b="1" dirty="0"/>
              <a:t>“    </a:t>
            </a:r>
            <a:r>
              <a:rPr lang="zh-CN" altLang="en-US" dirty="0"/>
              <a:t>不然会被</a:t>
            </a:r>
            <a:r>
              <a:rPr lang="en-US" altLang="zh-CN" dirty="0"/>
              <a:t>excel</a:t>
            </a:r>
            <a:r>
              <a:rPr lang="zh-CN" altLang="en-US" dirty="0"/>
              <a:t>识别为日期出错</a:t>
            </a:r>
          </a:p>
        </p:txBody>
      </p:sp>
    </p:spTree>
    <p:extLst>
      <p:ext uri="{BB962C8B-B14F-4D97-AF65-F5344CB8AC3E}">
        <p14:creationId xmlns:p14="http://schemas.microsoft.com/office/powerpoint/2010/main" val="286622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获取所有不重复的值</a:t>
            </a:r>
          </a:p>
        </p:txBody>
      </p:sp>
      <p:sp>
        <p:nvSpPr>
          <p:cNvPr id="3" name="文本框 2">
            <a:extLst>
              <a:ext uri="{FF2B5EF4-FFF2-40B4-BE49-F238E27FC236}">
                <a16:creationId xmlns:a16="http://schemas.microsoft.com/office/drawing/2014/main" id="{56920852-3F02-46B0-8AAD-56BBC8F6C91D}"/>
              </a:ext>
            </a:extLst>
          </p:cNvPr>
          <p:cNvSpPr txBox="1"/>
          <p:nvPr/>
        </p:nvSpPr>
        <p:spPr>
          <a:xfrm>
            <a:off x="632255" y="6308209"/>
            <a:ext cx="9228438" cy="369332"/>
          </a:xfrm>
          <a:prstGeom prst="rect">
            <a:avLst/>
          </a:prstGeom>
          <a:noFill/>
        </p:spPr>
        <p:txBody>
          <a:bodyPr wrap="square" rtlCol="0">
            <a:spAutoFit/>
          </a:bodyPr>
          <a:lstStyle/>
          <a:p>
            <a:r>
              <a:rPr lang="zh-CN" altLang="en-US" b="1" dirty="0"/>
              <a:t>数据</a:t>
            </a:r>
            <a:r>
              <a:rPr lang="en-US" altLang="zh-CN" b="1" dirty="0"/>
              <a:t>-&gt;</a:t>
            </a:r>
            <a:r>
              <a:rPr lang="zh-CN" altLang="en-US" b="1" dirty="0"/>
              <a:t>高级</a:t>
            </a:r>
            <a:r>
              <a:rPr lang="en-US" altLang="zh-CN" b="1" dirty="0"/>
              <a:t>-&gt;</a:t>
            </a:r>
            <a:r>
              <a:rPr lang="zh-CN" altLang="en-US" b="1" dirty="0"/>
              <a:t>选择不重复记录</a:t>
            </a:r>
            <a:endParaRPr lang="zh-CN" altLang="en-US" dirty="0"/>
          </a:p>
        </p:txBody>
      </p:sp>
      <p:pic>
        <p:nvPicPr>
          <p:cNvPr id="5" name="图片 4">
            <a:extLst>
              <a:ext uri="{FF2B5EF4-FFF2-40B4-BE49-F238E27FC236}">
                <a16:creationId xmlns:a16="http://schemas.microsoft.com/office/drawing/2014/main" id="{B6546535-7837-42E1-9AC4-7ED0A5AAB3B9}"/>
              </a:ext>
            </a:extLst>
          </p:cNvPr>
          <p:cNvPicPr>
            <a:picLocks noChangeAspect="1"/>
          </p:cNvPicPr>
          <p:nvPr/>
        </p:nvPicPr>
        <p:blipFill>
          <a:blip r:embed="rId2"/>
          <a:stretch>
            <a:fillRect/>
          </a:stretch>
        </p:blipFill>
        <p:spPr>
          <a:xfrm>
            <a:off x="2125362" y="1383751"/>
            <a:ext cx="8410116" cy="4835817"/>
          </a:xfrm>
          <a:prstGeom prst="rect">
            <a:avLst/>
          </a:prstGeom>
        </p:spPr>
      </p:pic>
      <p:sp>
        <p:nvSpPr>
          <p:cNvPr id="6" name="文本框 5">
            <a:extLst>
              <a:ext uri="{FF2B5EF4-FFF2-40B4-BE49-F238E27FC236}">
                <a16:creationId xmlns:a16="http://schemas.microsoft.com/office/drawing/2014/main" id="{77F40C74-0A1A-4868-9358-F2EF712A8665}"/>
              </a:ext>
            </a:extLst>
          </p:cNvPr>
          <p:cNvSpPr txBox="1"/>
          <p:nvPr/>
        </p:nvSpPr>
        <p:spPr>
          <a:xfrm>
            <a:off x="7331676" y="369934"/>
            <a:ext cx="4022124" cy="646331"/>
          </a:xfrm>
          <a:prstGeom prst="rect">
            <a:avLst/>
          </a:prstGeom>
          <a:noFill/>
        </p:spPr>
        <p:txBody>
          <a:bodyPr wrap="square" rtlCol="0">
            <a:spAutoFit/>
          </a:bodyPr>
          <a:lstStyle/>
          <a:p>
            <a:r>
              <a:rPr lang="zh-CN" altLang="en-US" dirty="0"/>
              <a:t>一般用于找到所有年份、类别、地区，构建模拟运算表</a:t>
            </a:r>
          </a:p>
        </p:txBody>
      </p:sp>
    </p:spTree>
    <p:extLst>
      <p:ext uri="{BB962C8B-B14F-4D97-AF65-F5344CB8AC3E}">
        <p14:creationId xmlns:p14="http://schemas.microsoft.com/office/powerpoint/2010/main" val="2083745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fontScale="90000"/>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index(</a:t>
            </a:r>
            <a:r>
              <a:rPr lang="zh-CN" altLang="en-US" sz="3600" b="0" i="0" u="none" strike="noStrike" dirty="0">
                <a:solidFill>
                  <a:srgbClr val="000000"/>
                </a:solidFill>
                <a:effectLst/>
                <a:latin typeface="等线" panose="02010600030101010101" pitchFamily="2" charset="-122"/>
                <a:ea typeface="等线" panose="02010600030101010101" pitchFamily="2" charset="-122"/>
              </a:rPr>
              <a:t>数据源，行号，列号</a:t>
            </a:r>
            <a:r>
              <a:rPr lang="en-US" altLang="zh-CN" sz="3600" b="0" i="0" u="none" strike="noStrike" dirty="0">
                <a:solidFill>
                  <a:srgbClr val="000000"/>
                </a:solidFill>
                <a:effectLst/>
                <a:latin typeface="等线" panose="02010600030101010101" pitchFamily="2" charset="-122"/>
                <a:ea typeface="等线" panose="02010600030101010101" pitchFamily="2" charset="-122"/>
              </a:rPr>
              <a:t>)  </a:t>
            </a:r>
            <a:r>
              <a:rPr lang="zh-CN" altLang="en-US" sz="3600" b="0" i="0" u="none" strike="noStrike" dirty="0">
                <a:solidFill>
                  <a:srgbClr val="000000"/>
                </a:solidFill>
                <a:effectLst/>
                <a:latin typeface="等线" panose="02010600030101010101" pitchFamily="2" charset="-122"/>
                <a:ea typeface="等线" panose="02010600030101010101" pitchFamily="2" charset="-122"/>
              </a:rPr>
              <a:t>获取一个区域中的指定元素</a:t>
            </a:r>
            <a:r>
              <a:rPr lang="zh-CN" altLang="en-US" sz="7200" dirty="0"/>
              <a:t> </a:t>
            </a:r>
          </a:p>
        </p:txBody>
      </p:sp>
      <p:sp>
        <p:nvSpPr>
          <p:cNvPr id="3" name="文本框 2">
            <a:extLst>
              <a:ext uri="{FF2B5EF4-FFF2-40B4-BE49-F238E27FC236}">
                <a16:creationId xmlns:a16="http://schemas.microsoft.com/office/drawing/2014/main" id="{56920852-3F02-46B0-8AAD-56BBC8F6C91D}"/>
              </a:ext>
            </a:extLst>
          </p:cNvPr>
          <p:cNvSpPr txBox="1"/>
          <p:nvPr/>
        </p:nvSpPr>
        <p:spPr>
          <a:xfrm>
            <a:off x="689920" y="6293185"/>
            <a:ext cx="9228438" cy="369332"/>
          </a:xfrm>
          <a:prstGeom prst="rect">
            <a:avLst/>
          </a:prstGeom>
          <a:noFill/>
        </p:spPr>
        <p:txBody>
          <a:bodyPr wrap="square" rtlCol="0">
            <a:spAutoFit/>
          </a:bodyPr>
          <a:lstStyle/>
          <a:p>
            <a:r>
              <a:rPr lang="zh-CN" altLang="en-US" b="1" dirty="0"/>
              <a:t>一般用于选中模拟控件指定的某个元素</a:t>
            </a:r>
            <a:endParaRPr lang="zh-CN" altLang="en-US" dirty="0"/>
          </a:p>
        </p:txBody>
      </p:sp>
      <p:pic>
        <p:nvPicPr>
          <p:cNvPr id="7" name="图片 6">
            <a:extLst>
              <a:ext uri="{FF2B5EF4-FFF2-40B4-BE49-F238E27FC236}">
                <a16:creationId xmlns:a16="http://schemas.microsoft.com/office/drawing/2014/main" id="{D19FD829-7244-4B9C-B21C-94589120C4CE}"/>
              </a:ext>
            </a:extLst>
          </p:cNvPr>
          <p:cNvPicPr>
            <a:picLocks noChangeAspect="1"/>
          </p:cNvPicPr>
          <p:nvPr/>
        </p:nvPicPr>
        <p:blipFill>
          <a:blip r:embed="rId2"/>
          <a:stretch>
            <a:fillRect/>
          </a:stretch>
        </p:blipFill>
        <p:spPr>
          <a:xfrm>
            <a:off x="1330411" y="1325563"/>
            <a:ext cx="9531178" cy="4461783"/>
          </a:xfrm>
          <a:prstGeom prst="rect">
            <a:avLst/>
          </a:prstGeom>
        </p:spPr>
      </p:pic>
    </p:spTree>
    <p:extLst>
      <p:ext uri="{BB962C8B-B14F-4D97-AF65-F5344CB8AC3E}">
        <p14:creationId xmlns:p14="http://schemas.microsoft.com/office/powerpoint/2010/main" val="3514331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控件选择“全部”，就把相应的条件设置为空</a:t>
            </a:r>
            <a:endParaRPr lang="zh-CN" altLang="en-US" sz="7200" dirty="0"/>
          </a:p>
        </p:txBody>
      </p:sp>
      <p:pic>
        <p:nvPicPr>
          <p:cNvPr id="7" name="图片 6">
            <a:extLst>
              <a:ext uri="{FF2B5EF4-FFF2-40B4-BE49-F238E27FC236}">
                <a16:creationId xmlns:a16="http://schemas.microsoft.com/office/drawing/2014/main" id="{D19FD829-7244-4B9C-B21C-94589120C4CE}"/>
              </a:ext>
            </a:extLst>
          </p:cNvPr>
          <p:cNvPicPr>
            <a:picLocks noChangeAspect="1"/>
          </p:cNvPicPr>
          <p:nvPr/>
        </p:nvPicPr>
        <p:blipFill>
          <a:blip r:embed="rId2"/>
          <a:stretch>
            <a:fillRect/>
          </a:stretch>
        </p:blipFill>
        <p:spPr>
          <a:xfrm>
            <a:off x="1330411" y="1416179"/>
            <a:ext cx="9531178" cy="4461783"/>
          </a:xfrm>
          <a:prstGeom prst="rect">
            <a:avLst/>
          </a:prstGeom>
        </p:spPr>
      </p:pic>
    </p:spTree>
    <p:extLst>
      <p:ext uri="{BB962C8B-B14F-4D97-AF65-F5344CB8AC3E}">
        <p14:creationId xmlns:p14="http://schemas.microsoft.com/office/powerpoint/2010/main" val="654211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图表的标题可以指定到</a:t>
            </a:r>
            <a:r>
              <a:rPr lang="en-US" altLang="zh-CN" sz="3600" b="0" i="0" u="none" strike="noStrike" dirty="0">
                <a:solidFill>
                  <a:srgbClr val="000000"/>
                </a:solidFill>
                <a:effectLst/>
                <a:latin typeface="等线" panose="02010600030101010101" pitchFamily="2" charset="-122"/>
                <a:ea typeface="等线" panose="02010600030101010101" pitchFamily="2" charset="-122"/>
              </a:rPr>
              <a:t>excel</a:t>
            </a:r>
            <a:r>
              <a:rPr lang="zh-CN" altLang="en-US" sz="3600" b="0" i="0" u="none" strike="noStrike" dirty="0">
                <a:solidFill>
                  <a:srgbClr val="000000"/>
                </a:solidFill>
                <a:effectLst/>
                <a:latin typeface="等线" panose="02010600030101010101" pitchFamily="2" charset="-122"/>
                <a:ea typeface="等线" panose="02010600030101010101" pitchFamily="2" charset="-122"/>
              </a:rPr>
              <a:t>中的某个单元格上</a:t>
            </a:r>
            <a:endParaRPr lang="zh-CN" altLang="en-US" sz="7200" dirty="0"/>
          </a:p>
        </p:txBody>
      </p:sp>
      <p:pic>
        <p:nvPicPr>
          <p:cNvPr id="5" name="图片 4">
            <a:extLst>
              <a:ext uri="{FF2B5EF4-FFF2-40B4-BE49-F238E27FC236}">
                <a16:creationId xmlns:a16="http://schemas.microsoft.com/office/drawing/2014/main" id="{145E9C28-ADA9-4838-8AE8-14AE02B4C065}"/>
              </a:ext>
            </a:extLst>
          </p:cNvPr>
          <p:cNvPicPr>
            <a:picLocks noChangeAspect="1"/>
          </p:cNvPicPr>
          <p:nvPr/>
        </p:nvPicPr>
        <p:blipFill>
          <a:blip r:embed="rId2"/>
          <a:stretch>
            <a:fillRect/>
          </a:stretch>
        </p:blipFill>
        <p:spPr>
          <a:xfrm>
            <a:off x="2059833" y="1477524"/>
            <a:ext cx="8072333" cy="4610238"/>
          </a:xfrm>
          <a:prstGeom prst="rect">
            <a:avLst/>
          </a:prstGeom>
        </p:spPr>
      </p:pic>
    </p:spTree>
    <p:extLst>
      <p:ext uri="{BB962C8B-B14F-4D97-AF65-F5344CB8AC3E}">
        <p14:creationId xmlns:p14="http://schemas.microsoft.com/office/powerpoint/2010/main" val="159301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=DATE(YEAR([@</a:t>
            </a:r>
            <a:r>
              <a:rPr lang="zh-CN" altLang="en-US" sz="3600" b="0" i="0" u="none" strike="noStrike" dirty="0">
                <a:solidFill>
                  <a:srgbClr val="000000"/>
                </a:solidFill>
                <a:effectLst/>
                <a:latin typeface="等线" panose="02010600030101010101" pitchFamily="2" charset="-122"/>
                <a:ea typeface="等线" panose="02010600030101010101" pitchFamily="2" charset="-122"/>
              </a:rPr>
              <a:t>订购日期</a:t>
            </a:r>
            <a:r>
              <a:rPr lang="en-US" altLang="zh-CN" sz="3600" b="0" i="0" u="none" strike="noStrike" dirty="0">
                <a:solidFill>
                  <a:srgbClr val="000000"/>
                </a:solidFill>
                <a:effectLst/>
                <a:latin typeface="等线" panose="02010600030101010101" pitchFamily="2" charset="-122"/>
                <a:ea typeface="等线" panose="02010600030101010101" pitchFamily="2" charset="-122"/>
              </a:rPr>
              <a:t>]),MONTH([@</a:t>
            </a:r>
            <a:r>
              <a:rPr lang="zh-CN" altLang="en-US" sz="3600" b="0" i="0" u="none" strike="noStrike" dirty="0">
                <a:solidFill>
                  <a:srgbClr val="000000"/>
                </a:solidFill>
                <a:effectLst/>
                <a:latin typeface="等线" panose="02010600030101010101" pitchFamily="2" charset="-122"/>
                <a:ea typeface="等线" panose="02010600030101010101" pitchFamily="2" charset="-122"/>
              </a:rPr>
              <a:t>订购日期</a:t>
            </a:r>
            <a:r>
              <a:rPr lang="en-US" altLang="zh-CN" sz="3600" b="0" i="0" u="none" strike="noStrike" dirty="0">
                <a:solidFill>
                  <a:srgbClr val="000000"/>
                </a:solidFill>
                <a:effectLst/>
                <a:latin typeface="等线" panose="02010600030101010101" pitchFamily="2" charset="-122"/>
                <a:ea typeface="等线" panose="02010600030101010101" pitchFamily="2" charset="-122"/>
              </a:rPr>
              <a:t>]),1)</a:t>
            </a:r>
            <a:br>
              <a:rPr lang="en-US" altLang="zh-CN" sz="3600" b="0" i="0" u="none" strike="noStrike" dirty="0">
                <a:solidFill>
                  <a:srgbClr val="000000"/>
                </a:solidFill>
                <a:effectLst/>
                <a:latin typeface="等线" panose="02010600030101010101" pitchFamily="2" charset="-122"/>
                <a:ea typeface="等线" panose="02010600030101010101" pitchFamily="2" charset="-122"/>
              </a:rPr>
            </a:br>
            <a:r>
              <a:rPr lang="zh-CN" altLang="en-US" sz="3600" b="0" i="0" u="none" strike="noStrike" dirty="0">
                <a:solidFill>
                  <a:srgbClr val="000000"/>
                </a:solidFill>
                <a:effectLst/>
                <a:latin typeface="等线" panose="02010600030101010101" pitchFamily="2" charset="-122"/>
                <a:ea typeface="等线" panose="02010600030101010101" pitchFamily="2" charset="-122"/>
              </a:rPr>
              <a:t>构建日期</a:t>
            </a:r>
            <a:endParaRPr lang="zh-CN" altLang="en-US" sz="7200" dirty="0"/>
          </a:p>
        </p:txBody>
      </p:sp>
      <p:pic>
        <p:nvPicPr>
          <p:cNvPr id="4" name="图片 3">
            <a:extLst>
              <a:ext uri="{FF2B5EF4-FFF2-40B4-BE49-F238E27FC236}">
                <a16:creationId xmlns:a16="http://schemas.microsoft.com/office/drawing/2014/main" id="{98168F68-4FDA-4C44-9390-07A2F6051AE4}"/>
              </a:ext>
            </a:extLst>
          </p:cNvPr>
          <p:cNvPicPr>
            <a:picLocks noChangeAspect="1"/>
          </p:cNvPicPr>
          <p:nvPr/>
        </p:nvPicPr>
        <p:blipFill>
          <a:blip r:embed="rId2"/>
          <a:stretch>
            <a:fillRect/>
          </a:stretch>
        </p:blipFill>
        <p:spPr>
          <a:xfrm>
            <a:off x="1138881" y="1656410"/>
            <a:ext cx="9943070" cy="4645279"/>
          </a:xfrm>
          <a:prstGeom prst="rect">
            <a:avLst/>
          </a:prstGeom>
        </p:spPr>
      </p:pic>
    </p:spTree>
    <p:extLst>
      <p:ext uri="{BB962C8B-B14F-4D97-AF65-F5344CB8AC3E}">
        <p14:creationId xmlns:p14="http://schemas.microsoft.com/office/powerpoint/2010/main" val="1290553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Excel bug</a:t>
            </a:r>
            <a:r>
              <a:rPr lang="zh-CN" altLang="en-US" sz="3600" b="0" i="0" u="none" strike="noStrike" dirty="0">
                <a:solidFill>
                  <a:srgbClr val="000000"/>
                </a:solidFill>
                <a:effectLst/>
                <a:latin typeface="等线" panose="02010600030101010101" pitchFamily="2" charset="-122"/>
                <a:ea typeface="等线" panose="02010600030101010101" pitchFamily="2" charset="-122"/>
              </a:rPr>
              <a:t>：</a:t>
            </a:r>
            <a:r>
              <a:rPr lang="en-US" altLang="zh-CN" sz="3600" b="0" i="0" u="none" strike="noStrike" dirty="0" err="1">
                <a:solidFill>
                  <a:srgbClr val="000000"/>
                </a:solidFill>
                <a:effectLst/>
                <a:latin typeface="等线" panose="02010600030101010101" pitchFamily="2" charset="-122"/>
                <a:ea typeface="等线" panose="02010600030101010101" pitchFamily="2" charset="-122"/>
              </a:rPr>
              <a:t>dsum</a:t>
            </a:r>
            <a:r>
              <a:rPr lang="zh-CN" altLang="en-US" sz="3600" b="0" i="0" u="none" strike="noStrike" dirty="0">
                <a:solidFill>
                  <a:srgbClr val="000000"/>
                </a:solidFill>
                <a:effectLst/>
                <a:latin typeface="等线" panose="02010600030101010101" pitchFamily="2" charset="-122"/>
                <a:ea typeface="等线" panose="02010600030101010101" pitchFamily="2" charset="-122"/>
              </a:rPr>
              <a:t>的条件区匹配字符时只要从左往右字符一致就算是匹配成功</a:t>
            </a:r>
            <a:endParaRPr lang="zh-CN" altLang="en-US" sz="7200" dirty="0"/>
          </a:p>
        </p:txBody>
      </p:sp>
      <p:pic>
        <p:nvPicPr>
          <p:cNvPr id="7" name="图片 6">
            <a:extLst>
              <a:ext uri="{FF2B5EF4-FFF2-40B4-BE49-F238E27FC236}">
                <a16:creationId xmlns:a16="http://schemas.microsoft.com/office/drawing/2014/main" id="{891EC1BE-2BBC-4CD2-9489-62D4AC906E7B}"/>
              </a:ext>
            </a:extLst>
          </p:cNvPr>
          <p:cNvPicPr>
            <a:picLocks noChangeAspect="1"/>
          </p:cNvPicPr>
          <p:nvPr/>
        </p:nvPicPr>
        <p:blipFill>
          <a:blip r:embed="rId2"/>
          <a:stretch>
            <a:fillRect/>
          </a:stretch>
        </p:blipFill>
        <p:spPr>
          <a:xfrm>
            <a:off x="1070140" y="1949979"/>
            <a:ext cx="3889038" cy="3266037"/>
          </a:xfrm>
          <a:prstGeom prst="rect">
            <a:avLst/>
          </a:prstGeom>
        </p:spPr>
      </p:pic>
      <p:sp>
        <p:nvSpPr>
          <p:cNvPr id="8" name="文本框 7">
            <a:extLst>
              <a:ext uri="{FF2B5EF4-FFF2-40B4-BE49-F238E27FC236}">
                <a16:creationId xmlns:a16="http://schemas.microsoft.com/office/drawing/2014/main" id="{F2CB53F5-431D-414E-A6B0-02ACA10F467B}"/>
              </a:ext>
            </a:extLst>
          </p:cNvPr>
          <p:cNvSpPr txBox="1"/>
          <p:nvPr/>
        </p:nvSpPr>
        <p:spPr>
          <a:xfrm>
            <a:off x="741406" y="5601730"/>
            <a:ext cx="4374292" cy="923330"/>
          </a:xfrm>
          <a:prstGeom prst="rect">
            <a:avLst/>
          </a:prstGeom>
          <a:noFill/>
        </p:spPr>
        <p:txBody>
          <a:bodyPr wrap="square" rtlCol="0">
            <a:spAutoFit/>
          </a:bodyPr>
          <a:lstStyle/>
          <a:p>
            <a:r>
              <a:rPr lang="zh-CN" altLang="en-US" dirty="0"/>
              <a:t>直接构建模拟运算表，</a:t>
            </a:r>
            <a:r>
              <a:rPr lang="en-US" altLang="zh-CN" dirty="0"/>
              <a:t>A</a:t>
            </a:r>
            <a:r>
              <a:rPr lang="zh-CN" altLang="en-US" dirty="0"/>
              <a:t>被</a:t>
            </a:r>
            <a:r>
              <a:rPr lang="en-US" altLang="zh-CN" dirty="0" err="1"/>
              <a:t>dcounta</a:t>
            </a:r>
            <a:r>
              <a:rPr lang="zh-CN" altLang="en-US" dirty="0"/>
              <a:t>了</a:t>
            </a:r>
            <a:r>
              <a:rPr lang="en-US" altLang="zh-CN" dirty="0"/>
              <a:t>7</a:t>
            </a:r>
            <a:r>
              <a:rPr lang="zh-CN" altLang="en-US" dirty="0"/>
              <a:t>次，这是错误的因为把</a:t>
            </a:r>
            <a:r>
              <a:rPr lang="en-US" altLang="zh-CN" dirty="0"/>
              <a:t>AB</a:t>
            </a:r>
            <a:r>
              <a:rPr lang="zh-CN" altLang="en-US" dirty="0"/>
              <a:t>、</a:t>
            </a:r>
            <a:r>
              <a:rPr lang="en-US" altLang="zh-CN" dirty="0"/>
              <a:t>ABC</a:t>
            </a:r>
            <a:r>
              <a:rPr lang="zh-CN" altLang="en-US" dirty="0"/>
              <a:t>、</a:t>
            </a:r>
            <a:r>
              <a:rPr lang="en-US" altLang="zh-CN" dirty="0"/>
              <a:t>AC</a:t>
            </a:r>
            <a:r>
              <a:rPr lang="zh-CN" altLang="en-US" dirty="0"/>
              <a:t>都算进去了</a:t>
            </a:r>
          </a:p>
        </p:txBody>
      </p:sp>
      <p:sp>
        <p:nvSpPr>
          <p:cNvPr id="9" name="文本框 8">
            <a:extLst>
              <a:ext uri="{FF2B5EF4-FFF2-40B4-BE49-F238E27FC236}">
                <a16:creationId xmlns:a16="http://schemas.microsoft.com/office/drawing/2014/main" id="{A05465A9-A154-4788-90CA-0F8BBF670A49}"/>
              </a:ext>
            </a:extLst>
          </p:cNvPr>
          <p:cNvSpPr txBox="1"/>
          <p:nvPr/>
        </p:nvSpPr>
        <p:spPr>
          <a:xfrm>
            <a:off x="6281352" y="5469924"/>
            <a:ext cx="5469925" cy="923330"/>
          </a:xfrm>
          <a:prstGeom prst="rect">
            <a:avLst/>
          </a:prstGeom>
          <a:noFill/>
        </p:spPr>
        <p:txBody>
          <a:bodyPr wrap="square" rtlCol="0">
            <a:spAutoFit/>
          </a:bodyPr>
          <a:lstStyle/>
          <a:p>
            <a:r>
              <a:rPr lang="zh-CN" altLang="en-US" dirty="0"/>
              <a:t>解决方案：在条件区的旁边设置一个单元格</a:t>
            </a:r>
            <a:r>
              <a:rPr lang="en-US" altLang="zh-CN" dirty="0"/>
              <a:t>”A”</a:t>
            </a:r>
            <a:r>
              <a:rPr lang="zh-CN" altLang="en-US" dirty="0"/>
              <a:t>放被限制的元素，在条件区内，使用</a:t>
            </a:r>
            <a:r>
              <a:rPr lang="en-US" altLang="zh-CN" dirty="0"/>
              <a:t>”=A”</a:t>
            </a:r>
            <a:r>
              <a:rPr lang="zh-CN" altLang="en-US" dirty="0"/>
              <a:t>，要求严格匹配，模拟运算表列引用的是条件区旁边设置的单元格</a:t>
            </a:r>
            <a:r>
              <a:rPr lang="en-US" altLang="zh-CN" dirty="0"/>
              <a:t>”A”</a:t>
            </a:r>
            <a:endParaRPr lang="zh-CN" altLang="en-US" dirty="0"/>
          </a:p>
        </p:txBody>
      </p:sp>
      <p:pic>
        <p:nvPicPr>
          <p:cNvPr id="13" name="图片 12">
            <a:extLst>
              <a:ext uri="{FF2B5EF4-FFF2-40B4-BE49-F238E27FC236}">
                <a16:creationId xmlns:a16="http://schemas.microsoft.com/office/drawing/2014/main" id="{6A261B38-2808-476E-ADE5-1A2D99FFCA70}"/>
              </a:ext>
            </a:extLst>
          </p:cNvPr>
          <p:cNvPicPr>
            <a:picLocks noChangeAspect="1"/>
          </p:cNvPicPr>
          <p:nvPr/>
        </p:nvPicPr>
        <p:blipFill>
          <a:blip r:embed="rId3"/>
          <a:stretch>
            <a:fillRect/>
          </a:stretch>
        </p:blipFill>
        <p:spPr>
          <a:xfrm>
            <a:off x="5239319" y="1718853"/>
            <a:ext cx="5659340" cy="3509742"/>
          </a:xfrm>
          <a:prstGeom prst="rect">
            <a:avLst/>
          </a:prstGeom>
        </p:spPr>
      </p:pic>
      <p:sp>
        <p:nvSpPr>
          <p:cNvPr id="15" name="文本框 14">
            <a:extLst>
              <a:ext uri="{FF2B5EF4-FFF2-40B4-BE49-F238E27FC236}">
                <a16:creationId xmlns:a16="http://schemas.microsoft.com/office/drawing/2014/main" id="{52250FB0-CCB4-4BC6-947A-23919B43E901}"/>
              </a:ext>
            </a:extLst>
          </p:cNvPr>
          <p:cNvSpPr txBox="1"/>
          <p:nvPr/>
        </p:nvSpPr>
        <p:spPr>
          <a:xfrm>
            <a:off x="6328720" y="6431695"/>
            <a:ext cx="1495167" cy="369332"/>
          </a:xfrm>
          <a:prstGeom prst="rect">
            <a:avLst/>
          </a:prstGeom>
          <a:noFill/>
        </p:spPr>
        <p:txBody>
          <a:bodyPr wrap="square">
            <a:spAutoFit/>
          </a:bodyPr>
          <a:lstStyle/>
          <a:p>
            <a:r>
              <a:rPr lang="zh-CN" altLang="en-US" dirty="0"/>
              <a:t>="="&amp;W31</a:t>
            </a:r>
          </a:p>
        </p:txBody>
      </p:sp>
      <p:sp>
        <p:nvSpPr>
          <p:cNvPr id="16" name="文本框 15">
            <a:extLst>
              <a:ext uri="{FF2B5EF4-FFF2-40B4-BE49-F238E27FC236}">
                <a16:creationId xmlns:a16="http://schemas.microsoft.com/office/drawing/2014/main" id="{33598F34-B49C-448A-9D53-B934CDB59BB7}"/>
              </a:ext>
            </a:extLst>
          </p:cNvPr>
          <p:cNvSpPr txBox="1"/>
          <p:nvPr/>
        </p:nvSpPr>
        <p:spPr>
          <a:xfrm>
            <a:off x="5824151" y="806504"/>
            <a:ext cx="2858530" cy="461665"/>
          </a:xfrm>
          <a:prstGeom prst="rect">
            <a:avLst/>
          </a:prstGeom>
          <a:noFill/>
        </p:spPr>
        <p:txBody>
          <a:bodyPr wrap="square" rtlCol="0">
            <a:spAutoFit/>
          </a:bodyPr>
          <a:lstStyle/>
          <a:p>
            <a:r>
              <a:rPr lang="zh-CN" altLang="en-US" sz="2400" b="1" dirty="0">
                <a:solidFill>
                  <a:srgbClr val="FF0000"/>
                </a:solidFill>
              </a:rPr>
              <a:t>看谢老师的例</a:t>
            </a:r>
            <a:r>
              <a:rPr lang="en-US" altLang="zh-CN" sz="2400" b="1" dirty="0">
                <a:solidFill>
                  <a:srgbClr val="FF0000"/>
                </a:solidFill>
              </a:rPr>
              <a:t>4-5</a:t>
            </a:r>
            <a:endParaRPr lang="zh-CN" altLang="en-US" sz="2400" b="1" dirty="0">
              <a:solidFill>
                <a:srgbClr val="FF0000"/>
              </a:solidFill>
            </a:endParaRPr>
          </a:p>
        </p:txBody>
      </p:sp>
    </p:spTree>
    <p:extLst>
      <p:ext uri="{BB962C8B-B14F-4D97-AF65-F5344CB8AC3E}">
        <p14:creationId xmlns:p14="http://schemas.microsoft.com/office/powerpoint/2010/main" val="2989343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找前</a:t>
            </a:r>
            <a:r>
              <a:rPr lang="en-US" altLang="zh-CN" sz="3600" b="0" i="0" u="none" strike="noStrike" dirty="0">
                <a:solidFill>
                  <a:srgbClr val="000000"/>
                </a:solidFill>
                <a:effectLst/>
                <a:latin typeface="等线" panose="02010600030101010101" pitchFamily="2" charset="-122"/>
                <a:ea typeface="等线" panose="02010600030101010101" pitchFamily="2" charset="-122"/>
              </a:rPr>
              <a:t>10</a:t>
            </a:r>
            <a:r>
              <a:rPr lang="zh-CN" altLang="en-US" sz="3600" b="0" i="0" u="none" strike="noStrike" dirty="0">
                <a:solidFill>
                  <a:srgbClr val="000000"/>
                </a:solidFill>
                <a:effectLst/>
                <a:latin typeface="等线" panose="02010600030101010101" pitchFamily="2" charset="-122"/>
                <a:ea typeface="等线" panose="02010600030101010101" pitchFamily="2" charset="-122"/>
              </a:rPr>
              <a:t>大客户</a:t>
            </a:r>
            <a:endParaRPr lang="zh-CN" altLang="en-US" sz="7200" dirty="0"/>
          </a:p>
        </p:txBody>
      </p:sp>
      <p:sp>
        <p:nvSpPr>
          <p:cNvPr id="10" name="文本框 9">
            <a:extLst>
              <a:ext uri="{FF2B5EF4-FFF2-40B4-BE49-F238E27FC236}">
                <a16:creationId xmlns:a16="http://schemas.microsoft.com/office/drawing/2014/main" id="{135EA26E-DADA-4CBE-83FE-F5EB82ACA21D}"/>
              </a:ext>
            </a:extLst>
          </p:cNvPr>
          <p:cNvSpPr txBox="1"/>
          <p:nvPr/>
        </p:nvSpPr>
        <p:spPr>
          <a:xfrm>
            <a:off x="601901" y="1469286"/>
            <a:ext cx="7325499" cy="523220"/>
          </a:xfrm>
          <a:prstGeom prst="rect">
            <a:avLst/>
          </a:prstGeom>
          <a:noFill/>
        </p:spPr>
        <p:txBody>
          <a:bodyPr wrap="square">
            <a:spAutoFit/>
          </a:bodyPr>
          <a:lstStyle/>
          <a:p>
            <a:r>
              <a:rPr lang="zh-CN" altLang="en-US" sz="2800" dirty="0"/>
              <a:t>large(数据源，名次) 找到排名前</a:t>
            </a:r>
            <a:r>
              <a:rPr lang="en-US" altLang="zh-CN" sz="2800" dirty="0"/>
              <a:t>10</a:t>
            </a:r>
            <a:r>
              <a:rPr lang="zh-CN" altLang="en-US" sz="2800" dirty="0"/>
              <a:t>的销售额</a:t>
            </a:r>
          </a:p>
        </p:txBody>
      </p:sp>
      <p:pic>
        <p:nvPicPr>
          <p:cNvPr id="5" name="图片 4">
            <a:extLst>
              <a:ext uri="{FF2B5EF4-FFF2-40B4-BE49-F238E27FC236}">
                <a16:creationId xmlns:a16="http://schemas.microsoft.com/office/drawing/2014/main" id="{8B7A5CC3-D729-420A-ABBD-EC1B6EBEE8EB}"/>
              </a:ext>
            </a:extLst>
          </p:cNvPr>
          <p:cNvPicPr>
            <a:picLocks noChangeAspect="1"/>
          </p:cNvPicPr>
          <p:nvPr/>
        </p:nvPicPr>
        <p:blipFill>
          <a:blip r:embed="rId2"/>
          <a:stretch>
            <a:fillRect/>
          </a:stretch>
        </p:blipFill>
        <p:spPr>
          <a:xfrm>
            <a:off x="601901" y="2418485"/>
            <a:ext cx="10988197" cy="3578659"/>
          </a:xfrm>
          <a:prstGeom prst="rect">
            <a:avLst/>
          </a:prstGeom>
        </p:spPr>
      </p:pic>
      <p:graphicFrame>
        <p:nvGraphicFramePr>
          <p:cNvPr id="6" name="表格 5">
            <a:extLst>
              <a:ext uri="{FF2B5EF4-FFF2-40B4-BE49-F238E27FC236}">
                <a16:creationId xmlns:a16="http://schemas.microsoft.com/office/drawing/2014/main" id="{FF386607-BD47-43E6-9C90-17D8AC949369}"/>
              </a:ext>
            </a:extLst>
          </p:cNvPr>
          <p:cNvGraphicFramePr>
            <a:graphicFrameLocks noGrp="1"/>
          </p:cNvGraphicFramePr>
          <p:nvPr>
            <p:extLst>
              <p:ext uri="{D42A27DB-BD31-4B8C-83A1-F6EECF244321}">
                <p14:modId xmlns:p14="http://schemas.microsoft.com/office/powerpoint/2010/main" val="3698083516"/>
              </p:ext>
            </p:extLst>
          </p:nvPr>
        </p:nvGraphicFramePr>
        <p:xfrm>
          <a:off x="8045794" y="663726"/>
          <a:ext cx="3701364" cy="1280160"/>
        </p:xfrm>
        <a:graphic>
          <a:graphicData uri="http://schemas.openxmlformats.org/drawingml/2006/table">
            <a:tbl>
              <a:tblPr>
                <a:tableStyleId>{5C22544A-7EE6-4342-B048-85BDC9FD1C3A}</a:tableStyleId>
              </a:tblPr>
              <a:tblGrid>
                <a:gridCol w="3701364">
                  <a:extLst>
                    <a:ext uri="{9D8B030D-6E8A-4147-A177-3AD203B41FA5}">
                      <a16:colId xmlns:a16="http://schemas.microsoft.com/office/drawing/2014/main" val="2670894341"/>
                    </a:ext>
                  </a:extLst>
                </a:gridCol>
              </a:tblGrid>
              <a:tr h="176530">
                <a:tc>
                  <a:txBody>
                    <a:bodyPr/>
                    <a:lstStyle/>
                    <a:p>
                      <a:pPr algn="l" fontAlgn="b"/>
                      <a:r>
                        <a:rPr lang="en-US" sz="2800" u="none" strike="noStrike">
                          <a:effectLst/>
                        </a:rPr>
                        <a:t>large(</a:t>
                      </a:r>
                      <a:r>
                        <a:rPr lang="zh-CN" altLang="en-US" sz="2800" u="none" strike="noStrike">
                          <a:effectLst/>
                        </a:rPr>
                        <a:t>数据源，名次</a:t>
                      </a:r>
                      <a:r>
                        <a:rPr lang="en-US" altLang="zh-CN" sz="2800" u="none" strike="noStrike">
                          <a:effectLst/>
                        </a:rPr>
                        <a:t>)</a:t>
                      </a:r>
                      <a:endParaRPr lang="en-US" altLang="zh-CN" sz="2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857707724"/>
                  </a:ext>
                </a:extLst>
              </a:tr>
              <a:tr h="180975">
                <a:tc>
                  <a:txBody>
                    <a:bodyPr/>
                    <a:lstStyle/>
                    <a:p>
                      <a:pPr algn="l" fontAlgn="b"/>
                      <a:r>
                        <a:rPr lang="en-US" sz="2800" u="none" strike="noStrike">
                          <a:effectLst/>
                        </a:rPr>
                        <a:t>small(</a:t>
                      </a:r>
                      <a:r>
                        <a:rPr lang="zh-CN" altLang="en-US" sz="2800" u="none" strike="noStrike">
                          <a:effectLst/>
                        </a:rPr>
                        <a:t>数据源，名次</a:t>
                      </a:r>
                      <a:r>
                        <a:rPr lang="en-US" altLang="zh-CN" sz="2800" u="none" strike="noStrike">
                          <a:effectLst/>
                        </a:rPr>
                        <a:t>)</a:t>
                      </a:r>
                      <a:endParaRPr lang="en-US" altLang="zh-CN" sz="2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741645031"/>
                  </a:ext>
                </a:extLst>
              </a:tr>
              <a:tr h="176530">
                <a:tc>
                  <a:txBody>
                    <a:bodyPr/>
                    <a:lstStyle/>
                    <a:p>
                      <a:pPr algn="l" fontAlgn="b"/>
                      <a:r>
                        <a:rPr lang="en-US" sz="2800" u="none" strike="noStrike" dirty="0">
                          <a:effectLst/>
                        </a:rPr>
                        <a:t>rank(</a:t>
                      </a:r>
                      <a:r>
                        <a:rPr lang="zh-CN" altLang="en-US" sz="2800" u="none" strike="noStrike" dirty="0">
                          <a:effectLst/>
                        </a:rPr>
                        <a:t>数据，数据源</a:t>
                      </a:r>
                      <a:r>
                        <a:rPr lang="en-US" altLang="zh-CN" sz="2800" u="none" strike="noStrike" dirty="0">
                          <a:effectLst/>
                        </a:rPr>
                        <a:t>)</a:t>
                      </a:r>
                      <a:endParaRPr lang="en-US" altLang="zh-CN" sz="28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650376968"/>
                  </a:ext>
                </a:extLst>
              </a:tr>
            </a:tbl>
          </a:graphicData>
        </a:graphic>
      </p:graphicFrame>
    </p:spTree>
    <p:extLst>
      <p:ext uri="{BB962C8B-B14F-4D97-AF65-F5344CB8AC3E}">
        <p14:creationId xmlns:p14="http://schemas.microsoft.com/office/powerpoint/2010/main" val="2533328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找前</a:t>
            </a:r>
            <a:r>
              <a:rPr lang="en-US" altLang="zh-CN" sz="3600" b="0" i="0" u="none" strike="noStrike" dirty="0">
                <a:solidFill>
                  <a:srgbClr val="000000"/>
                </a:solidFill>
                <a:effectLst/>
                <a:latin typeface="等线" panose="02010600030101010101" pitchFamily="2" charset="-122"/>
                <a:ea typeface="等线" panose="02010600030101010101" pitchFamily="2" charset="-122"/>
              </a:rPr>
              <a:t>10</a:t>
            </a:r>
            <a:r>
              <a:rPr lang="zh-CN" altLang="en-US" sz="3600" b="0" i="0" u="none" strike="noStrike" dirty="0">
                <a:solidFill>
                  <a:srgbClr val="000000"/>
                </a:solidFill>
                <a:effectLst/>
                <a:latin typeface="等线" panose="02010600030101010101" pitchFamily="2" charset="-122"/>
                <a:ea typeface="等线" panose="02010600030101010101" pitchFamily="2" charset="-122"/>
              </a:rPr>
              <a:t>大客户</a:t>
            </a:r>
            <a:endParaRPr lang="zh-CN" altLang="en-US" sz="7200" dirty="0"/>
          </a:p>
        </p:txBody>
      </p:sp>
      <p:sp>
        <p:nvSpPr>
          <p:cNvPr id="10" name="文本框 9">
            <a:extLst>
              <a:ext uri="{FF2B5EF4-FFF2-40B4-BE49-F238E27FC236}">
                <a16:creationId xmlns:a16="http://schemas.microsoft.com/office/drawing/2014/main" id="{135EA26E-DADA-4CBE-83FE-F5EB82ACA21D}"/>
              </a:ext>
            </a:extLst>
          </p:cNvPr>
          <p:cNvSpPr txBox="1"/>
          <p:nvPr/>
        </p:nvSpPr>
        <p:spPr>
          <a:xfrm>
            <a:off x="601901" y="1279815"/>
            <a:ext cx="8665667" cy="954107"/>
          </a:xfrm>
          <a:prstGeom prst="rect">
            <a:avLst/>
          </a:prstGeom>
          <a:noFill/>
        </p:spPr>
        <p:txBody>
          <a:bodyPr wrap="square">
            <a:spAutoFit/>
          </a:bodyPr>
          <a:lstStyle/>
          <a:p>
            <a:r>
              <a:rPr lang="en-US" altLang="zh-CN" sz="2800" dirty="0" err="1"/>
              <a:t>xlookup</a:t>
            </a:r>
            <a:r>
              <a:rPr lang="en-US" altLang="zh-CN" sz="2800" dirty="0"/>
              <a:t>(</a:t>
            </a:r>
            <a:r>
              <a:rPr lang="zh-CN" altLang="en-US" sz="2800" dirty="0"/>
              <a:t>要匹配的数据，来源列表，返回列表</a:t>
            </a:r>
            <a:r>
              <a:rPr lang="en-US" altLang="zh-CN" sz="2800" dirty="0"/>
              <a:t>)</a:t>
            </a:r>
          </a:p>
          <a:p>
            <a:r>
              <a:rPr lang="zh-CN" altLang="en-US" sz="2800" dirty="0"/>
              <a:t>找到销售额对应的客户</a:t>
            </a:r>
          </a:p>
        </p:txBody>
      </p:sp>
      <p:pic>
        <p:nvPicPr>
          <p:cNvPr id="4" name="图片 3">
            <a:extLst>
              <a:ext uri="{FF2B5EF4-FFF2-40B4-BE49-F238E27FC236}">
                <a16:creationId xmlns:a16="http://schemas.microsoft.com/office/drawing/2014/main" id="{E2A1C44F-1A37-4EAE-9704-2B0EBD8F39D6}"/>
              </a:ext>
            </a:extLst>
          </p:cNvPr>
          <p:cNvPicPr>
            <a:picLocks noChangeAspect="1"/>
          </p:cNvPicPr>
          <p:nvPr/>
        </p:nvPicPr>
        <p:blipFill>
          <a:blip r:embed="rId2"/>
          <a:stretch>
            <a:fillRect/>
          </a:stretch>
        </p:blipFill>
        <p:spPr>
          <a:xfrm>
            <a:off x="2596503" y="2403083"/>
            <a:ext cx="6834237" cy="3495701"/>
          </a:xfrm>
          <a:prstGeom prst="rect">
            <a:avLst/>
          </a:prstGeom>
        </p:spPr>
      </p:pic>
      <p:graphicFrame>
        <p:nvGraphicFramePr>
          <p:cNvPr id="6" name="表格 5">
            <a:extLst>
              <a:ext uri="{FF2B5EF4-FFF2-40B4-BE49-F238E27FC236}">
                <a16:creationId xmlns:a16="http://schemas.microsoft.com/office/drawing/2014/main" id="{3368E9B0-8C33-469B-B32E-17BB175EA975}"/>
              </a:ext>
            </a:extLst>
          </p:cNvPr>
          <p:cNvGraphicFramePr>
            <a:graphicFrameLocks noGrp="1"/>
          </p:cNvGraphicFramePr>
          <p:nvPr>
            <p:extLst>
              <p:ext uri="{D42A27DB-BD31-4B8C-83A1-F6EECF244321}">
                <p14:modId xmlns:p14="http://schemas.microsoft.com/office/powerpoint/2010/main" val="3206625483"/>
              </p:ext>
            </p:extLst>
          </p:nvPr>
        </p:nvGraphicFramePr>
        <p:xfrm>
          <a:off x="8130231" y="547816"/>
          <a:ext cx="3495418" cy="822960"/>
        </p:xfrm>
        <a:graphic>
          <a:graphicData uri="http://schemas.openxmlformats.org/drawingml/2006/table">
            <a:tbl>
              <a:tblPr>
                <a:tableStyleId>{5C22544A-7EE6-4342-B048-85BDC9FD1C3A}</a:tableStyleId>
              </a:tblPr>
              <a:tblGrid>
                <a:gridCol w="3495418">
                  <a:extLst>
                    <a:ext uri="{9D8B030D-6E8A-4147-A177-3AD203B41FA5}">
                      <a16:colId xmlns:a16="http://schemas.microsoft.com/office/drawing/2014/main" val="1013231017"/>
                    </a:ext>
                  </a:extLst>
                </a:gridCol>
              </a:tblGrid>
              <a:tr h="180975">
                <a:tc>
                  <a:txBody>
                    <a:bodyPr/>
                    <a:lstStyle/>
                    <a:p>
                      <a:pPr algn="l" fontAlgn="b"/>
                      <a:r>
                        <a:rPr lang="en-US" altLang="zh-CN" sz="1800" u="none" strike="noStrike">
                          <a:effectLst/>
                        </a:rPr>
                        <a:t>round(</a:t>
                      </a:r>
                      <a:r>
                        <a:rPr lang="zh-CN" altLang="en-US" sz="1800" u="none" strike="noStrike">
                          <a:effectLst/>
                        </a:rPr>
                        <a:t>数据，小数点位数</a:t>
                      </a:r>
                      <a:r>
                        <a:rPr lang="en-US" altLang="zh-CN" sz="1800" u="none" strike="noStrike">
                          <a:effectLst/>
                        </a:rPr>
                        <a:t>)</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099416100"/>
                  </a:ext>
                </a:extLst>
              </a:tr>
              <a:tr h="176530">
                <a:tc>
                  <a:txBody>
                    <a:bodyPr/>
                    <a:lstStyle/>
                    <a:p>
                      <a:pPr algn="l" fontAlgn="b"/>
                      <a:r>
                        <a:rPr lang="en-US" altLang="zh-CN" sz="1800" u="none" strike="noStrike">
                          <a:effectLst/>
                        </a:rPr>
                        <a:t>roundup(</a:t>
                      </a:r>
                      <a:r>
                        <a:rPr lang="zh-CN" altLang="en-US" sz="1800" u="none" strike="noStrike">
                          <a:effectLst/>
                        </a:rPr>
                        <a:t>数据，小数点位数</a:t>
                      </a:r>
                      <a:r>
                        <a:rPr lang="en-US" altLang="zh-CN" sz="1800" u="none" strike="noStrike">
                          <a:effectLst/>
                        </a:rPr>
                        <a:t>)</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3254519910"/>
                  </a:ext>
                </a:extLst>
              </a:tr>
              <a:tr h="176530">
                <a:tc>
                  <a:txBody>
                    <a:bodyPr/>
                    <a:lstStyle/>
                    <a:p>
                      <a:pPr algn="l" fontAlgn="b"/>
                      <a:r>
                        <a:rPr lang="en-US" sz="1800" u="none" strike="noStrike" dirty="0" err="1">
                          <a:effectLst/>
                        </a:rPr>
                        <a:t>rounddown</a:t>
                      </a:r>
                      <a:r>
                        <a:rPr lang="en-US" sz="1800" u="none" strike="noStrike" dirty="0">
                          <a:effectLst/>
                        </a:rPr>
                        <a:t>(</a:t>
                      </a:r>
                      <a:r>
                        <a:rPr lang="zh-CN" altLang="en-US" sz="1800" u="none" strike="noStrike" dirty="0">
                          <a:effectLst/>
                        </a:rPr>
                        <a:t>数据，小数点位数</a:t>
                      </a:r>
                      <a:r>
                        <a:rPr lang="en-US" altLang="zh-CN" sz="1800" u="none" strike="noStrike" dirty="0">
                          <a:effectLst/>
                        </a:rPr>
                        <a:t>)</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401667655"/>
                  </a:ext>
                </a:extLst>
              </a:tr>
            </a:tbl>
          </a:graphicData>
        </a:graphic>
      </p:graphicFrame>
      <p:sp>
        <p:nvSpPr>
          <p:cNvPr id="9" name="文本框 8">
            <a:extLst>
              <a:ext uri="{FF2B5EF4-FFF2-40B4-BE49-F238E27FC236}">
                <a16:creationId xmlns:a16="http://schemas.microsoft.com/office/drawing/2014/main" id="{7107794C-AFF9-4987-B99E-B188C85CF4FE}"/>
              </a:ext>
            </a:extLst>
          </p:cNvPr>
          <p:cNvSpPr txBox="1"/>
          <p:nvPr/>
        </p:nvSpPr>
        <p:spPr>
          <a:xfrm>
            <a:off x="602170" y="6067946"/>
            <a:ext cx="6096000" cy="646331"/>
          </a:xfrm>
          <a:prstGeom prst="rect">
            <a:avLst/>
          </a:prstGeom>
          <a:noFill/>
        </p:spPr>
        <p:txBody>
          <a:bodyPr wrap="square">
            <a:spAutoFit/>
          </a:bodyPr>
          <a:lstStyle/>
          <a:p>
            <a:r>
              <a:rPr lang="en-US" altLang="zh-CN" sz="1800" dirty="0"/>
              <a:t>=INDEX($F$6:$F$94,MATCH(L6,$G$6:$G$94,0))</a:t>
            </a:r>
          </a:p>
          <a:p>
            <a:r>
              <a:rPr lang="en-US" altLang="zh-CN" sz="1800" dirty="0"/>
              <a:t>=XLOOKUP(L6,$G$6:$G$94,$F$6:$F$94)</a:t>
            </a:r>
            <a:endParaRPr lang="zh-CN" altLang="en-US" sz="1800" dirty="0"/>
          </a:p>
        </p:txBody>
      </p:sp>
    </p:spTree>
    <p:extLst>
      <p:ext uri="{BB962C8B-B14F-4D97-AF65-F5344CB8AC3E}">
        <p14:creationId xmlns:p14="http://schemas.microsoft.com/office/powerpoint/2010/main" val="102446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0</a:t>
            </a:r>
            <a:endParaRPr lang="zh-CN" altLang="en-US" sz="7200" dirty="0"/>
          </a:p>
        </p:txBody>
      </p:sp>
      <p:pic>
        <p:nvPicPr>
          <p:cNvPr id="11" name="图片 10">
            <a:extLst>
              <a:ext uri="{FF2B5EF4-FFF2-40B4-BE49-F238E27FC236}">
                <a16:creationId xmlns:a16="http://schemas.microsoft.com/office/drawing/2014/main" id="{86781377-ADB1-49CA-A15E-0DA77A3F71DB}"/>
              </a:ext>
            </a:extLst>
          </p:cNvPr>
          <p:cNvPicPr>
            <a:picLocks noChangeAspect="1"/>
          </p:cNvPicPr>
          <p:nvPr/>
        </p:nvPicPr>
        <p:blipFill>
          <a:blip r:embed="rId2"/>
          <a:stretch>
            <a:fillRect/>
          </a:stretch>
        </p:blipFill>
        <p:spPr>
          <a:xfrm>
            <a:off x="3454208" y="2156626"/>
            <a:ext cx="5448340" cy="3895753"/>
          </a:xfrm>
          <a:prstGeom prst="rect">
            <a:avLst/>
          </a:prstGeom>
        </p:spPr>
      </p:pic>
    </p:spTree>
    <p:extLst>
      <p:ext uri="{BB962C8B-B14F-4D97-AF65-F5344CB8AC3E}">
        <p14:creationId xmlns:p14="http://schemas.microsoft.com/office/powerpoint/2010/main" val="353389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1</a:t>
            </a:r>
            <a:endParaRPr lang="zh-CN" altLang="en-US" sz="7200" dirty="0"/>
          </a:p>
        </p:txBody>
      </p:sp>
      <p:pic>
        <p:nvPicPr>
          <p:cNvPr id="5" name="图片 4">
            <a:extLst>
              <a:ext uri="{FF2B5EF4-FFF2-40B4-BE49-F238E27FC236}">
                <a16:creationId xmlns:a16="http://schemas.microsoft.com/office/drawing/2014/main" id="{883DA166-ECB4-4407-9B2A-B22281998766}"/>
              </a:ext>
            </a:extLst>
          </p:cNvPr>
          <p:cNvPicPr>
            <a:picLocks noChangeAspect="1"/>
          </p:cNvPicPr>
          <p:nvPr/>
        </p:nvPicPr>
        <p:blipFill>
          <a:blip r:embed="rId2"/>
          <a:stretch>
            <a:fillRect/>
          </a:stretch>
        </p:blipFill>
        <p:spPr>
          <a:xfrm>
            <a:off x="3972203" y="1268626"/>
            <a:ext cx="7618212" cy="5240383"/>
          </a:xfrm>
          <a:prstGeom prst="rect">
            <a:avLst/>
          </a:prstGeom>
        </p:spPr>
      </p:pic>
      <p:sp>
        <p:nvSpPr>
          <p:cNvPr id="3" name="文本框 2">
            <a:extLst>
              <a:ext uri="{FF2B5EF4-FFF2-40B4-BE49-F238E27FC236}">
                <a16:creationId xmlns:a16="http://schemas.microsoft.com/office/drawing/2014/main" id="{0BD60E86-18FF-496F-8961-F09BA63AA86E}"/>
              </a:ext>
            </a:extLst>
          </p:cNvPr>
          <p:cNvSpPr txBox="1"/>
          <p:nvPr/>
        </p:nvSpPr>
        <p:spPr>
          <a:xfrm>
            <a:off x="420130" y="1804086"/>
            <a:ext cx="3097427" cy="1200329"/>
          </a:xfrm>
          <a:prstGeom prst="rect">
            <a:avLst/>
          </a:prstGeom>
          <a:noFill/>
        </p:spPr>
        <p:txBody>
          <a:bodyPr wrap="square" rtlCol="0">
            <a:spAutoFit/>
          </a:bodyPr>
          <a:lstStyle/>
          <a:p>
            <a:r>
              <a:rPr lang="zh-CN" altLang="en-US" dirty="0"/>
              <a:t>对于被选中的月份显示其数值，对于未选中的显示为</a:t>
            </a:r>
            <a:r>
              <a:rPr lang="en-US" altLang="zh-CN" dirty="0"/>
              <a:t>0</a:t>
            </a:r>
          </a:p>
          <a:p>
            <a:endParaRPr lang="en-US" altLang="zh-CN" dirty="0"/>
          </a:p>
          <a:p>
            <a:r>
              <a:rPr lang="zh-CN" altLang="en-US" dirty="0"/>
              <a:t>之后绘制组合图</a:t>
            </a:r>
          </a:p>
        </p:txBody>
      </p:sp>
    </p:spTree>
    <p:extLst>
      <p:ext uri="{BB962C8B-B14F-4D97-AF65-F5344CB8AC3E}">
        <p14:creationId xmlns:p14="http://schemas.microsoft.com/office/powerpoint/2010/main" val="31133528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2</a:t>
            </a:r>
            <a:endParaRPr lang="zh-CN" altLang="en-US" sz="7200" dirty="0"/>
          </a:p>
        </p:txBody>
      </p:sp>
      <p:sp>
        <p:nvSpPr>
          <p:cNvPr id="3" name="文本框 2">
            <a:extLst>
              <a:ext uri="{FF2B5EF4-FFF2-40B4-BE49-F238E27FC236}">
                <a16:creationId xmlns:a16="http://schemas.microsoft.com/office/drawing/2014/main" id="{0BD60E86-18FF-496F-8961-F09BA63AA86E}"/>
              </a:ext>
            </a:extLst>
          </p:cNvPr>
          <p:cNvSpPr txBox="1"/>
          <p:nvPr/>
        </p:nvSpPr>
        <p:spPr>
          <a:xfrm>
            <a:off x="420130" y="1804086"/>
            <a:ext cx="3097427" cy="1200329"/>
          </a:xfrm>
          <a:prstGeom prst="rect">
            <a:avLst/>
          </a:prstGeom>
          <a:noFill/>
        </p:spPr>
        <p:txBody>
          <a:bodyPr wrap="square" rtlCol="0">
            <a:spAutoFit/>
          </a:bodyPr>
          <a:lstStyle/>
          <a:p>
            <a:r>
              <a:rPr lang="zh-CN" altLang="en-US" dirty="0"/>
              <a:t>对于被选中的月份显示其数值，对于未选中的显示为</a:t>
            </a:r>
            <a:r>
              <a:rPr lang="en-US" altLang="zh-CN" dirty="0"/>
              <a:t>0</a:t>
            </a:r>
          </a:p>
          <a:p>
            <a:endParaRPr lang="en-US" altLang="zh-CN" dirty="0"/>
          </a:p>
          <a:p>
            <a:r>
              <a:rPr lang="zh-CN" altLang="en-US" dirty="0"/>
              <a:t>之后绘制组合图</a:t>
            </a:r>
          </a:p>
        </p:txBody>
      </p:sp>
      <p:pic>
        <p:nvPicPr>
          <p:cNvPr id="6" name="图片 5">
            <a:extLst>
              <a:ext uri="{FF2B5EF4-FFF2-40B4-BE49-F238E27FC236}">
                <a16:creationId xmlns:a16="http://schemas.microsoft.com/office/drawing/2014/main" id="{251D4D0B-2884-4D11-BDA0-C9F7CC9C0489}"/>
              </a:ext>
            </a:extLst>
          </p:cNvPr>
          <p:cNvPicPr>
            <a:picLocks noChangeAspect="1"/>
          </p:cNvPicPr>
          <p:nvPr/>
        </p:nvPicPr>
        <p:blipFill>
          <a:blip r:embed="rId2"/>
          <a:stretch>
            <a:fillRect/>
          </a:stretch>
        </p:blipFill>
        <p:spPr>
          <a:xfrm>
            <a:off x="3912973" y="1189838"/>
            <a:ext cx="7452832" cy="5163376"/>
          </a:xfrm>
          <a:prstGeom prst="rect">
            <a:avLst/>
          </a:prstGeom>
        </p:spPr>
      </p:pic>
      <p:sp>
        <p:nvSpPr>
          <p:cNvPr id="8" name="文本框 7">
            <a:extLst>
              <a:ext uri="{FF2B5EF4-FFF2-40B4-BE49-F238E27FC236}">
                <a16:creationId xmlns:a16="http://schemas.microsoft.com/office/drawing/2014/main" id="{C70A19D3-0029-4208-A961-3869A3B85837}"/>
              </a:ext>
            </a:extLst>
          </p:cNvPr>
          <p:cNvSpPr txBox="1"/>
          <p:nvPr/>
        </p:nvSpPr>
        <p:spPr>
          <a:xfrm>
            <a:off x="420130" y="3476358"/>
            <a:ext cx="1855573" cy="923330"/>
          </a:xfrm>
          <a:prstGeom prst="rect">
            <a:avLst/>
          </a:prstGeom>
          <a:noFill/>
        </p:spPr>
        <p:txBody>
          <a:bodyPr wrap="square" rtlCol="0">
            <a:spAutoFit/>
          </a:bodyPr>
          <a:lstStyle/>
          <a:p>
            <a:r>
              <a:rPr lang="zh-CN" altLang="en-US" dirty="0"/>
              <a:t>后面回归分析标注最优值的思路也一致</a:t>
            </a:r>
          </a:p>
        </p:txBody>
      </p:sp>
    </p:spTree>
    <p:extLst>
      <p:ext uri="{BB962C8B-B14F-4D97-AF65-F5344CB8AC3E}">
        <p14:creationId xmlns:p14="http://schemas.microsoft.com/office/powerpoint/2010/main" val="3785437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饼图、气泡图显示引导线</a:t>
            </a:r>
            <a:endParaRPr lang="zh-CN" altLang="en-US" sz="7200" dirty="0"/>
          </a:p>
        </p:txBody>
      </p:sp>
      <p:pic>
        <p:nvPicPr>
          <p:cNvPr id="7" name="图片 6">
            <a:extLst>
              <a:ext uri="{FF2B5EF4-FFF2-40B4-BE49-F238E27FC236}">
                <a16:creationId xmlns:a16="http://schemas.microsoft.com/office/drawing/2014/main" id="{07D90C2E-D617-4BC2-810A-952A34595866}"/>
              </a:ext>
            </a:extLst>
          </p:cNvPr>
          <p:cNvPicPr>
            <a:picLocks noChangeAspect="1"/>
          </p:cNvPicPr>
          <p:nvPr/>
        </p:nvPicPr>
        <p:blipFill>
          <a:blip r:embed="rId2"/>
          <a:stretch>
            <a:fillRect/>
          </a:stretch>
        </p:blipFill>
        <p:spPr>
          <a:xfrm>
            <a:off x="705365" y="1530951"/>
            <a:ext cx="10781270" cy="4689852"/>
          </a:xfrm>
          <a:prstGeom prst="rect">
            <a:avLst/>
          </a:prstGeom>
        </p:spPr>
      </p:pic>
    </p:spTree>
    <p:extLst>
      <p:ext uri="{BB962C8B-B14F-4D97-AF65-F5344CB8AC3E}">
        <p14:creationId xmlns:p14="http://schemas.microsoft.com/office/powerpoint/2010/main" val="3829744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气泡图可以为数据标签添加单元格中的值</a:t>
            </a:r>
            <a:endParaRPr lang="zh-CN" altLang="en-US" sz="7200" dirty="0"/>
          </a:p>
        </p:txBody>
      </p:sp>
      <p:pic>
        <p:nvPicPr>
          <p:cNvPr id="5" name="图片 4">
            <a:extLst>
              <a:ext uri="{FF2B5EF4-FFF2-40B4-BE49-F238E27FC236}">
                <a16:creationId xmlns:a16="http://schemas.microsoft.com/office/drawing/2014/main" id="{1E29DAE5-90E0-4932-B22C-E60CADDC9B70}"/>
              </a:ext>
            </a:extLst>
          </p:cNvPr>
          <p:cNvPicPr>
            <a:picLocks noChangeAspect="1"/>
          </p:cNvPicPr>
          <p:nvPr/>
        </p:nvPicPr>
        <p:blipFill>
          <a:blip r:embed="rId2"/>
          <a:stretch>
            <a:fillRect/>
          </a:stretch>
        </p:blipFill>
        <p:spPr>
          <a:xfrm>
            <a:off x="566351" y="1469286"/>
            <a:ext cx="11055178" cy="4809002"/>
          </a:xfrm>
          <a:prstGeom prst="rect">
            <a:avLst/>
          </a:prstGeom>
        </p:spPr>
      </p:pic>
      <p:pic>
        <p:nvPicPr>
          <p:cNvPr id="4" name="图片 3">
            <a:extLst>
              <a:ext uri="{FF2B5EF4-FFF2-40B4-BE49-F238E27FC236}">
                <a16:creationId xmlns:a16="http://schemas.microsoft.com/office/drawing/2014/main" id="{7CBD7E49-9B70-4C10-AF3E-7210D3E73DB1}"/>
              </a:ext>
            </a:extLst>
          </p:cNvPr>
          <p:cNvPicPr>
            <a:picLocks noChangeAspect="1"/>
          </p:cNvPicPr>
          <p:nvPr/>
        </p:nvPicPr>
        <p:blipFill>
          <a:blip r:embed="rId3"/>
          <a:stretch>
            <a:fillRect/>
          </a:stretch>
        </p:blipFill>
        <p:spPr>
          <a:xfrm>
            <a:off x="4910129" y="2640800"/>
            <a:ext cx="2371742" cy="1576399"/>
          </a:xfrm>
          <a:prstGeom prst="rect">
            <a:avLst/>
          </a:prstGeom>
        </p:spPr>
      </p:pic>
    </p:spTree>
    <p:extLst>
      <p:ext uri="{BB962C8B-B14F-4D97-AF65-F5344CB8AC3E}">
        <p14:creationId xmlns:p14="http://schemas.microsoft.com/office/powerpoint/2010/main" val="35198445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298919"/>
            <a:ext cx="10515600" cy="1325563"/>
          </a:xfrm>
        </p:spPr>
        <p:txBody>
          <a:bodyPr>
            <a:normAutofit/>
          </a:bodyPr>
          <a:lstStyle/>
          <a:p>
            <a:r>
              <a:rPr lang="en-US" altLang="zh-CN" sz="3600" dirty="0">
                <a:solidFill>
                  <a:srgbClr val="000000"/>
                </a:solidFill>
                <a:latin typeface="等线" panose="02010600030101010101" pitchFamily="2" charset="-122"/>
                <a:ea typeface="等线" panose="02010600030101010101" pitchFamily="2" charset="-122"/>
              </a:rPr>
              <a:t>Count</a:t>
            </a:r>
            <a:r>
              <a:rPr lang="zh-CN" altLang="en-US" sz="3600" dirty="0">
                <a:solidFill>
                  <a:srgbClr val="000000"/>
                </a:solidFill>
                <a:latin typeface="等线" panose="02010600030101010101" pitchFamily="2" charset="-122"/>
                <a:ea typeface="等线" panose="02010600030101010101" pitchFamily="2" charset="-122"/>
              </a:rPr>
              <a:t>只统计有数值的单元格数目</a:t>
            </a:r>
            <a:br>
              <a:rPr lang="en-US" altLang="zh-CN" sz="3600" dirty="0">
                <a:solidFill>
                  <a:srgbClr val="000000"/>
                </a:solidFill>
                <a:latin typeface="等线" panose="02010600030101010101" pitchFamily="2" charset="-122"/>
                <a:ea typeface="等线" panose="02010600030101010101" pitchFamily="2" charset="-122"/>
              </a:rPr>
            </a:br>
            <a:r>
              <a:rPr lang="en-US" altLang="zh-CN" sz="3600" dirty="0" err="1">
                <a:solidFill>
                  <a:srgbClr val="000000"/>
                </a:solidFill>
                <a:latin typeface="等线" panose="02010600030101010101" pitchFamily="2" charset="-122"/>
                <a:ea typeface="等线" panose="02010600030101010101" pitchFamily="2" charset="-122"/>
              </a:rPr>
              <a:t>Counta</a:t>
            </a:r>
            <a:r>
              <a:rPr lang="zh-CN" altLang="en-US" sz="3600" dirty="0">
                <a:solidFill>
                  <a:srgbClr val="000000"/>
                </a:solidFill>
                <a:latin typeface="等线" panose="02010600030101010101" pitchFamily="2" charset="-122"/>
                <a:ea typeface="等线" panose="02010600030101010101" pitchFamily="2" charset="-122"/>
              </a:rPr>
              <a:t>统计所有被编辑过的单元格数目</a:t>
            </a:r>
            <a:endParaRPr lang="zh-CN" altLang="en-US" sz="7200" dirty="0"/>
          </a:p>
        </p:txBody>
      </p:sp>
      <p:pic>
        <p:nvPicPr>
          <p:cNvPr id="4" name="图片 3">
            <a:extLst>
              <a:ext uri="{FF2B5EF4-FFF2-40B4-BE49-F238E27FC236}">
                <a16:creationId xmlns:a16="http://schemas.microsoft.com/office/drawing/2014/main" id="{7CBD7E49-9B70-4C10-AF3E-7210D3E73DB1}"/>
              </a:ext>
            </a:extLst>
          </p:cNvPr>
          <p:cNvPicPr>
            <a:picLocks noChangeAspect="1"/>
          </p:cNvPicPr>
          <p:nvPr/>
        </p:nvPicPr>
        <p:blipFill>
          <a:blip r:embed="rId2"/>
          <a:stretch>
            <a:fillRect/>
          </a:stretch>
        </p:blipFill>
        <p:spPr>
          <a:xfrm>
            <a:off x="3188420" y="1882920"/>
            <a:ext cx="5939103" cy="3947477"/>
          </a:xfrm>
          <a:prstGeom prst="rect">
            <a:avLst/>
          </a:prstGeom>
        </p:spPr>
      </p:pic>
    </p:spTree>
    <p:extLst>
      <p:ext uri="{BB962C8B-B14F-4D97-AF65-F5344CB8AC3E}">
        <p14:creationId xmlns:p14="http://schemas.microsoft.com/office/powerpoint/2010/main" val="728270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Part4</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时间序列预测模型</a:t>
            </a:r>
            <a:endParaRPr lang="en-US" altLang="zh-CN" dirty="0"/>
          </a:p>
        </p:txBody>
      </p:sp>
    </p:spTree>
    <p:extLst>
      <p:ext uri="{BB962C8B-B14F-4D97-AF65-F5344CB8AC3E}">
        <p14:creationId xmlns:p14="http://schemas.microsoft.com/office/powerpoint/2010/main" val="1757060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移动平均模型</a:t>
            </a:r>
            <a:endParaRPr lang="zh-CN" altLang="en-US" sz="7200" dirty="0"/>
          </a:p>
        </p:txBody>
      </p:sp>
      <p:sp>
        <p:nvSpPr>
          <p:cNvPr id="6" name="文本框 5">
            <a:extLst>
              <a:ext uri="{FF2B5EF4-FFF2-40B4-BE49-F238E27FC236}">
                <a16:creationId xmlns:a16="http://schemas.microsoft.com/office/drawing/2014/main" id="{0E388220-A122-43EC-84AF-82A25922366A}"/>
              </a:ext>
            </a:extLst>
          </p:cNvPr>
          <p:cNvSpPr txBox="1"/>
          <p:nvPr/>
        </p:nvSpPr>
        <p:spPr>
          <a:xfrm>
            <a:off x="566351" y="1401770"/>
            <a:ext cx="4632268" cy="369332"/>
          </a:xfrm>
          <a:prstGeom prst="rect">
            <a:avLst/>
          </a:prstGeom>
          <a:noFill/>
        </p:spPr>
        <p:txBody>
          <a:bodyPr wrap="square" rtlCol="0">
            <a:spAutoFit/>
          </a:bodyPr>
          <a:lstStyle/>
          <a:p>
            <a:r>
              <a:rPr lang="zh-CN" altLang="en-US" b="1" dirty="0"/>
              <a:t>在</a:t>
            </a:r>
            <a:r>
              <a:rPr lang="en-US" altLang="zh-CN" b="1" dirty="0"/>
              <a:t>t+1</a:t>
            </a:r>
            <a:r>
              <a:rPr lang="zh-CN" altLang="en-US" b="1" dirty="0"/>
              <a:t>时刻的预测值</a:t>
            </a:r>
            <a:r>
              <a:rPr lang="en-US" altLang="zh-CN" b="1" dirty="0"/>
              <a:t>=</a:t>
            </a:r>
            <a:r>
              <a:rPr lang="zh-CN" altLang="en-US" b="1" dirty="0"/>
              <a:t>前</a:t>
            </a:r>
            <a:r>
              <a:rPr lang="en-US" altLang="zh-CN" b="1" dirty="0"/>
              <a:t>N</a:t>
            </a:r>
            <a:r>
              <a:rPr lang="zh-CN" altLang="en-US" b="1" dirty="0"/>
              <a:t>个真实值的平均</a:t>
            </a:r>
          </a:p>
        </p:txBody>
      </p:sp>
      <p:sp>
        <p:nvSpPr>
          <p:cNvPr id="9" name="文本框 8">
            <a:extLst>
              <a:ext uri="{FF2B5EF4-FFF2-40B4-BE49-F238E27FC236}">
                <a16:creationId xmlns:a16="http://schemas.microsoft.com/office/drawing/2014/main" id="{51E223B0-6EC2-499F-B145-C69AE4CFF4BB}"/>
              </a:ext>
            </a:extLst>
          </p:cNvPr>
          <p:cNvSpPr txBox="1"/>
          <p:nvPr/>
        </p:nvSpPr>
        <p:spPr>
          <a:xfrm>
            <a:off x="566351" y="2174924"/>
            <a:ext cx="3339376" cy="1477328"/>
          </a:xfrm>
          <a:prstGeom prst="rect">
            <a:avLst/>
          </a:prstGeom>
          <a:noFill/>
        </p:spPr>
        <p:txBody>
          <a:bodyPr wrap="none" rtlCol="0">
            <a:spAutoFit/>
          </a:bodyPr>
          <a:lstStyle/>
          <a:p>
            <a:r>
              <a:rPr lang="zh-CN" altLang="en-US" dirty="0"/>
              <a:t>在</a:t>
            </a:r>
            <a:r>
              <a:rPr lang="en-US" altLang="zh-CN" dirty="0"/>
              <a:t>excel</a:t>
            </a:r>
            <a:r>
              <a:rPr lang="zh-CN" altLang="en-US" dirty="0"/>
              <a:t>中，模型需要</a:t>
            </a:r>
            <a:r>
              <a:rPr lang="en-US" altLang="zh-CN" dirty="0"/>
              <a:t>3</a:t>
            </a:r>
            <a:r>
              <a:rPr lang="zh-CN" altLang="en-US" dirty="0"/>
              <a:t>个部分：</a:t>
            </a:r>
            <a:endParaRPr lang="en-US" altLang="zh-CN" dirty="0"/>
          </a:p>
          <a:p>
            <a:pPr marL="342900" indent="-342900">
              <a:buAutoNum type="arabicPeriod"/>
            </a:pPr>
            <a:r>
              <a:rPr lang="zh-CN" altLang="en-US" dirty="0"/>
              <a:t>预测值列</a:t>
            </a:r>
            <a:endParaRPr lang="en-US" altLang="zh-CN" dirty="0"/>
          </a:p>
          <a:p>
            <a:pPr marL="342900" indent="-342900">
              <a:buAutoNum type="arabicPeriod"/>
            </a:pPr>
            <a:r>
              <a:rPr lang="zh-CN" altLang="en-US" dirty="0"/>
              <a:t>条件区与模拟运算表</a:t>
            </a:r>
            <a:endParaRPr lang="en-US" altLang="zh-CN" dirty="0"/>
          </a:p>
          <a:p>
            <a:pPr marL="342900" indent="-342900">
              <a:buAutoNum type="arabicPeriod"/>
            </a:pPr>
            <a:r>
              <a:rPr lang="zh-CN" altLang="en-US" dirty="0"/>
              <a:t>最优值与结论</a:t>
            </a:r>
            <a:endParaRPr lang="en-US" altLang="zh-CN" dirty="0"/>
          </a:p>
          <a:p>
            <a:pPr marL="342900" indent="-342900">
              <a:buAutoNum type="arabicPeriod"/>
            </a:pPr>
            <a:endParaRPr lang="zh-CN" altLang="en-US" dirty="0"/>
          </a:p>
        </p:txBody>
      </p:sp>
      <p:pic>
        <p:nvPicPr>
          <p:cNvPr id="11" name="图片 10">
            <a:extLst>
              <a:ext uri="{FF2B5EF4-FFF2-40B4-BE49-F238E27FC236}">
                <a16:creationId xmlns:a16="http://schemas.microsoft.com/office/drawing/2014/main" id="{61612E2D-6B5A-44EF-B50F-381BF13A995D}"/>
              </a:ext>
            </a:extLst>
          </p:cNvPr>
          <p:cNvPicPr>
            <a:picLocks noChangeAspect="1"/>
          </p:cNvPicPr>
          <p:nvPr/>
        </p:nvPicPr>
        <p:blipFill>
          <a:blip r:embed="rId2"/>
          <a:stretch>
            <a:fillRect/>
          </a:stretch>
        </p:blipFill>
        <p:spPr>
          <a:xfrm>
            <a:off x="5969588" y="382375"/>
            <a:ext cx="5267460" cy="3949742"/>
          </a:xfrm>
          <a:prstGeom prst="rect">
            <a:avLst/>
          </a:prstGeom>
        </p:spPr>
      </p:pic>
      <p:sp>
        <p:nvSpPr>
          <p:cNvPr id="12" name="文本框 11">
            <a:extLst>
              <a:ext uri="{FF2B5EF4-FFF2-40B4-BE49-F238E27FC236}">
                <a16:creationId xmlns:a16="http://schemas.microsoft.com/office/drawing/2014/main" id="{6AF650BD-90C5-4D26-BBBC-967F6198715F}"/>
              </a:ext>
            </a:extLst>
          </p:cNvPr>
          <p:cNvSpPr txBox="1"/>
          <p:nvPr/>
        </p:nvSpPr>
        <p:spPr>
          <a:xfrm>
            <a:off x="473727" y="4450119"/>
            <a:ext cx="11718273" cy="1200329"/>
          </a:xfrm>
          <a:prstGeom prst="rect">
            <a:avLst/>
          </a:prstGeom>
          <a:noFill/>
        </p:spPr>
        <p:txBody>
          <a:bodyPr wrap="none" rtlCol="0">
            <a:spAutoFit/>
          </a:bodyPr>
          <a:lstStyle/>
          <a:p>
            <a:r>
              <a:rPr lang="zh-CN" altLang="en-US" dirty="0"/>
              <a:t>如何选中一个区域？</a:t>
            </a:r>
            <a:endParaRPr lang="en-US" altLang="zh-CN" dirty="0"/>
          </a:p>
          <a:p>
            <a:r>
              <a:rPr lang="en-US" altLang="zh-CN" dirty="0"/>
              <a:t>offset(</a:t>
            </a:r>
            <a:r>
              <a:rPr lang="zh-CN" altLang="en-US" dirty="0"/>
              <a:t>参考单元格，偏移的行数，偏移的列数，高度，宽度</a:t>
            </a:r>
            <a:r>
              <a:rPr lang="en-US" altLang="zh-CN" dirty="0"/>
              <a:t>)</a:t>
            </a:r>
          </a:p>
          <a:p>
            <a:r>
              <a:rPr lang="en-US" altLang="zh-CN" dirty="0"/>
              <a:t>average(offset())</a:t>
            </a:r>
            <a:r>
              <a:rPr lang="zh-CN" altLang="en-US" dirty="0"/>
              <a:t>可以用来计算选中区域的平均值</a:t>
            </a:r>
            <a:endParaRPr lang="en-US" altLang="zh-CN" dirty="0"/>
          </a:p>
          <a:p>
            <a:r>
              <a:rPr lang="zh-CN" altLang="en-US" dirty="0"/>
              <a:t>对于序号</a:t>
            </a:r>
            <a:r>
              <a:rPr lang="en-US" altLang="zh-CN" dirty="0"/>
              <a:t>&lt;=</a:t>
            </a:r>
            <a:r>
              <a:rPr lang="zh-CN" altLang="en-US" dirty="0"/>
              <a:t>移动平均跨度的样本显示空值（使用</a:t>
            </a:r>
            <a:r>
              <a:rPr lang="en-US" altLang="zh-CN" dirty="0"/>
              <a:t>if</a:t>
            </a:r>
            <a:r>
              <a:rPr lang="zh-CN" altLang="en-US" dirty="0"/>
              <a:t>函数），空值不要设置为</a:t>
            </a:r>
            <a:r>
              <a:rPr lang="en-US" altLang="zh-CN" dirty="0"/>
              <a:t>0</a:t>
            </a:r>
            <a:r>
              <a:rPr lang="zh-CN" altLang="en-US" dirty="0"/>
              <a:t>，而是设置为</a:t>
            </a:r>
            <a:r>
              <a:rPr lang="en-US" altLang="zh-CN" dirty="0"/>
              <a:t>””</a:t>
            </a:r>
            <a:r>
              <a:rPr lang="zh-CN" altLang="en-US" dirty="0"/>
              <a:t>，否则会影响</a:t>
            </a:r>
            <a:r>
              <a:rPr lang="en-US" altLang="zh-CN" dirty="0"/>
              <a:t>MSE</a:t>
            </a:r>
            <a:r>
              <a:rPr lang="zh-CN" altLang="en-US" dirty="0"/>
              <a:t>计算</a:t>
            </a:r>
          </a:p>
        </p:txBody>
      </p:sp>
      <p:sp>
        <p:nvSpPr>
          <p:cNvPr id="14" name="文本框 13">
            <a:extLst>
              <a:ext uri="{FF2B5EF4-FFF2-40B4-BE49-F238E27FC236}">
                <a16:creationId xmlns:a16="http://schemas.microsoft.com/office/drawing/2014/main" id="{E38CD4A7-58E3-4EDE-9920-39BA30A89408}"/>
              </a:ext>
            </a:extLst>
          </p:cNvPr>
          <p:cNvSpPr txBox="1"/>
          <p:nvPr/>
        </p:nvSpPr>
        <p:spPr>
          <a:xfrm>
            <a:off x="566351" y="5952264"/>
            <a:ext cx="8229527" cy="646331"/>
          </a:xfrm>
          <a:prstGeom prst="rect">
            <a:avLst/>
          </a:prstGeom>
          <a:noFill/>
        </p:spPr>
        <p:txBody>
          <a:bodyPr wrap="square">
            <a:spAutoFit/>
          </a:bodyPr>
          <a:lstStyle/>
          <a:p>
            <a:r>
              <a:rPr lang="en-US" altLang="zh-CN" dirty="0"/>
              <a:t>MSE</a:t>
            </a:r>
            <a:r>
              <a:rPr lang="zh-CN" altLang="en-US" dirty="0"/>
              <a:t>=SUMXMY2(D2:D29,E2:E29)/COUNT(E2:E29)</a:t>
            </a:r>
            <a:endParaRPr lang="en-US" altLang="zh-CN" dirty="0"/>
          </a:p>
          <a:p>
            <a:r>
              <a:rPr lang="zh-CN" altLang="en-US" dirty="0"/>
              <a:t>注意： SUMXMY2和COUNT都是直接选中整个预测值区域以及实际值区域即可</a:t>
            </a:r>
            <a:endParaRPr lang="en-US" altLang="zh-CN" dirty="0"/>
          </a:p>
        </p:txBody>
      </p:sp>
    </p:spTree>
    <p:extLst>
      <p:ext uri="{BB962C8B-B14F-4D97-AF65-F5344CB8AC3E}">
        <p14:creationId xmlns:p14="http://schemas.microsoft.com/office/powerpoint/2010/main" val="743624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移动平均模型</a:t>
            </a:r>
            <a:endParaRPr lang="zh-CN" altLang="en-US" sz="7200" dirty="0"/>
          </a:p>
        </p:txBody>
      </p:sp>
      <p:sp>
        <p:nvSpPr>
          <p:cNvPr id="6" name="文本框 5">
            <a:extLst>
              <a:ext uri="{FF2B5EF4-FFF2-40B4-BE49-F238E27FC236}">
                <a16:creationId xmlns:a16="http://schemas.microsoft.com/office/drawing/2014/main" id="{0E388220-A122-43EC-84AF-82A25922366A}"/>
              </a:ext>
            </a:extLst>
          </p:cNvPr>
          <p:cNvSpPr txBox="1"/>
          <p:nvPr/>
        </p:nvSpPr>
        <p:spPr>
          <a:xfrm>
            <a:off x="566351" y="1401770"/>
            <a:ext cx="4632268" cy="369332"/>
          </a:xfrm>
          <a:prstGeom prst="rect">
            <a:avLst/>
          </a:prstGeom>
          <a:noFill/>
        </p:spPr>
        <p:txBody>
          <a:bodyPr wrap="square" rtlCol="0">
            <a:spAutoFit/>
          </a:bodyPr>
          <a:lstStyle/>
          <a:p>
            <a:r>
              <a:rPr lang="zh-CN" altLang="en-US" b="1" dirty="0"/>
              <a:t>可以使用数据分析功能验证结果</a:t>
            </a:r>
          </a:p>
        </p:txBody>
      </p:sp>
      <p:sp>
        <p:nvSpPr>
          <p:cNvPr id="9" name="文本框 8">
            <a:extLst>
              <a:ext uri="{FF2B5EF4-FFF2-40B4-BE49-F238E27FC236}">
                <a16:creationId xmlns:a16="http://schemas.microsoft.com/office/drawing/2014/main" id="{51E223B0-6EC2-499F-B145-C69AE4CFF4BB}"/>
              </a:ext>
            </a:extLst>
          </p:cNvPr>
          <p:cNvSpPr txBox="1"/>
          <p:nvPr/>
        </p:nvSpPr>
        <p:spPr>
          <a:xfrm>
            <a:off x="566351" y="2174924"/>
            <a:ext cx="3393878" cy="923330"/>
          </a:xfrm>
          <a:prstGeom prst="rect">
            <a:avLst/>
          </a:prstGeom>
          <a:noFill/>
        </p:spPr>
        <p:txBody>
          <a:bodyPr wrap="none" rtlCol="0">
            <a:spAutoFit/>
          </a:bodyPr>
          <a:lstStyle/>
          <a:p>
            <a:r>
              <a:rPr lang="zh-CN" altLang="en-US" dirty="0"/>
              <a:t>注意，输出区域要往下选一格</a:t>
            </a:r>
            <a:endParaRPr lang="en-US" altLang="zh-CN" dirty="0"/>
          </a:p>
          <a:p>
            <a:r>
              <a:rPr lang="zh-CN" altLang="en-US" dirty="0"/>
              <a:t>比如，右图中输入是</a:t>
            </a:r>
            <a:r>
              <a:rPr lang="en-US" altLang="zh-CN" dirty="0"/>
              <a:t>D2:D29</a:t>
            </a:r>
            <a:r>
              <a:rPr lang="zh-CN" altLang="en-US" dirty="0"/>
              <a:t>，</a:t>
            </a:r>
            <a:endParaRPr lang="en-US" altLang="zh-CN" dirty="0"/>
          </a:p>
          <a:p>
            <a:r>
              <a:rPr lang="zh-CN" altLang="en-US" dirty="0"/>
              <a:t>输出区域要选</a:t>
            </a:r>
            <a:r>
              <a:rPr lang="en-US" altLang="zh-CN" dirty="0"/>
              <a:t>F3:F30</a:t>
            </a:r>
            <a:r>
              <a:rPr lang="zh-CN" altLang="en-US" dirty="0"/>
              <a:t>，才能一致</a:t>
            </a:r>
            <a:endParaRPr lang="en-US" altLang="zh-CN" dirty="0"/>
          </a:p>
        </p:txBody>
      </p:sp>
      <p:pic>
        <p:nvPicPr>
          <p:cNvPr id="4" name="图片 3">
            <a:extLst>
              <a:ext uri="{FF2B5EF4-FFF2-40B4-BE49-F238E27FC236}">
                <a16:creationId xmlns:a16="http://schemas.microsoft.com/office/drawing/2014/main" id="{C865CD06-0A8D-4F7D-AF54-926AD2291E17}"/>
              </a:ext>
            </a:extLst>
          </p:cNvPr>
          <p:cNvPicPr>
            <a:picLocks noChangeAspect="1"/>
          </p:cNvPicPr>
          <p:nvPr/>
        </p:nvPicPr>
        <p:blipFill>
          <a:blip r:embed="rId2"/>
          <a:stretch>
            <a:fillRect/>
          </a:stretch>
        </p:blipFill>
        <p:spPr>
          <a:xfrm>
            <a:off x="4658018" y="370283"/>
            <a:ext cx="6967631" cy="4904400"/>
          </a:xfrm>
          <a:prstGeom prst="rect">
            <a:avLst/>
          </a:prstGeom>
        </p:spPr>
      </p:pic>
      <p:pic>
        <p:nvPicPr>
          <p:cNvPr id="7" name="图片 6">
            <a:extLst>
              <a:ext uri="{FF2B5EF4-FFF2-40B4-BE49-F238E27FC236}">
                <a16:creationId xmlns:a16="http://schemas.microsoft.com/office/drawing/2014/main" id="{03336A1F-6951-438D-8C9F-B75E7440417E}"/>
              </a:ext>
            </a:extLst>
          </p:cNvPr>
          <p:cNvPicPr>
            <a:picLocks noChangeAspect="1"/>
          </p:cNvPicPr>
          <p:nvPr/>
        </p:nvPicPr>
        <p:blipFill>
          <a:blip r:embed="rId3"/>
          <a:stretch>
            <a:fillRect/>
          </a:stretch>
        </p:blipFill>
        <p:spPr>
          <a:xfrm>
            <a:off x="566351" y="3540373"/>
            <a:ext cx="2858824" cy="3173904"/>
          </a:xfrm>
          <a:prstGeom prst="rect">
            <a:avLst/>
          </a:prstGeom>
        </p:spPr>
      </p:pic>
      <p:sp>
        <p:nvSpPr>
          <p:cNvPr id="8" name="对话气泡: 矩形 7">
            <a:extLst>
              <a:ext uri="{FF2B5EF4-FFF2-40B4-BE49-F238E27FC236}">
                <a16:creationId xmlns:a16="http://schemas.microsoft.com/office/drawing/2014/main" id="{E9DD47F0-17FA-4C00-ACE9-8572015EC636}"/>
              </a:ext>
            </a:extLst>
          </p:cNvPr>
          <p:cNvSpPr/>
          <p:nvPr/>
        </p:nvSpPr>
        <p:spPr>
          <a:xfrm>
            <a:off x="4559545" y="6433089"/>
            <a:ext cx="3444972" cy="281188"/>
          </a:xfrm>
          <a:prstGeom prst="wedgeRectCallout">
            <a:avLst>
              <a:gd name="adj1" fmla="val -87128"/>
              <a:gd name="adj2" fmla="val -3177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甚至还贴心地给出了公式</a:t>
            </a:r>
          </a:p>
        </p:txBody>
      </p:sp>
    </p:spTree>
    <p:extLst>
      <p:ext uri="{BB962C8B-B14F-4D97-AF65-F5344CB8AC3E}">
        <p14:creationId xmlns:p14="http://schemas.microsoft.com/office/powerpoint/2010/main" val="3506028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7431168" cy="923330"/>
          </a:xfrm>
          <a:prstGeom prst="rect">
            <a:avLst/>
          </a:prstGeom>
          <a:noFill/>
        </p:spPr>
        <p:txBody>
          <a:bodyPr wrap="square" rtlCol="0">
            <a:spAutoFit/>
          </a:bodyPr>
          <a:lstStyle/>
          <a:p>
            <a:r>
              <a:rPr lang="zh-CN" altLang="en-US" b="1" dirty="0"/>
              <a:t>在</a:t>
            </a:r>
            <a:r>
              <a:rPr lang="en-US" altLang="zh-CN" b="1" dirty="0"/>
              <a:t>t+1</a:t>
            </a:r>
            <a:r>
              <a:rPr lang="zh-CN" altLang="en-US" b="1" dirty="0"/>
              <a:t>时刻的预测值</a:t>
            </a:r>
            <a:r>
              <a:rPr lang="en-US" altLang="zh-CN" b="1" dirty="0"/>
              <a:t>=a*t</a:t>
            </a:r>
            <a:r>
              <a:rPr lang="zh-CN" altLang="en-US" b="1" dirty="0"/>
              <a:t>时刻真实值</a:t>
            </a:r>
            <a:r>
              <a:rPr lang="en-US" altLang="zh-CN" b="1" dirty="0"/>
              <a:t>+(1-a)*t</a:t>
            </a:r>
            <a:r>
              <a:rPr lang="zh-CN" altLang="en-US" b="1" dirty="0"/>
              <a:t>时刻预测值</a:t>
            </a:r>
            <a:endParaRPr lang="en-US" altLang="zh-CN" b="1" dirty="0"/>
          </a:p>
          <a:p>
            <a:endParaRPr lang="en-US" altLang="zh-CN" b="1" dirty="0"/>
          </a:p>
          <a:p>
            <a:r>
              <a:rPr lang="zh-CN" altLang="en-US" b="1" dirty="0"/>
              <a:t>其中</a:t>
            </a:r>
            <a:r>
              <a:rPr lang="en-US" altLang="zh-CN" b="1" dirty="0"/>
              <a:t>a</a:t>
            </a:r>
            <a:r>
              <a:rPr lang="zh-CN" altLang="en-US" b="1" dirty="0"/>
              <a:t>是平滑常数，</a:t>
            </a:r>
            <a:r>
              <a:rPr lang="en-US" altLang="zh-CN" b="1" dirty="0"/>
              <a:t>(1-a)</a:t>
            </a:r>
            <a:r>
              <a:rPr lang="zh-CN" altLang="en-US" b="1" dirty="0"/>
              <a:t>是阻尼系数</a:t>
            </a:r>
          </a:p>
        </p:txBody>
      </p:sp>
      <p:pic>
        <p:nvPicPr>
          <p:cNvPr id="5" name="图片 4">
            <a:extLst>
              <a:ext uri="{FF2B5EF4-FFF2-40B4-BE49-F238E27FC236}">
                <a16:creationId xmlns:a16="http://schemas.microsoft.com/office/drawing/2014/main" id="{74283D03-931F-4083-9681-DB783E60AA92}"/>
              </a:ext>
            </a:extLst>
          </p:cNvPr>
          <p:cNvPicPr>
            <a:picLocks noChangeAspect="1"/>
          </p:cNvPicPr>
          <p:nvPr/>
        </p:nvPicPr>
        <p:blipFill>
          <a:blip r:embed="rId2"/>
          <a:stretch>
            <a:fillRect/>
          </a:stretch>
        </p:blipFill>
        <p:spPr>
          <a:xfrm>
            <a:off x="3963947" y="2587702"/>
            <a:ext cx="7346144" cy="3890397"/>
          </a:xfrm>
          <a:prstGeom prst="rect">
            <a:avLst/>
          </a:prstGeom>
        </p:spPr>
      </p:pic>
      <p:sp>
        <p:nvSpPr>
          <p:cNvPr id="11" name="文本框 10">
            <a:extLst>
              <a:ext uri="{FF2B5EF4-FFF2-40B4-BE49-F238E27FC236}">
                <a16:creationId xmlns:a16="http://schemas.microsoft.com/office/drawing/2014/main" id="{3DD8368C-B324-4693-869B-93D9315E48F0}"/>
              </a:ext>
            </a:extLst>
          </p:cNvPr>
          <p:cNvSpPr txBox="1"/>
          <p:nvPr/>
        </p:nvSpPr>
        <p:spPr>
          <a:xfrm>
            <a:off x="566351" y="3119172"/>
            <a:ext cx="3185487" cy="369332"/>
          </a:xfrm>
          <a:prstGeom prst="rect">
            <a:avLst/>
          </a:prstGeom>
          <a:noFill/>
        </p:spPr>
        <p:txBody>
          <a:bodyPr wrap="none" rtlCol="0">
            <a:spAutoFit/>
          </a:bodyPr>
          <a:lstStyle/>
          <a:p>
            <a:r>
              <a:rPr lang="zh-CN" altLang="en-US" dirty="0"/>
              <a:t>建模区域要素与移动平均一致</a:t>
            </a:r>
            <a:endParaRPr lang="en-US" altLang="zh-CN" dirty="0"/>
          </a:p>
        </p:txBody>
      </p:sp>
    </p:spTree>
    <p:extLst>
      <p:ext uri="{BB962C8B-B14F-4D97-AF65-F5344CB8AC3E}">
        <p14:creationId xmlns:p14="http://schemas.microsoft.com/office/powerpoint/2010/main" val="4221289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9287818" cy="923330"/>
          </a:xfrm>
          <a:prstGeom prst="rect">
            <a:avLst/>
          </a:prstGeom>
          <a:noFill/>
        </p:spPr>
        <p:txBody>
          <a:bodyPr wrap="square" rtlCol="0">
            <a:spAutoFit/>
          </a:bodyPr>
          <a:lstStyle/>
          <a:p>
            <a:r>
              <a:rPr lang="zh-CN" altLang="en-US" b="1" dirty="0"/>
              <a:t>解决这个问题比较快的方法就是</a:t>
            </a:r>
            <a:endParaRPr lang="en-US" altLang="zh-CN" b="1" dirty="0"/>
          </a:p>
          <a:p>
            <a:pPr marL="342900" indent="-342900">
              <a:buAutoNum type="arabicPeriod"/>
            </a:pPr>
            <a:r>
              <a:rPr lang="zh-CN" altLang="en-US" b="1" dirty="0"/>
              <a:t>先使用数据分析，把预测值算出来（注意数据分析要填的是阻尼系数不是平滑常数）</a:t>
            </a:r>
            <a:endParaRPr lang="en-US" altLang="zh-CN" b="1" dirty="0"/>
          </a:p>
          <a:p>
            <a:pPr marL="342900" indent="-342900">
              <a:buAutoNum type="arabicPeriod"/>
            </a:pPr>
            <a:r>
              <a:rPr lang="zh-CN" altLang="en-US" b="1" dirty="0"/>
              <a:t>把预测值中静态的数值改为条件区的平滑常数</a:t>
            </a:r>
          </a:p>
        </p:txBody>
      </p:sp>
      <p:pic>
        <p:nvPicPr>
          <p:cNvPr id="4" name="图片 3">
            <a:extLst>
              <a:ext uri="{FF2B5EF4-FFF2-40B4-BE49-F238E27FC236}">
                <a16:creationId xmlns:a16="http://schemas.microsoft.com/office/drawing/2014/main" id="{D97DF03E-0C8D-404C-8EA3-F5A0EB38E5A3}"/>
              </a:ext>
            </a:extLst>
          </p:cNvPr>
          <p:cNvPicPr>
            <a:picLocks noChangeAspect="1"/>
          </p:cNvPicPr>
          <p:nvPr/>
        </p:nvPicPr>
        <p:blipFill>
          <a:blip r:embed="rId2"/>
          <a:stretch>
            <a:fillRect/>
          </a:stretch>
        </p:blipFill>
        <p:spPr>
          <a:xfrm>
            <a:off x="2274396" y="2500032"/>
            <a:ext cx="7801023" cy="3698172"/>
          </a:xfrm>
          <a:prstGeom prst="rect">
            <a:avLst/>
          </a:prstGeom>
        </p:spPr>
      </p:pic>
      <p:sp>
        <p:nvSpPr>
          <p:cNvPr id="6" name="文本框 5">
            <a:extLst>
              <a:ext uri="{FF2B5EF4-FFF2-40B4-BE49-F238E27FC236}">
                <a16:creationId xmlns:a16="http://schemas.microsoft.com/office/drawing/2014/main" id="{41F10811-585C-46B1-8C67-92EB07DD45B1}"/>
              </a:ext>
            </a:extLst>
          </p:cNvPr>
          <p:cNvSpPr txBox="1"/>
          <p:nvPr/>
        </p:nvSpPr>
        <p:spPr>
          <a:xfrm>
            <a:off x="2427569" y="6344945"/>
            <a:ext cx="7109639" cy="369332"/>
          </a:xfrm>
          <a:prstGeom prst="rect">
            <a:avLst/>
          </a:prstGeom>
          <a:noFill/>
        </p:spPr>
        <p:txBody>
          <a:bodyPr wrap="none" rtlCol="0">
            <a:spAutoFit/>
          </a:bodyPr>
          <a:lstStyle/>
          <a:p>
            <a:r>
              <a:rPr lang="zh-CN" altLang="en-US" dirty="0"/>
              <a:t>先用</a:t>
            </a:r>
            <a:r>
              <a:rPr lang="zh-CN" altLang="en-US" b="1" dirty="0"/>
              <a:t>数据分析，把预测值算好，我们注意到数据分析已经给出了公式</a:t>
            </a:r>
            <a:endParaRPr lang="zh-CN" altLang="en-US" dirty="0"/>
          </a:p>
        </p:txBody>
      </p:sp>
    </p:spTree>
    <p:extLst>
      <p:ext uri="{BB962C8B-B14F-4D97-AF65-F5344CB8AC3E}">
        <p14:creationId xmlns:p14="http://schemas.microsoft.com/office/powerpoint/2010/main" val="1791491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9287818" cy="923330"/>
          </a:xfrm>
          <a:prstGeom prst="rect">
            <a:avLst/>
          </a:prstGeom>
          <a:noFill/>
        </p:spPr>
        <p:txBody>
          <a:bodyPr wrap="square" rtlCol="0">
            <a:spAutoFit/>
          </a:bodyPr>
          <a:lstStyle/>
          <a:p>
            <a:r>
              <a:rPr lang="zh-CN" altLang="en-US" b="1" dirty="0"/>
              <a:t>解决这个问题比较快的方法就是</a:t>
            </a:r>
            <a:endParaRPr lang="en-US" altLang="zh-CN" b="1" dirty="0"/>
          </a:p>
          <a:p>
            <a:pPr marL="342900" indent="-342900">
              <a:buAutoNum type="arabicPeriod"/>
            </a:pPr>
            <a:r>
              <a:rPr lang="zh-CN" altLang="en-US" b="1" dirty="0"/>
              <a:t>先使用数据分析，把预测值算出来（注意数据分析要填的是阻尼系数不是平滑常数）</a:t>
            </a:r>
            <a:endParaRPr lang="en-US" altLang="zh-CN" b="1" dirty="0"/>
          </a:p>
          <a:p>
            <a:pPr marL="342900" indent="-342900">
              <a:buAutoNum type="arabicPeriod"/>
            </a:pPr>
            <a:r>
              <a:rPr lang="zh-CN" altLang="en-US" b="1" dirty="0"/>
              <a:t>把预测值中静态的数值改为条件区的平滑常数</a:t>
            </a:r>
          </a:p>
        </p:txBody>
      </p:sp>
      <p:sp>
        <p:nvSpPr>
          <p:cNvPr id="6" name="文本框 5">
            <a:extLst>
              <a:ext uri="{FF2B5EF4-FFF2-40B4-BE49-F238E27FC236}">
                <a16:creationId xmlns:a16="http://schemas.microsoft.com/office/drawing/2014/main" id="{41F10811-585C-46B1-8C67-92EB07DD45B1}"/>
              </a:ext>
            </a:extLst>
          </p:cNvPr>
          <p:cNvSpPr txBox="1"/>
          <p:nvPr/>
        </p:nvSpPr>
        <p:spPr>
          <a:xfrm>
            <a:off x="3538910" y="6344945"/>
            <a:ext cx="4570482" cy="369332"/>
          </a:xfrm>
          <a:prstGeom prst="rect">
            <a:avLst/>
          </a:prstGeom>
          <a:noFill/>
        </p:spPr>
        <p:txBody>
          <a:bodyPr wrap="none" rtlCol="0">
            <a:spAutoFit/>
          </a:bodyPr>
          <a:lstStyle/>
          <a:p>
            <a:r>
              <a:rPr lang="zh-CN" altLang="en-US" dirty="0"/>
              <a:t>把公式中的系数换成一旁的平滑常数，即可</a:t>
            </a:r>
          </a:p>
        </p:txBody>
      </p:sp>
      <p:pic>
        <p:nvPicPr>
          <p:cNvPr id="5" name="图片 4">
            <a:extLst>
              <a:ext uri="{FF2B5EF4-FFF2-40B4-BE49-F238E27FC236}">
                <a16:creationId xmlns:a16="http://schemas.microsoft.com/office/drawing/2014/main" id="{BCFC3DFA-082A-4AE8-99E9-61C1F218209E}"/>
              </a:ext>
            </a:extLst>
          </p:cNvPr>
          <p:cNvPicPr>
            <a:picLocks noChangeAspect="1"/>
          </p:cNvPicPr>
          <p:nvPr/>
        </p:nvPicPr>
        <p:blipFill>
          <a:blip r:embed="rId2"/>
          <a:stretch>
            <a:fillRect/>
          </a:stretch>
        </p:blipFill>
        <p:spPr>
          <a:xfrm>
            <a:off x="1841882" y="2366988"/>
            <a:ext cx="8281011" cy="3936068"/>
          </a:xfrm>
          <a:prstGeom prst="rect">
            <a:avLst/>
          </a:prstGeom>
        </p:spPr>
      </p:pic>
    </p:spTree>
    <p:extLst>
      <p:ext uri="{BB962C8B-B14F-4D97-AF65-F5344CB8AC3E}">
        <p14:creationId xmlns:p14="http://schemas.microsoft.com/office/powerpoint/2010/main" val="304131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431744" y="1118631"/>
            <a:ext cx="9287818" cy="2862322"/>
          </a:xfrm>
          <a:prstGeom prst="rect">
            <a:avLst/>
          </a:prstGeom>
          <a:noFill/>
        </p:spPr>
        <p:txBody>
          <a:bodyPr wrap="square" rtlCol="0">
            <a:spAutoFit/>
          </a:bodyPr>
          <a:lstStyle/>
          <a:p>
            <a:r>
              <a:rPr lang="zh-CN" altLang="en-US" b="1" dirty="0"/>
              <a:t>一共有</a:t>
            </a:r>
            <a:r>
              <a:rPr lang="en-US" altLang="zh-CN" b="1" dirty="0"/>
              <a:t>4</a:t>
            </a:r>
            <a:r>
              <a:rPr lang="zh-CN" altLang="en-US" b="1" dirty="0"/>
              <a:t>种方法，分别是：</a:t>
            </a:r>
            <a:endParaRPr lang="en-US" altLang="zh-CN" b="1" dirty="0"/>
          </a:p>
          <a:p>
            <a:pPr marL="342900" indent="-342900">
              <a:buAutoNum type="arabicPeriod"/>
            </a:pPr>
            <a:r>
              <a:rPr lang="zh-CN" altLang="en-US" b="1" dirty="0"/>
              <a:t>绘图添加趋势线（验证，一般非法）</a:t>
            </a:r>
            <a:endParaRPr lang="en-US" altLang="zh-CN" b="1" dirty="0"/>
          </a:p>
          <a:p>
            <a:pPr marL="342900" indent="-342900">
              <a:buAutoNum type="arabicPeriod"/>
            </a:pPr>
            <a:r>
              <a:rPr lang="en-US" altLang="zh-CN" b="1" dirty="0"/>
              <a:t>Intercept</a:t>
            </a:r>
            <a:r>
              <a:rPr lang="zh-CN" altLang="en-US" b="1" dirty="0"/>
              <a:t>计算斜率，</a:t>
            </a:r>
            <a:r>
              <a:rPr lang="en-US" altLang="zh-CN" b="1" dirty="0"/>
              <a:t>slope</a:t>
            </a:r>
            <a:r>
              <a:rPr lang="zh-CN" altLang="en-US" b="1" dirty="0"/>
              <a:t>计算截距</a:t>
            </a:r>
            <a:endParaRPr lang="en-US" altLang="zh-CN" b="1" dirty="0"/>
          </a:p>
          <a:p>
            <a:pPr marL="342900" indent="-342900">
              <a:buAutoNum type="arabicPeriod"/>
            </a:pPr>
            <a:r>
              <a:rPr lang="en-US" altLang="zh-CN" b="1" dirty="0" err="1"/>
              <a:t>Linest</a:t>
            </a:r>
            <a:r>
              <a:rPr lang="zh-CN" altLang="en-US" b="1" dirty="0"/>
              <a:t>直接计算出斜率与截距（输出行向量</a:t>
            </a:r>
            <a:r>
              <a:rPr lang="en-US" altLang="zh-CN" b="1" dirty="0"/>
              <a:t>(a, b)</a:t>
            </a:r>
            <a:r>
              <a:rPr lang="zh-CN" altLang="en-US" b="1" dirty="0"/>
              <a:t>，可以使用转置函数</a:t>
            </a:r>
            <a:r>
              <a:rPr lang="en-US" altLang="zh-CN" b="1" dirty="0"/>
              <a:t>transpose</a:t>
            </a:r>
            <a:r>
              <a:rPr lang="zh-CN" altLang="en-US" b="1" dirty="0"/>
              <a:t>变为列向量）</a:t>
            </a:r>
            <a:endParaRPr lang="en-US" altLang="zh-CN" b="1" dirty="0"/>
          </a:p>
          <a:p>
            <a:pPr marL="342900" indent="-342900">
              <a:buAutoNum type="arabicPeriod"/>
            </a:pPr>
            <a:r>
              <a:rPr lang="en-US" altLang="zh-CN" b="1" dirty="0"/>
              <a:t>FORECAST.LINEAR(B4,$C$2:$C$18,$B$2:$B$18)</a:t>
            </a:r>
            <a:r>
              <a:rPr lang="zh-CN" altLang="en-US" b="1" dirty="0"/>
              <a:t>，第一个参数是变的，输入</a:t>
            </a:r>
            <a:r>
              <a:rPr lang="en-US" altLang="zh-CN" b="1" dirty="0"/>
              <a:t>x</a:t>
            </a:r>
            <a:r>
              <a:rPr lang="zh-CN" altLang="en-US" b="1" dirty="0"/>
              <a:t>，另外两个参数分别是已知的</a:t>
            </a:r>
            <a:r>
              <a:rPr lang="en-US" altLang="zh-CN" b="1" dirty="0"/>
              <a:t>y</a:t>
            </a:r>
            <a:r>
              <a:rPr lang="zh-CN" altLang="en-US" b="1" dirty="0"/>
              <a:t>与已知的</a:t>
            </a:r>
            <a:r>
              <a:rPr lang="en-US" altLang="zh-CN" b="1" dirty="0"/>
              <a:t>x</a:t>
            </a:r>
          </a:p>
          <a:p>
            <a:pPr marL="342900" indent="-342900">
              <a:buAutoNum type="arabicPeriod"/>
            </a:pPr>
            <a:r>
              <a:rPr lang="de-DE" altLang="zh-CN" b="1" dirty="0"/>
              <a:t>TREND($C$2:$C$18,$B$2:$B$18,B3)</a:t>
            </a:r>
            <a:r>
              <a:rPr lang="zh-CN" altLang="en-US" b="1" dirty="0"/>
              <a:t>，第三个参数是变的，输入</a:t>
            </a:r>
            <a:r>
              <a:rPr lang="en-US" altLang="zh-CN" b="1" dirty="0"/>
              <a:t>x</a:t>
            </a:r>
            <a:r>
              <a:rPr lang="zh-CN" altLang="en-US" b="1" dirty="0"/>
              <a:t>，第一个参数是已知的</a:t>
            </a:r>
            <a:r>
              <a:rPr lang="en-US" altLang="zh-CN" b="1" dirty="0"/>
              <a:t>y</a:t>
            </a:r>
            <a:r>
              <a:rPr lang="zh-CN" altLang="en-US" b="1" dirty="0"/>
              <a:t>第二个参数是已知的</a:t>
            </a:r>
            <a:r>
              <a:rPr lang="en-US" altLang="zh-CN" b="1" dirty="0"/>
              <a:t>x</a:t>
            </a:r>
          </a:p>
          <a:p>
            <a:pPr marL="342900" indent="-342900">
              <a:buAutoNum type="arabicPeriod"/>
            </a:pPr>
            <a:r>
              <a:rPr lang="zh-CN" altLang="en-US" b="1" dirty="0"/>
              <a:t>数据分析直接输出报告</a:t>
            </a:r>
          </a:p>
        </p:txBody>
      </p:sp>
      <p:pic>
        <p:nvPicPr>
          <p:cNvPr id="4" name="图片 3">
            <a:extLst>
              <a:ext uri="{FF2B5EF4-FFF2-40B4-BE49-F238E27FC236}">
                <a16:creationId xmlns:a16="http://schemas.microsoft.com/office/drawing/2014/main" id="{4EB5681B-767F-4B9B-B5CF-AC9A391F3B5B}"/>
              </a:ext>
            </a:extLst>
          </p:cNvPr>
          <p:cNvPicPr>
            <a:picLocks noChangeAspect="1"/>
          </p:cNvPicPr>
          <p:nvPr/>
        </p:nvPicPr>
        <p:blipFill>
          <a:blip r:embed="rId2"/>
          <a:stretch>
            <a:fillRect/>
          </a:stretch>
        </p:blipFill>
        <p:spPr>
          <a:xfrm>
            <a:off x="4560205" y="3495142"/>
            <a:ext cx="7200051" cy="3262523"/>
          </a:xfrm>
          <a:prstGeom prst="rect">
            <a:avLst/>
          </a:prstGeom>
        </p:spPr>
      </p:pic>
      <p:sp>
        <p:nvSpPr>
          <p:cNvPr id="7" name="文本框 6">
            <a:extLst>
              <a:ext uri="{FF2B5EF4-FFF2-40B4-BE49-F238E27FC236}">
                <a16:creationId xmlns:a16="http://schemas.microsoft.com/office/drawing/2014/main" id="{EE3370D0-1EE5-4190-9772-406BC099B40B}"/>
              </a:ext>
            </a:extLst>
          </p:cNvPr>
          <p:cNvSpPr txBox="1"/>
          <p:nvPr/>
        </p:nvSpPr>
        <p:spPr>
          <a:xfrm>
            <a:off x="909758" y="4688041"/>
            <a:ext cx="1172116" cy="369332"/>
          </a:xfrm>
          <a:prstGeom prst="rect">
            <a:avLst/>
          </a:prstGeom>
          <a:noFill/>
        </p:spPr>
        <p:txBody>
          <a:bodyPr wrap="none" rtlCol="0">
            <a:spAutoFit/>
          </a:bodyPr>
          <a:lstStyle/>
          <a:p>
            <a:r>
              <a:rPr lang="zh-CN" altLang="en-US" dirty="0"/>
              <a:t>详见例</a:t>
            </a:r>
            <a:r>
              <a:rPr lang="en-US" altLang="zh-CN" dirty="0"/>
              <a:t>5.3</a:t>
            </a:r>
          </a:p>
        </p:txBody>
      </p:sp>
    </p:spTree>
    <p:extLst>
      <p:ext uri="{BB962C8B-B14F-4D97-AF65-F5344CB8AC3E}">
        <p14:creationId xmlns:p14="http://schemas.microsoft.com/office/powerpoint/2010/main" val="218941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线性趋势预测模型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431744" y="1118631"/>
            <a:ext cx="9287818" cy="2862322"/>
          </a:xfrm>
          <a:prstGeom prst="rect">
            <a:avLst/>
          </a:prstGeom>
          <a:noFill/>
        </p:spPr>
        <p:txBody>
          <a:bodyPr wrap="square" rtlCol="0">
            <a:spAutoFit/>
          </a:bodyPr>
          <a:lstStyle/>
          <a:p>
            <a:r>
              <a:rPr lang="zh-CN" altLang="en-US" b="1" dirty="0"/>
              <a:t>一共有</a:t>
            </a:r>
            <a:r>
              <a:rPr lang="en-US" altLang="zh-CN" b="1" dirty="0"/>
              <a:t>4</a:t>
            </a:r>
            <a:r>
              <a:rPr lang="zh-CN" altLang="en-US" b="1" dirty="0"/>
              <a:t>种方法，分别是：</a:t>
            </a:r>
            <a:endParaRPr lang="en-US" altLang="zh-CN" b="1" dirty="0"/>
          </a:p>
          <a:p>
            <a:pPr marL="342900" indent="-342900">
              <a:buAutoNum type="arabicPeriod"/>
            </a:pPr>
            <a:r>
              <a:rPr lang="zh-CN" altLang="en-US" b="1" dirty="0"/>
              <a:t>绘图添加趋势线（验证，一般非法）</a:t>
            </a:r>
            <a:endParaRPr lang="en-US" altLang="zh-CN" b="1" dirty="0"/>
          </a:p>
          <a:p>
            <a:pPr marL="342900" indent="-342900">
              <a:buAutoNum type="arabicPeriod"/>
            </a:pPr>
            <a:r>
              <a:rPr lang="en-US" altLang="zh-CN" b="1" dirty="0"/>
              <a:t>Intercept</a:t>
            </a:r>
            <a:r>
              <a:rPr lang="zh-CN" altLang="en-US" b="1" dirty="0"/>
              <a:t>计算截距，</a:t>
            </a:r>
            <a:r>
              <a:rPr lang="en-US" altLang="zh-CN" b="1" dirty="0"/>
              <a:t>slope</a:t>
            </a:r>
            <a:r>
              <a:rPr lang="zh-CN" altLang="en-US" b="1" dirty="0"/>
              <a:t>计算斜率</a:t>
            </a:r>
            <a:endParaRPr lang="en-US" altLang="zh-CN" b="1" dirty="0"/>
          </a:p>
          <a:p>
            <a:pPr marL="342900" indent="-342900">
              <a:buAutoNum type="arabicPeriod"/>
            </a:pPr>
            <a:r>
              <a:rPr lang="en-US" altLang="zh-CN" b="1" dirty="0" err="1"/>
              <a:t>Linest</a:t>
            </a:r>
            <a:r>
              <a:rPr lang="zh-CN" altLang="en-US" b="1" dirty="0"/>
              <a:t>直接计算出斜率与截距（输出行向量</a:t>
            </a:r>
            <a:r>
              <a:rPr lang="en-US" altLang="zh-CN" b="1" dirty="0"/>
              <a:t>(a, b)</a:t>
            </a:r>
            <a:r>
              <a:rPr lang="zh-CN" altLang="en-US" b="1" dirty="0"/>
              <a:t>，可以使用转置函数</a:t>
            </a:r>
            <a:r>
              <a:rPr lang="en-US" altLang="zh-CN" b="1" dirty="0"/>
              <a:t>transpose</a:t>
            </a:r>
            <a:r>
              <a:rPr lang="zh-CN" altLang="en-US" b="1" dirty="0"/>
              <a:t>变为列向量）</a:t>
            </a:r>
            <a:endParaRPr lang="en-US" altLang="zh-CN" b="1" dirty="0"/>
          </a:p>
          <a:p>
            <a:pPr marL="342900" indent="-342900">
              <a:buAutoNum type="arabicPeriod"/>
            </a:pPr>
            <a:r>
              <a:rPr lang="en-US" altLang="zh-CN" b="1" dirty="0"/>
              <a:t>FORECAST.LINEAR(B4,$C$2:$C$18,$B$2:$B$18)</a:t>
            </a:r>
            <a:r>
              <a:rPr lang="zh-CN" altLang="en-US" b="1" dirty="0"/>
              <a:t>，第一个参数是变的，输入</a:t>
            </a:r>
            <a:r>
              <a:rPr lang="en-US" altLang="zh-CN" b="1" dirty="0"/>
              <a:t>x</a:t>
            </a:r>
            <a:r>
              <a:rPr lang="zh-CN" altLang="en-US" b="1" dirty="0"/>
              <a:t>，另外两个参数分别是已知的</a:t>
            </a:r>
            <a:r>
              <a:rPr lang="en-US" altLang="zh-CN" b="1" dirty="0"/>
              <a:t>y</a:t>
            </a:r>
            <a:r>
              <a:rPr lang="zh-CN" altLang="en-US" b="1" dirty="0"/>
              <a:t>与已知的</a:t>
            </a:r>
            <a:r>
              <a:rPr lang="en-US" altLang="zh-CN" b="1" dirty="0"/>
              <a:t>x</a:t>
            </a:r>
          </a:p>
          <a:p>
            <a:pPr marL="342900" indent="-342900">
              <a:buAutoNum type="arabicPeriod"/>
            </a:pPr>
            <a:r>
              <a:rPr lang="de-DE" altLang="zh-CN" b="1" dirty="0"/>
              <a:t>TREND($C$2:$C$18,$B$2:$B$18,B3)</a:t>
            </a:r>
            <a:r>
              <a:rPr lang="zh-CN" altLang="en-US" b="1" dirty="0"/>
              <a:t>，第三个参数是变的，输入</a:t>
            </a:r>
            <a:r>
              <a:rPr lang="en-US" altLang="zh-CN" b="1" dirty="0"/>
              <a:t>x</a:t>
            </a:r>
            <a:r>
              <a:rPr lang="zh-CN" altLang="en-US" b="1" dirty="0"/>
              <a:t>，第一个参数是已知的</a:t>
            </a:r>
            <a:r>
              <a:rPr lang="en-US" altLang="zh-CN" b="1" dirty="0"/>
              <a:t>y</a:t>
            </a:r>
            <a:r>
              <a:rPr lang="zh-CN" altLang="en-US" b="1" dirty="0"/>
              <a:t>第二个参数是已知的</a:t>
            </a:r>
            <a:r>
              <a:rPr lang="en-US" altLang="zh-CN" b="1" dirty="0"/>
              <a:t>x</a:t>
            </a:r>
          </a:p>
          <a:p>
            <a:pPr marL="342900" indent="-342900">
              <a:buAutoNum type="arabicPeriod"/>
            </a:pPr>
            <a:r>
              <a:rPr lang="zh-CN" altLang="en-US" b="1" dirty="0"/>
              <a:t>数据分析直接输出报告</a:t>
            </a:r>
          </a:p>
        </p:txBody>
      </p:sp>
      <p:pic>
        <p:nvPicPr>
          <p:cNvPr id="4" name="图片 3">
            <a:extLst>
              <a:ext uri="{FF2B5EF4-FFF2-40B4-BE49-F238E27FC236}">
                <a16:creationId xmlns:a16="http://schemas.microsoft.com/office/drawing/2014/main" id="{4EB5681B-767F-4B9B-B5CF-AC9A391F3B5B}"/>
              </a:ext>
            </a:extLst>
          </p:cNvPr>
          <p:cNvPicPr>
            <a:picLocks noChangeAspect="1"/>
          </p:cNvPicPr>
          <p:nvPr/>
        </p:nvPicPr>
        <p:blipFill>
          <a:blip r:embed="rId2"/>
          <a:stretch>
            <a:fillRect/>
          </a:stretch>
        </p:blipFill>
        <p:spPr>
          <a:xfrm>
            <a:off x="4560205" y="3495142"/>
            <a:ext cx="7200051" cy="3262523"/>
          </a:xfrm>
          <a:prstGeom prst="rect">
            <a:avLst/>
          </a:prstGeom>
        </p:spPr>
      </p:pic>
      <p:sp>
        <p:nvSpPr>
          <p:cNvPr id="7" name="文本框 6">
            <a:extLst>
              <a:ext uri="{FF2B5EF4-FFF2-40B4-BE49-F238E27FC236}">
                <a16:creationId xmlns:a16="http://schemas.microsoft.com/office/drawing/2014/main" id="{EE3370D0-1EE5-4190-9772-406BC099B40B}"/>
              </a:ext>
            </a:extLst>
          </p:cNvPr>
          <p:cNvSpPr txBox="1"/>
          <p:nvPr/>
        </p:nvSpPr>
        <p:spPr>
          <a:xfrm>
            <a:off x="909758" y="4688041"/>
            <a:ext cx="1172116" cy="369332"/>
          </a:xfrm>
          <a:prstGeom prst="rect">
            <a:avLst/>
          </a:prstGeom>
          <a:noFill/>
        </p:spPr>
        <p:txBody>
          <a:bodyPr wrap="none" rtlCol="0">
            <a:spAutoFit/>
          </a:bodyPr>
          <a:lstStyle/>
          <a:p>
            <a:r>
              <a:rPr lang="zh-CN" altLang="en-US" dirty="0"/>
              <a:t>详见例</a:t>
            </a:r>
            <a:r>
              <a:rPr lang="en-US" altLang="zh-CN" dirty="0"/>
              <a:t>5.3</a:t>
            </a:r>
          </a:p>
        </p:txBody>
      </p:sp>
    </p:spTree>
    <p:extLst>
      <p:ext uri="{BB962C8B-B14F-4D97-AF65-F5344CB8AC3E}">
        <p14:creationId xmlns:p14="http://schemas.microsoft.com/office/powerpoint/2010/main" val="1299635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非线性趋势预测模型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9287818" cy="1754326"/>
          </a:xfrm>
          <a:prstGeom prst="rect">
            <a:avLst/>
          </a:prstGeom>
          <a:noFill/>
        </p:spPr>
        <p:txBody>
          <a:bodyPr wrap="square" rtlCol="0">
            <a:spAutoFit/>
          </a:bodyPr>
          <a:lstStyle/>
          <a:p>
            <a:r>
              <a:rPr lang="zh-CN" altLang="en-US" b="1" dirty="0"/>
              <a:t>没太多好说的，书上的例题</a:t>
            </a:r>
            <a:r>
              <a:rPr lang="en-US" altLang="zh-CN" b="1" dirty="0"/>
              <a:t>5.4</a:t>
            </a:r>
            <a:r>
              <a:rPr lang="zh-CN" altLang="en-US" b="1" dirty="0"/>
              <a:t>是绘图，添加趋势线，选择多项式，提高阶数，直到</a:t>
            </a:r>
            <a:r>
              <a:rPr lang="en-US" altLang="zh-CN" b="1" dirty="0"/>
              <a:t>R^2</a:t>
            </a:r>
            <a:r>
              <a:rPr lang="zh-CN" altLang="en-US" b="1" dirty="0"/>
              <a:t>绝对值提升不显著，甚至下降为止，即为最佳的非线性预测模型</a:t>
            </a:r>
            <a:endParaRPr lang="en-US" altLang="zh-CN" b="1" dirty="0"/>
          </a:p>
          <a:p>
            <a:endParaRPr lang="en-US" altLang="zh-CN" b="1" dirty="0"/>
          </a:p>
          <a:p>
            <a:r>
              <a:rPr lang="zh-CN" altLang="en-US" b="1" dirty="0"/>
              <a:t>严谨的方法是利用第六章的知识，使用数据分析，依次从比较高的阶次（比如这里是从</a:t>
            </a:r>
            <a:r>
              <a:rPr lang="en-US" altLang="zh-CN" b="1" dirty="0"/>
              <a:t>4</a:t>
            </a:r>
            <a:r>
              <a:rPr lang="zh-CN" altLang="en-US" b="1" dirty="0"/>
              <a:t>次多项式开始，因为</a:t>
            </a:r>
            <a:r>
              <a:rPr lang="en-US" altLang="zh-CN" b="1" dirty="0"/>
              <a:t>4</a:t>
            </a:r>
            <a:r>
              <a:rPr lang="zh-CN" altLang="en-US" b="1" dirty="0"/>
              <a:t>次多项式回归的</a:t>
            </a:r>
            <a:r>
              <a:rPr lang="en-US" altLang="zh-CN" b="1" dirty="0"/>
              <a:t>R^2</a:t>
            </a:r>
            <a:r>
              <a:rPr lang="zh-CN" altLang="en-US" b="1" dirty="0"/>
              <a:t>相比</a:t>
            </a:r>
            <a:r>
              <a:rPr lang="en-US" altLang="zh-CN" b="1" dirty="0"/>
              <a:t>3</a:t>
            </a:r>
            <a:r>
              <a:rPr lang="zh-CN" altLang="en-US" b="1" dirty="0"/>
              <a:t>次有降低）开始做回归分析，观察</a:t>
            </a:r>
            <a:r>
              <a:rPr lang="en-US" altLang="zh-CN" b="1" dirty="0"/>
              <a:t>p</a:t>
            </a:r>
            <a:r>
              <a:rPr lang="zh-CN" altLang="en-US" b="1" dirty="0"/>
              <a:t>值，如果有</a:t>
            </a:r>
            <a:r>
              <a:rPr lang="en-US" altLang="zh-CN" b="1" dirty="0"/>
              <a:t>p</a:t>
            </a:r>
            <a:r>
              <a:rPr lang="zh-CN" altLang="en-US" b="1" dirty="0"/>
              <a:t>值</a:t>
            </a:r>
            <a:r>
              <a:rPr lang="en-US" altLang="zh-CN" b="1" dirty="0"/>
              <a:t>&gt;0.05</a:t>
            </a:r>
            <a:r>
              <a:rPr lang="zh-CN" altLang="en-US" b="1" dirty="0"/>
              <a:t>的，那就降低阶次。</a:t>
            </a:r>
          </a:p>
        </p:txBody>
      </p:sp>
      <p:pic>
        <p:nvPicPr>
          <p:cNvPr id="11" name="图片 10">
            <a:extLst>
              <a:ext uri="{FF2B5EF4-FFF2-40B4-BE49-F238E27FC236}">
                <a16:creationId xmlns:a16="http://schemas.microsoft.com/office/drawing/2014/main" id="{B8580B33-6232-4AB6-AFF2-2E0A7A649E1F}"/>
              </a:ext>
            </a:extLst>
          </p:cNvPr>
          <p:cNvPicPr>
            <a:picLocks noChangeAspect="1"/>
          </p:cNvPicPr>
          <p:nvPr/>
        </p:nvPicPr>
        <p:blipFill>
          <a:blip r:embed="rId2"/>
          <a:stretch>
            <a:fillRect/>
          </a:stretch>
        </p:blipFill>
        <p:spPr>
          <a:xfrm>
            <a:off x="171452" y="3377748"/>
            <a:ext cx="3783124" cy="2299152"/>
          </a:xfrm>
          <a:prstGeom prst="rect">
            <a:avLst/>
          </a:prstGeom>
        </p:spPr>
      </p:pic>
      <p:sp>
        <p:nvSpPr>
          <p:cNvPr id="12" name="文本框 11">
            <a:extLst>
              <a:ext uri="{FF2B5EF4-FFF2-40B4-BE49-F238E27FC236}">
                <a16:creationId xmlns:a16="http://schemas.microsoft.com/office/drawing/2014/main" id="{EE4EC512-59F5-4C57-A938-4B6572DD8F5B}"/>
              </a:ext>
            </a:extLst>
          </p:cNvPr>
          <p:cNvSpPr txBox="1"/>
          <p:nvPr/>
        </p:nvSpPr>
        <p:spPr>
          <a:xfrm>
            <a:off x="171452" y="5754720"/>
            <a:ext cx="3741730" cy="276999"/>
          </a:xfrm>
          <a:prstGeom prst="rect">
            <a:avLst/>
          </a:prstGeom>
          <a:noFill/>
        </p:spPr>
        <p:txBody>
          <a:bodyPr wrap="none" rtlCol="0">
            <a:spAutoFit/>
          </a:bodyPr>
          <a:lstStyle/>
          <a:p>
            <a:r>
              <a:rPr lang="en-US" altLang="zh-CN" sz="1200" dirty="0"/>
              <a:t>4</a:t>
            </a:r>
            <a:r>
              <a:rPr lang="zh-CN" altLang="en-US" sz="1200" dirty="0"/>
              <a:t>次多项式回归中有</a:t>
            </a:r>
            <a:r>
              <a:rPr lang="en-US" altLang="zh-CN" sz="1200" dirty="0"/>
              <a:t>p</a:t>
            </a:r>
            <a:r>
              <a:rPr lang="zh-CN" altLang="en-US" sz="1200" dirty="0"/>
              <a:t>值</a:t>
            </a:r>
            <a:r>
              <a:rPr lang="en-US" altLang="zh-CN" sz="1200" dirty="0"/>
              <a:t>&gt;0.05</a:t>
            </a:r>
            <a:r>
              <a:rPr lang="zh-CN" altLang="en-US" sz="1200" dirty="0"/>
              <a:t>项，降为</a:t>
            </a:r>
            <a:r>
              <a:rPr lang="en-US" altLang="zh-CN" sz="1200" dirty="0"/>
              <a:t>3</a:t>
            </a:r>
            <a:r>
              <a:rPr lang="zh-CN" altLang="en-US" sz="1200" dirty="0"/>
              <a:t>次多项式回归</a:t>
            </a:r>
          </a:p>
        </p:txBody>
      </p:sp>
      <p:pic>
        <p:nvPicPr>
          <p:cNvPr id="14" name="图片 13">
            <a:extLst>
              <a:ext uri="{FF2B5EF4-FFF2-40B4-BE49-F238E27FC236}">
                <a16:creationId xmlns:a16="http://schemas.microsoft.com/office/drawing/2014/main" id="{43023EBE-CD11-4F77-8EB9-2ED21060CCB8}"/>
              </a:ext>
            </a:extLst>
          </p:cNvPr>
          <p:cNvPicPr>
            <a:picLocks noChangeAspect="1"/>
          </p:cNvPicPr>
          <p:nvPr/>
        </p:nvPicPr>
        <p:blipFill>
          <a:blip r:embed="rId3"/>
          <a:stretch>
            <a:fillRect/>
          </a:stretch>
        </p:blipFill>
        <p:spPr>
          <a:xfrm>
            <a:off x="4196409" y="3429000"/>
            <a:ext cx="3984996" cy="2299152"/>
          </a:xfrm>
          <a:prstGeom prst="rect">
            <a:avLst/>
          </a:prstGeom>
        </p:spPr>
      </p:pic>
      <p:sp>
        <p:nvSpPr>
          <p:cNvPr id="15" name="文本框 14">
            <a:extLst>
              <a:ext uri="{FF2B5EF4-FFF2-40B4-BE49-F238E27FC236}">
                <a16:creationId xmlns:a16="http://schemas.microsoft.com/office/drawing/2014/main" id="{0BA229FA-3042-4D72-8031-0C67ABB82400}"/>
              </a:ext>
            </a:extLst>
          </p:cNvPr>
          <p:cNvSpPr txBox="1"/>
          <p:nvPr/>
        </p:nvSpPr>
        <p:spPr>
          <a:xfrm>
            <a:off x="4171944" y="5747530"/>
            <a:ext cx="3741730" cy="276999"/>
          </a:xfrm>
          <a:prstGeom prst="rect">
            <a:avLst/>
          </a:prstGeom>
          <a:noFill/>
        </p:spPr>
        <p:txBody>
          <a:bodyPr wrap="none" rtlCol="0">
            <a:spAutoFit/>
          </a:bodyPr>
          <a:lstStyle/>
          <a:p>
            <a:r>
              <a:rPr lang="en-US" altLang="zh-CN" sz="1200" dirty="0"/>
              <a:t>3</a:t>
            </a:r>
            <a:r>
              <a:rPr lang="zh-CN" altLang="en-US" sz="1200" dirty="0"/>
              <a:t>次多项式回归中有</a:t>
            </a:r>
            <a:r>
              <a:rPr lang="en-US" altLang="zh-CN" sz="1200" dirty="0"/>
              <a:t>p</a:t>
            </a:r>
            <a:r>
              <a:rPr lang="zh-CN" altLang="en-US" sz="1200" dirty="0"/>
              <a:t>值</a:t>
            </a:r>
            <a:r>
              <a:rPr lang="en-US" altLang="zh-CN" sz="1200" dirty="0"/>
              <a:t>&gt;0.05</a:t>
            </a:r>
            <a:r>
              <a:rPr lang="zh-CN" altLang="en-US" sz="1200" dirty="0"/>
              <a:t>项，降为</a:t>
            </a:r>
            <a:r>
              <a:rPr lang="en-US" altLang="zh-CN" sz="1200" dirty="0"/>
              <a:t>2</a:t>
            </a:r>
            <a:r>
              <a:rPr lang="zh-CN" altLang="en-US" sz="1200" dirty="0"/>
              <a:t>次多项式回归</a:t>
            </a:r>
          </a:p>
        </p:txBody>
      </p:sp>
      <p:pic>
        <p:nvPicPr>
          <p:cNvPr id="17" name="图片 16">
            <a:extLst>
              <a:ext uri="{FF2B5EF4-FFF2-40B4-BE49-F238E27FC236}">
                <a16:creationId xmlns:a16="http://schemas.microsoft.com/office/drawing/2014/main" id="{6D963165-06E3-4326-B56A-0637B4CC38CB}"/>
              </a:ext>
            </a:extLst>
          </p:cNvPr>
          <p:cNvPicPr>
            <a:picLocks noChangeAspect="1"/>
          </p:cNvPicPr>
          <p:nvPr/>
        </p:nvPicPr>
        <p:blipFill>
          <a:blip r:embed="rId4"/>
          <a:stretch>
            <a:fillRect/>
          </a:stretch>
        </p:blipFill>
        <p:spPr>
          <a:xfrm>
            <a:off x="8181405" y="3377748"/>
            <a:ext cx="4010595" cy="2204459"/>
          </a:xfrm>
          <a:prstGeom prst="rect">
            <a:avLst/>
          </a:prstGeom>
        </p:spPr>
      </p:pic>
      <p:sp>
        <p:nvSpPr>
          <p:cNvPr id="18" name="文本框 17">
            <a:extLst>
              <a:ext uri="{FF2B5EF4-FFF2-40B4-BE49-F238E27FC236}">
                <a16:creationId xmlns:a16="http://schemas.microsoft.com/office/drawing/2014/main" id="{B419961A-0759-4735-AF27-6301D0D0CD0A}"/>
              </a:ext>
            </a:extLst>
          </p:cNvPr>
          <p:cNvSpPr txBox="1"/>
          <p:nvPr/>
        </p:nvSpPr>
        <p:spPr>
          <a:xfrm>
            <a:off x="8402643" y="5765444"/>
            <a:ext cx="3198311" cy="276999"/>
          </a:xfrm>
          <a:prstGeom prst="rect">
            <a:avLst/>
          </a:prstGeom>
          <a:noFill/>
        </p:spPr>
        <p:txBody>
          <a:bodyPr wrap="none" rtlCol="0">
            <a:spAutoFit/>
          </a:bodyPr>
          <a:lstStyle/>
          <a:p>
            <a:r>
              <a:rPr lang="en-US" altLang="zh-CN" sz="1200" b="1" dirty="0"/>
              <a:t>2</a:t>
            </a:r>
            <a:r>
              <a:rPr lang="zh-CN" altLang="en-US" sz="1200" b="1" dirty="0"/>
              <a:t>次多项式回归中</a:t>
            </a:r>
            <a:r>
              <a:rPr lang="en-US" altLang="zh-CN" sz="1200" b="1" dirty="0"/>
              <a:t>p</a:t>
            </a:r>
            <a:r>
              <a:rPr lang="zh-CN" altLang="en-US" sz="1200" b="1" dirty="0"/>
              <a:t>值都</a:t>
            </a:r>
            <a:r>
              <a:rPr lang="en-US" altLang="zh-CN" sz="1200" b="1" dirty="0"/>
              <a:t>&lt;0.05</a:t>
            </a:r>
            <a:r>
              <a:rPr lang="zh-CN" altLang="en-US" sz="1200" b="1" dirty="0"/>
              <a:t>，接受这个模型</a:t>
            </a:r>
          </a:p>
        </p:txBody>
      </p:sp>
      <p:cxnSp>
        <p:nvCxnSpPr>
          <p:cNvPr id="20" name="直接箭头连接符 19">
            <a:extLst>
              <a:ext uri="{FF2B5EF4-FFF2-40B4-BE49-F238E27FC236}">
                <a16:creationId xmlns:a16="http://schemas.microsoft.com/office/drawing/2014/main" id="{FC6BCE44-0440-4AD0-AE8A-701ACF983E63}"/>
              </a:ext>
            </a:extLst>
          </p:cNvPr>
          <p:cNvCxnSpPr>
            <a:cxnSpLocks/>
          </p:cNvCxnSpPr>
          <p:nvPr/>
        </p:nvCxnSpPr>
        <p:spPr>
          <a:xfrm>
            <a:off x="3633788" y="4429125"/>
            <a:ext cx="80486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4467D915-E52A-4CDF-A1B5-DEAB0E1A2799}"/>
              </a:ext>
            </a:extLst>
          </p:cNvPr>
          <p:cNvCxnSpPr>
            <a:cxnSpLocks/>
          </p:cNvCxnSpPr>
          <p:nvPr/>
        </p:nvCxnSpPr>
        <p:spPr>
          <a:xfrm>
            <a:off x="7720013" y="4414837"/>
            <a:ext cx="80486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122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季节指数预测模型 </a:t>
            </a:r>
            <a:r>
              <a:rPr lang="en-US" altLang="zh-CN" sz="3200" b="1" dirty="0">
                <a:solidFill>
                  <a:srgbClr val="000000"/>
                </a:solidFill>
                <a:latin typeface="等线" panose="02010600030101010101" pitchFamily="2" charset="-122"/>
                <a:ea typeface="等线" panose="02010600030101010101" pitchFamily="2" charset="-122"/>
              </a:rPr>
              <a:t>Y=</a:t>
            </a:r>
            <a:r>
              <a:rPr lang="zh-CN" altLang="en-US" sz="3200" b="1" dirty="0">
                <a:solidFill>
                  <a:srgbClr val="000000"/>
                </a:solidFill>
                <a:latin typeface="等线" panose="02010600030101010101" pitchFamily="2" charset="-122"/>
                <a:ea typeface="等线" panose="02010600030101010101" pitchFamily="2" charset="-122"/>
              </a:rPr>
              <a:t>趋势成分</a:t>
            </a:r>
            <a:r>
              <a:rPr lang="en-US" altLang="zh-CN" sz="3200" b="1" dirty="0">
                <a:solidFill>
                  <a:srgbClr val="000000"/>
                </a:solidFill>
                <a:latin typeface="等线" panose="02010600030101010101" pitchFamily="2" charset="-122"/>
                <a:ea typeface="等线" panose="02010600030101010101" pitchFamily="2" charset="-122"/>
              </a:rPr>
              <a:t>*</a:t>
            </a:r>
            <a:r>
              <a:rPr lang="zh-CN" altLang="en-US" sz="3200" b="1" dirty="0">
                <a:solidFill>
                  <a:srgbClr val="000000"/>
                </a:solidFill>
                <a:latin typeface="等线" panose="02010600030101010101" pitchFamily="2" charset="-122"/>
                <a:ea typeface="等线" panose="02010600030101010101" pitchFamily="2" charset="-122"/>
              </a:rPr>
              <a:t>不规则成分</a:t>
            </a:r>
            <a:r>
              <a:rPr lang="en-US" altLang="zh-CN" sz="3200" b="1" dirty="0">
                <a:solidFill>
                  <a:srgbClr val="000000"/>
                </a:solidFill>
                <a:latin typeface="等线" panose="02010600030101010101" pitchFamily="2" charset="-122"/>
                <a:ea typeface="等线" panose="02010600030101010101" pitchFamily="2" charset="-122"/>
              </a:rPr>
              <a:t>*</a:t>
            </a:r>
            <a:r>
              <a:rPr lang="zh-CN" altLang="en-US" sz="3200" b="1" dirty="0">
                <a:solidFill>
                  <a:srgbClr val="000000"/>
                </a:solidFill>
                <a:latin typeface="等线" panose="02010600030101010101" pitchFamily="2" charset="-122"/>
                <a:ea typeface="等线" panose="02010600030101010101" pitchFamily="2" charset="-122"/>
              </a:rPr>
              <a:t>季节成分</a:t>
            </a:r>
            <a:endParaRPr lang="zh-CN" altLang="en-US" sz="7200" b="1"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1. </a:t>
            </a:r>
            <a:r>
              <a:rPr lang="zh-CN" altLang="en-US" b="1" dirty="0"/>
              <a:t>如果题目没告诉我们季节模式长度，那就先使用 </a:t>
            </a:r>
            <a:r>
              <a:rPr lang="en-US" altLang="zh-CN" b="1" dirty="0"/>
              <a:t>FORECAST.ETS.SEASONALITY(y, x)</a:t>
            </a:r>
            <a:r>
              <a:rPr lang="zh-CN" altLang="en-US" b="1" dirty="0"/>
              <a:t> 季节模式长度 </a:t>
            </a:r>
          </a:p>
        </p:txBody>
      </p:sp>
      <p:pic>
        <p:nvPicPr>
          <p:cNvPr id="4" name="图片 3">
            <a:extLst>
              <a:ext uri="{FF2B5EF4-FFF2-40B4-BE49-F238E27FC236}">
                <a16:creationId xmlns:a16="http://schemas.microsoft.com/office/drawing/2014/main" id="{415D42E8-1243-4EFA-8FCC-EA0E769DC930}"/>
              </a:ext>
            </a:extLst>
          </p:cNvPr>
          <p:cNvPicPr>
            <a:picLocks noChangeAspect="1"/>
          </p:cNvPicPr>
          <p:nvPr/>
        </p:nvPicPr>
        <p:blipFill>
          <a:blip r:embed="rId2"/>
          <a:stretch>
            <a:fillRect/>
          </a:stretch>
        </p:blipFill>
        <p:spPr>
          <a:xfrm>
            <a:off x="1828800" y="1830729"/>
            <a:ext cx="8650514" cy="4161634"/>
          </a:xfrm>
          <a:prstGeom prst="rect">
            <a:avLst/>
          </a:prstGeom>
        </p:spPr>
      </p:pic>
      <p:sp>
        <p:nvSpPr>
          <p:cNvPr id="5" name="文本框 4">
            <a:extLst>
              <a:ext uri="{FF2B5EF4-FFF2-40B4-BE49-F238E27FC236}">
                <a16:creationId xmlns:a16="http://schemas.microsoft.com/office/drawing/2014/main" id="{E46AA09A-A367-44EC-AEB4-21244E77F670}"/>
              </a:ext>
            </a:extLst>
          </p:cNvPr>
          <p:cNvSpPr txBox="1"/>
          <p:nvPr/>
        </p:nvSpPr>
        <p:spPr>
          <a:xfrm>
            <a:off x="3657600" y="6177967"/>
            <a:ext cx="5133136" cy="369332"/>
          </a:xfrm>
          <a:prstGeom prst="rect">
            <a:avLst/>
          </a:prstGeom>
          <a:noFill/>
        </p:spPr>
        <p:txBody>
          <a:bodyPr wrap="none" rtlCol="0">
            <a:spAutoFit/>
          </a:bodyPr>
          <a:lstStyle/>
          <a:p>
            <a:r>
              <a:rPr lang="zh-CN" altLang="en-US" dirty="0"/>
              <a:t>注意这里公式里的</a:t>
            </a:r>
            <a:r>
              <a:rPr lang="en-US" altLang="zh-CN" dirty="0"/>
              <a:t>x</a:t>
            </a:r>
            <a:r>
              <a:rPr lang="zh-CN" altLang="en-US" dirty="0"/>
              <a:t>选年这一列而不是周期这一列</a:t>
            </a:r>
          </a:p>
        </p:txBody>
      </p:sp>
    </p:spTree>
    <p:extLst>
      <p:ext uri="{BB962C8B-B14F-4D97-AF65-F5344CB8AC3E}">
        <p14:creationId xmlns:p14="http://schemas.microsoft.com/office/powerpoint/2010/main" val="1431876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646331"/>
          </a:xfrm>
          <a:prstGeom prst="rect">
            <a:avLst/>
          </a:prstGeom>
          <a:noFill/>
        </p:spPr>
        <p:txBody>
          <a:bodyPr wrap="square" rtlCol="0">
            <a:spAutoFit/>
          </a:bodyPr>
          <a:lstStyle/>
          <a:p>
            <a:r>
              <a:rPr lang="en-US" altLang="zh-CN" b="1" dirty="0"/>
              <a:t>2. </a:t>
            </a:r>
            <a:r>
              <a:rPr lang="zh-CN" altLang="en-US" b="1" dirty="0"/>
              <a:t>可以使用数据透视表汇总计算各月的平均值，也可以使用</a:t>
            </a:r>
            <a:r>
              <a:rPr lang="en-US" altLang="zh-CN" b="1" dirty="0"/>
              <a:t>average</a:t>
            </a:r>
            <a:r>
              <a:rPr lang="zh-CN" altLang="en-US" b="1" dirty="0"/>
              <a:t>手工计算，之后计算所有月的平均值得到了季节指数</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13" name="图片 12">
            <a:extLst>
              <a:ext uri="{FF2B5EF4-FFF2-40B4-BE49-F238E27FC236}">
                <a16:creationId xmlns:a16="http://schemas.microsoft.com/office/drawing/2014/main" id="{7B66C093-AF09-4B93-91C7-157FECADBABC}"/>
              </a:ext>
            </a:extLst>
          </p:cNvPr>
          <p:cNvPicPr>
            <a:picLocks noChangeAspect="1"/>
          </p:cNvPicPr>
          <p:nvPr/>
        </p:nvPicPr>
        <p:blipFill>
          <a:blip r:embed="rId2"/>
          <a:stretch>
            <a:fillRect/>
          </a:stretch>
        </p:blipFill>
        <p:spPr>
          <a:xfrm>
            <a:off x="1857829" y="2215358"/>
            <a:ext cx="8650514" cy="4161634"/>
          </a:xfrm>
          <a:prstGeom prst="rect">
            <a:avLst/>
          </a:prstGeom>
        </p:spPr>
      </p:pic>
    </p:spTree>
    <p:extLst>
      <p:ext uri="{BB962C8B-B14F-4D97-AF65-F5344CB8AC3E}">
        <p14:creationId xmlns:p14="http://schemas.microsoft.com/office/powerpoint/2010/main" val="1071412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3. </a:t>
            </a:r>
            <a:r>
              <a:rPr lang="zh-CN" altLang="en-US" b="1" dirty="0"/>
              <a:t>将真实值</a:t>
            </a:r>
            <a:r>
              <a:rPr lang="en-US" altLang="zh-CN" b="1" dirty="0"/>
              <a:t>y</a:t>
            </a:r>
            <a:r>
              <a:rPr lang="zh-CN" altLang="en-US" b="1" dirty="0"/>
              <a:t>中的季节成分除去，得到趋势值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9" name="图片 8">
            <a:extLst>
              <a:ext uri="{FF2B5EF4-FFF2-40B4-BE49-F238E27FC236}">
                <a16:creationId xmlns:a16="http://schemas.microsoft.com/office/drawing/2014/main" id="{549F29FC-5A16-49F0-A7BD-17290D5E37A0}"/>
              </a:ext>
            </a:extLst>
          </p:cNvPr>
          <p:cNvPicPr>
            <a:picLocks noChangeAspect="1"/>
          </p:cNvPicPr>
          <p:nvPr/>
        </p:nvPicPr>
        <p:blipFill>
          <a:blip r:embed="rId2"/>
          <a:stretch>
            <a:fillRect/>
          </a:stretch>
        </p:blipFill>
        <p:spPr>
          <a:xfrm>
            <a:off x="1901372" y="2082623"/>
            <a:ext cx="8997540" cy="3905331"/>
          </a:xfrm>
          <a:prstGeom prst="rect">
            <a:avLst/>
          </a:prstGeom>
        </p:spPr>
      </p:pic>
    </p:spTree>
    <p:extLst>
      <p:ext uri="{BB962C8B-B14F-4D97-AF65-F5344CB8AC3E}">
        <p14:creationId xmlns:p14="http://schemas.microsoft.com/office/powerpoint/2010/main" val="870590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3. </a:t>
            </a:r>
            <a:r>
              <a:rPr lang="zh-CN" altLang="en-US" b="1" dirty="0"/>
              <a:t>将真实值</a:t>
            </a:r>
            <a:r>
              <a:rPr lang="en-US" altLang="zh-CN" b="1" dirty="0"/>
              <a:t>y</a:t>
            </a:r>
            <a:r>
              <a:rPr lang="zh-CN" altLang="en-US" b="1" dirty="0"/>
              <a:t>中的季节成分除去，得到趋势值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9" name="图片 8">
            <a:extLst>
              <a:ext uri="{FF2B5EF4-FFF2-40B4-BE49-F238E27FC236}">
                <a16:creationId xmlns:a16="http://schemas.microsoft.com/office/drawing/2014/main" id="{549F29FC-5A16-49F0-A7BD-17290D5E37A0}"/>
              </a:ext>
            </a:extLst>
          </p:cNvPr>
          <p:cNvPicPr>
            <a:picLocks noChangeAspect="1"/>
          </p:cNvPicPr>
          <p:nvPr/>
        </p:nvPicPr>
        <p:blipFill>
          <a:blip r:embed="rId2"/>
          <a:stretch>
            <a:fillRect/>
          </a:stretch>
        </p:blipFill>
        <p:spPr>
          <a:xfrm>
            <a:off x="1901372" y="2082623"/>
            <a:ext cx="8997540" cy="3905331"/>
          </a:xfrm>
          <a:prstGeom prst="rect">
            <a:avLst/>
          </a:prstGeom>
        </p:spPr>
      </p:pic>
    </p:spTree>
    <p:extLst>
      <p:ext uri="{BB962C8B-B14F-4D97-AF65-F5344CB8AC3E}">
        <p14:creationId xmlns:p14="http://schemas.microsoft.com/office/powerpoint/2010/main" val="40454603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4. </a:t>
            </a:r>
            <a:r>
              <a:rPr lang="zh-CN" altLang="en-US" b="1" dirty="0"/>
              <a:t>使用 </a:t>
            </a:r>
            <a:r>
              <a:rPr lang="en-US" altLang="zh-CN" b="1" dirty="0"/>
              <a:t>FORECAST.LINEAR </a:t>
            </a:r>
            <a:r>
              <a:rPr lang="zh-CN" altLang="en-US" b="1" dirty="0"/>
              <a:t>函数计算趋势值的预测值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3" name="图片 2">
            <a:extLst>
              <a:ext uri="{FF2B5EF4-FFF2-40B4-BE49-F238E27FC236}">
                <a16:creationId xmlns:a16="http://schemas.microsoft.com/office/drawing/2014/main" id="{AC4AC391-796C-4167-A2D4-49873FF0D530}"/>
              </a:ext>
            </a:extLst>
          </p:cNvPr>
          <p:cNvPicPr>
            <a:picLocks noChangeAspect="1"/>
          </p:cNvPicPr>
          <p:nvPr/>
        </p:nvPicPr>
        <p:blipFill>
          <a:blip r:embed="rId2"/>
          <a:stretch>
            <a:fillRect/>
          </a:stretch>
        </p:blipFill>
        <p:spPr>
          <a:xfrm>
            <a:off x="2997200" y="1940260"/>
            <a:ext cx="6867668" cy="4483577"/>
          </a:xfrm>
          <a:prstGeom prst="rect">
            <a:avLst/>
          </a:prstGeom>
        </p:spPr>
      </p:pic>
    </p:spTree>
    <p:extLst>
      <p:ext uri="{BB962C8B-B14F-4D97-AF65-F5344CB8AC3E}">
        <p14:creationId xmlns:p14="http://schemas.microsoft.com/office/powerpoint/2010/main" val="26684583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5. </a:t>
            </a:r>
            <a:r>
              <a:rPr lang="zh-CN" altLang="en-US" b="1" dirty="0"/>
              <a:t>最后乘上季节成分，我们就得到了预测值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4" name="图片 3">
            <a:extLst>
              <a:ext uri="{FF2B5EF4-FFF2-40B4-BE49-F238E27FC236}">
                <a16:creationId xmlns:a16="http://schemas.microsoft.com/office/drawing/2014/main" id="{E06C45A1-FBBF-4A5E-A939-A80883C48D2E}"/>
              </a:ext>
            </a:extLst>
          </p:cNvPr>
          <p:cNvPicPr>
            <a:picLocks noChangeAspect="1"/>
          </p:cNvPicPr>
          <p:nvPr/>
        </p:nvPicPr>
        <p:blipFill>
          <a:blip r:embed="rId2"/>
          <a:stretch>
            <a:fillRect/>
          </a:stretch>
        </p:blipFill>
        <p:spPr>
          <a:xfrm>
            <a:off x="761999" y="1976377"/>
            <a:ext cx="5721941" cy="4594078"/>
          </a:xfrm>
          <a:prstGeom prst="rect">
            <a:avLst/>
          </a:prstGeom>
        </p:spPr>
      </p:pic>
      <p:pic>
        <p:nvPicPr>
          <p:cNvPr id="6" name="图片 5">
            <a:extLst>
              <a:ext uri="{FF2B5EF4-FFF2-40B4-BE49-F238E27FC236}">
                <a16:creationId xmlns:a16="http://schemas.microsoft.com/office/drawing/2014/main" id="{E8139934-B9AB-437B-9468-BEA36FA2BB5F}"/>
              </a:ext>
            </a:extLst>
          </p:cNvPr>
          <p:cNvPicPr>
            <a:picLocks noChangeAspect="1"/>
          </p:cNvPicPr>
          <p:nvPr/>
        </p:nvPicPr>
        <p:blipFill>
          <a:blip r:embed="rId3"/>
          <a:stretch>
            <a:fillRect/>
          </a:stretch>
        </p:blipFill>
        <p:spPr>
          <a:xfrm>
            <a:off x="6770330" y="2448486"/>
            <a:ext cx="4805398" cy="2919434"/>
          </a:xfrm>
          <a:prstGeom prst="rect">
            <a:avLst/>
          </a:prstGeom>
        </p:spPr>
      </p:pic>
      <p:sp>
        <p:nvSpPr>
          <p:cNvPr id="7" name="文本框 6">
            <a:extLst>
              <a:ext uri="{FF2B5EF4-FFF2-40B4-BE49-F238E27FC236}">
                <a16:creationId xmlns:a16="http://schemas.microsoft.com/office/drawing/2014/main" id="{26A5B05A-AE41-4808-B399-39257CD5822B}"/>
              </a:ext>
            </a:extLst>
          </p:cNvPr>
          <p:cNvSpPr txBox="1"/>
          <p:nvPr/>
        </p:nvSpPr>
        <p:spPr>
          <a:xfrm>
            <a:off x="7808686" y="5451378"/>
            <a:ext cx="2492990" cy="369332"/>
          </a:xfrm>
          <a:prstGeom prst="rect">
            <a:avLst/>
          </a:prstGeom>
          <a:noFill/>
        </p:spPr>
        <p:txBody>
          <a:bodyPr wrap="none" rtlCol="0">
            <a:spAutoFit/>
          </a:bodyPr>
          <a:lstStyle/>
          <a:p>
            <a:r>
              <a:rPr lang="zh-CN" altLang="en-US" dirty="0"/>
              <a:t>画图验证答案是否正确</a:t>
            </a:r>
          </a:p>
        </p:txBody>
      </p:sp>
    </p:spTree>
    <p:extLst>
      <p:ext uri="{BB962C8B-B14F-4D97-AF65-F5344CB8AC3E}">
        <p14:creationId xmlns:p14="http://schemas.microsoft.com/office/powerpoint/2010/main" val="2991987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5. </a:t>
            </a:r>
            <a:r>
              <a:rPr lang="zh-CN" altLang="en-US" b="1" dirty="0"/>
              <a:t>最后乘上季节成分，我们就得到了预测值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4" name="图片 3">
            <a:extLst>
              <a:ext uri="{FF2B5EF4-FFF2-40B4-BE49-F238E27FC236}">
                <a16:creationId xmlns:a16="http://schemas.microsoft.com/office/drawing/2014/main" id="{E06C45A1-FBBF-4A5E-A939-A80883C48D2E}"/>
              </a:ext>
            </a:extLst>
          </p:cNvPr>
          <p:cNvPicPr>
            <a:picLocks noChangeAspect="1"/>
          </p:cNvPicPr>
          <p:nvPr/>
        </p:nvPicPr>
        <p:blipFill>
          <a:blip r:embed="rId2"/>
          <a:stretch>
            <a:fillRect/>
          </a:stretch>
        </p:blipFill>
        <p:spPr>
          <a:xfrm>
            <a:off x="761999" y="1976377"/>
            <a:ext cx="5721941" cy="4594078"/>
          </a:xfrm>
          <a:prstGeom prst="rect">
            <a:avLst/>
          </a:prstGeom>
        </p:spPr>
      </p:pic>
      <p:pic>
        <p:nvPicPr>
          <p:cNvPr id="6" name="图片 5">
            <a:extLst>
              <a:ext uri="{FF2B5EF4-FFF2-40B4-BE49-F238E27FC236}">
                <a16:creationId xmlns:a16="http://schemas.microsoft.com/office/drawing/2014/main" id="{E8139934-B9AB-437B-9468-BEA36FA2BB5F}"/>
              </a:ext>
            </a:extLst>
          </p:cNvPr>
          <p:cNvPicPr>
            <a:picLocks noChangeAspect="1"/>
          </p:cNvPicPr>
          <p:nvPr/>
        </p:nvPicPr>
        <p:blipFill>
          <a:blip r:embed="rId3"/>
          <a:stretch>
            <a:fillRect/>
          </a:stretch>
        </p:blipFill>
        <p:spPr>
          <a:xfrm>
            <a:off x="6770330" y="2448486"/>
            <a:ext cx="4805398" cy="2919434"/>
          </a:xfrm>
          <a:prstGeom prst="rect">
            <a:avLst/>
          </a:prstGeom>
        </p:spPr>
      </p:pic>
      <p:sp>
        <p:nvSpPr>
          <p:cNvPr id="7" name="文本框 6">
            <a:extLst>
              <a:ext uri="{FF2B5EF4-FFF2-40B4-BE49-F238E27FC236}">
                <a16:creationId xmlns:a16="http://schemas.microsoft.com/office/drawing/2014/main" id="{26A5B05A-AE41-4808-B399-39257CD5822B}"/>
              </a:ext>
            </a:extLst>
          </p:cNvPr>
          <p:cNvSpPr txBox="1"/>
          <p:nvPr/>
        </p:nvSpPr>
        <p:spPr>
          <a:xfrm>
            <a:off x="7808686" y="5451378"/>
            <a:ext cx="2492990" cy="369332"/>
          </a:xfrm>
          <a:prstGeom prst="rect">
            <a:avLst/>
          </a:prstGeom>
          <a:noFill/>
        </p:spPr>
        <p:txBody>
          <a:bodyPr wrap="none" rtlCol="0">
            <a:spAutoFit/>
          </a:bodyPr>
          <a:lstStyle/>
          <a:p>
            <a:r>
              <a:rPr lang="zh-CN" altLang="en-US" dirty="0"/>
              <a:t>画图验证答案是否正确</a:t>
            </a:r>
          </a:p>
        </p:txBody>
      </p:sp>
    </p:spTree>
    <p:extLst>
      <p:ext uri="{BB962C8B-B14F-4D97-AF65-F5344CB8AC3E}">
        <p14:creationId xmlns:p14="http://schemas.microsoft.com/office/powerpoint/2010/main" val="3606446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Part5</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回归分析</a:t>
            </a:r>
            <a:endParaRPr lang="en-US" altLang="zh-CN" dirty="0"/>
          </a:p>
        </p:txBody>
      </p:sp>
    </p:spTree>
    <p:extLst>
      <p:ext uri="{BB962C8B-B14F-4D97-AF65-F5344CB8AC3E}">
        <p14:creationId xmlns:p14="http://schemas.microsoft.com/office/powerpoint/2010/main" val="2030429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规划求解法</a:t>
            </a:r>
            <a:endParaRPr lang="zh-CN" altLang="en-US" sz="7200" b="1" dirty="0"/>
          </a:p>
        </p:txBody>
      </p:sp>
      <p:pic>
        <p:nvPicPr>
          <p:cNvPr id="9" name="图片 8">
            <a:extLst>
              <a:ext uri="{FF2B5EF4-FFF2-40B4-BE49-F238E27FC236}">
                <a16:creationId xmlns:a16="http://schemas.microsoft.com/office/drawing/2014/main" id="{A4AC3D58-3DC9-4960-8246-FC4B407C1C6D}"/>
              </a:ext>
            </a:extLst>
          </p:cNvPr>
          <p:cNvPicPr>
            <a:picLocks noChangeAspect="1"/>
          </p:cNvPicPr>
          <p:nvPr/>
        </p:nvPicPr>
        <p:blipFill>
          <a:blip r:embed="rId2"/>
          <a:stretch>
            <a:fillRect/>
          </a:stretch>
        </p:blipFill>
        <p:spPr>
          <a:xfrm>
            <a:off x="1110049" y="1279977"/>
            <a:ext cx="6987712" cy="4298046"/>
          </a:xfrm>
          <a:prstGeom prst="rect">
            <a:avLst/>
          </a:prstGeom>
        </p:spPr>
      </p:pic>
      <p:sp>
        <p:nvSpPr>
          <p:cNvPr id="2" name="文本框 1">
            <a:extLst>
              <a:ext uri="{FF2B5EF4-FFF2-40B4-BE49-F238E27FC236}">
                <a16:creationId xmlns:a16="http://schemas.microsoft.com/office/drawing/2014/main" id="{CC753DE2-05B2-446E-A123-CC6F537E5710}"/>
              </a:ext>
            </a:extLst>
          </p:cNvPr>
          <p:cNvSpPr txBox="1"/>
          <p:nvPr/>
        </p:nvSpPr>
        <p:spPr>
          <a:xfrm>
            <a:off x="638629" y="6016171"/>
            <a:ext cx="11245386" cy="646331"/>
          </a:xfrm>
          <a:prstGeom prst="rect">
            <a:avLst/>
          </a:prstGeom>
          <a:noFill/>
        </p:spPr>
        <p:txBody>
          <a:bodyPr wrap="none" rtlCol="0">
            <a:spAutoFit/>
          </a:bodyPr>
          <a:lstStyle/>
          <a:p>
            <a:r>
              <a:rPr lang="zh-CN" altLang="en-US" dirty="0"/>
              <a:t>规划求解法需要构建</a:t>
            </a:r>
            <a:r>
              <a:rPr lang="en-US" altLang="zh-CN" dirty="0"/>
              <a:t>a</a:t>
            </a:r>
            <a:r>
              <a:rPr lang="zh-CN" altLang="en-US" dirty="0"/>
              <a:t>、</a:t>
            </a:r>
            <a:r>
              <a:rPr lang="en-US" altLang="zh-CN" dirty="0"/>
              <a:t>b</a:t>
            </a:r>
            <a:r>
              <a:rPr lang="zh-CN" altLang="en-US" dirty="0"/>
              <a:t>两参数与</a:t>
            </a:r>
            <a:r>
              <a:rPr lang="en-US" altLang="zh-CN" dirty="0"/>
              <a:t>MSE</a:t>
            </a:r>
            <a:r>
              <a:rPr lang="zh-CN" altLang="en-US" dirty="0"/>
              <a:t>这个目标函数的关系，在此之后把目标设为</a:t>
            </a:r>
            <a:r>
              <a:rPr lang="en-US" altLang="zh-CN" dirty="0"/>
              <a:t>MSE</a:t>
            </a:r>
            <a:r>
              <a:rPr lang="zh-CN" altLang="en-US" dirty="0"/>
              <a:t>，可变单元格设为</a:t>
            </a:r>
            <a:r>
              <a:rPr lang="en-US" altLang="zh-CN" dirty="0"/>
              <a:t>a</a:t>
            </a:r>
            <a:r>
              <a:rPr lang="zh-CN" altLang="en-US" dirty="0"/>
              <a:t>、</a:t>
            </a:r>
            <a:r>
              <a:rPr lang="en-US" altLang="zh-CN" dirty="0"/>
              <a:t>b</a:t>
            </a:r>
          </a:p>
          <a:p>
            <a:r>
              <a:rPr lang="zh-CN" altLang="en-US" dirty="0"/>
              <a:t>之后直接求解即可</a:t>
            </a:r>
          </a:p>
        </p:txBody>
      </p:sp>
      <p:sp>
        <p:nvSpPr>
          <p:cNvPr id="3" name="文本框 2">
            <a:extLst>
              <a:ext uri="{FF2B5EF4-FFF2-40B4-BE49-F238E27FC236}">
                <a16:creationId xmlns:a16="http://schemas.microsoft.com/office/drawing/2014/main" id="{BB274E87-FB3D-483A-8D4F-EE060E14D04D}"/>
              </a:ext>
            </a:extLst>
          </p:cNvPr>
          <p:cNvSpPr txBox="1"/>
          <p:nvPr/>
        </p:nvSpPr>
        <p:spPr>
          <a:xfrm>
            <a:off x="8220866" y="3105834"/>
            <a:ext cx="3810659" cy="646331"/>
          </a:xfrm>
          <a:prstGeom prst="rect">
            <a:avLst/>
          </a:prstGeom>
          <a:noFill/>
        </p:spPr>
        <p:txBody>
          <a:bodyPr wrap="none" rtlCol="0">
            <a:spAutoFit/>
          </a:bodyPr>
          <a:lstStyle/>
          <a:p>
            <a:r>
              <a:rPr lang="zh-CN" altLang="en-US" dirty="0"/>
              <a:t>注意要关闭“使无约束变量为非负数”</a:t>
            </a:r>
            <a:endParaRPr lang="en-US" altLang="zh-CN" dirty="0"/>
          </a:p>
          <a:p>
            <a:r>
              <a:rPr lang="zh-CN" altLang="en-US" dirty="0"/>
              <a:t>截距与斜率可以是负的</a:t>
            </a:r>
          </a:p>
        </p:txBody>
      </p:sp>
    </p:spTree>
    <p:extLst>
      <p:ext uri="{BB962C8B-B14F-4D97-AF65-F5344CB8AC3E}">
        <p14:creationId xmlns:p14="http://schemas.microsoft.com/office/powerpoint/2010/main" val="3899714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数据分析法</a:t>
            </a:r>
            <a:endParaRPr lang="zh-CN" altLang="en-US" sz="7200" b="1" dirty="0"/>
          </a:p>
        </p:txBody>
      </p:sp>
      <p:sp>
        <p:nvSpPr>
          <p:cNvPr id="2" name="文本框 1">
            <a:extLst>
              <a:ext uri="{FF2B5EF4-FFF2-40B4-BE49-F238E27FC236}">
                <a16:creationId xmlns:a16="http://schemas.microsoft.com/office/drawing/2014/main" id="{CC753DE2-05B2-446E-A123-CC6F537E5710}"/>
              </a:ext>
            </a:extLst>
          </p:cNvPr>
          <p:cNvSpPr txBox="1"/>
          <p:nvPr/>
        </p:nvSpPr>
        <p:spPr>
          <a:xfrm>
            <a:off x="638629" y="6175828"/>
            <a:ext cx="10759677" cy="369332"/>
          </a:xfrm>
          <a:prstGeom prst="rect">
            <a:avLst/>
          </a:prstGeom>
          <a:noFill/>
        </p:spPr>
        <p:txBody>
          <a:bodyPr wrap="none" rtlCol="0">
            <a:spAutoFit/>
          </a:bodyPr>
          <a:lstStyle/>
          <a:p>
            <a:r>
              <a:rPr lang="zh-CN" altLang="en-US" dirty="0"/>
              <a:t>直接填入</a:t>
            </a:r>
            <a:r>
              <a:rPr lang="en-US" altLang="zh-CN" dirty="0"/>
              <a:t>y</a:t>
            </a:r>
            <a:r>
              <a:rPr lang="zh-CN" altLang="en-US" dirty="0"/>
              <a:t>值输入区域以及</a:t>
            </a:r>
            <a:r>
              <a:rPr lang="en-US" altLang="zh-CN" dirty="0"/>
              <a:t>x</a:t>
            </a:r>
            <a:r>
              <a:rPr lang="zh-CN" altLang="en-US" dirty="0"/>
              <a:t>值输入区域即可，如果是非线性的回归比如</a:t>
            </a:r>
            <a:r>
              <a:rPr lang="en-US" altLang="zh-CN" dirty="0"/>
              <a:t>y=</a:t>
            </a:r>
            <a:r>
              <a:rPr lang="en-US" altLang="zh-CN" dirty="0" err="1"/>
              <a:t>ax^b</a:t>
            </a:r>
            <a:r>
              <a:rPr lang="zh-CN" altLang="en-US" dirty="0"/>
              <a:t>，那就取对数，化曲为直</a:t>
            </a:r>
          </a:p>
        </p:txBody>
      </p:sp>
      <p:pic>
        <p:nvPicPr>
          <p:cNvPr id="5" name="图片 4">
            <a:extLst>
              <a:ext uri="{FF2B5EF4-FFF2-40B4-BE49-F238E27FC236}">
                <a16:creationId xmlns:a16="http://schemas.microsoft.com/office/drawing/2014/main" id="{502C7A24-D423-452A-AEDF-539AC847367E}"/>
              </a:ext>
            </a:extLst>
          </p:cNvPr>
          <p:cNvPicPr>
            <a:picLocks noChangeAspect="1"/>
          </p:cNvPicPr>
          <p:nvPr/>
        </p:nvPicPr>
        <p:blipFill>
          <a:blip r:embed="rId2"/>
          <a:stretch>
            <a:fillRect/>
          </a:stretch>
        </p:blipFill>
        <p:spPr>
          <a:xfrm>
            <a:off x="2184401" y="1243389"/>
            <a:ext cx="8737598" cy="4708867"/>
          </a:xfrm>
          <a:prstGeom prst="rect">
            <a:avLst/>
          </a:prstGeom>
        </p:spPr>
      </p:pic>
    </p:spTree>
    <p:extLst>
      <p:ext uri="{BB962C8B-B14F-4D97-AF65-F5344CB8AC3E}">
        <p14:creationId xmlns:p14="http://schemas.microsoft.com/office/powerpoint/2010/main" val="3698245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多元线性回归</a:t>
            </a:r>
            <a:endParaRPr lang="zh-CN" altLang="en-US" sz="7200" b="1" dirty="0"/>
          </a:p>
        </p:txBody>
      </p:sp>
      <p:pic>
        <p:nvPicPr>
          <p:cNvPr id="4" name="图片 3">
            <a:extLst>
              <a:ext uri="{FF2B5EF4-FFF2-40B4-BE49-F238E27FC236}">
                <a16:creationId xmlns:a16="http://schemas.microsoft.com/office/drawing/2014/main" id="{A11F1585-DB4B-405E-8BA3-C400487C6B2C}"/>
              </a:ext>
            </a:extLst>
          </p:cNvPr>
          <p:cNvPicPr>
            <a:picLocks noChangeAspect="1"/>
          </p:cNvPicPr>
          <p:nvPr/>
        </p:nvPicPr>
        <p:blipFill>
          <a:blip r:embed="rId2"/>
          <a:stretch>
            <a:fillRect/>
          </a:stretch>
        </p:blipFill>
        <p:spPr>
          <a:xfrm>
            <a:off x="1778377" y="3027396"/>
            <a:ext cx="8091547" cy="3490938"/>
          </a:xfrm>
          <a:prstGeom prst="rect">
            <a:avLst/>
          </a:prstGeom>
        </p:spPr>
      </p:pic>
      <p:sp>
        <p:nvSpPr>
          <p:cNvPr id="6" name="文本框 5">
            <a:extLst>
              <a:ext uri="{FF2B5EF4-FFF2-40B4-BE49-F238E27FC236}">
                <a16:creationId xmlns:a16="http://schemas.microsoft.com/office/drawing/2014/main" id="{E37EB513-D293-457F-9803-929D20C5514D}"/>
              </a:ext>
            </a:extLst>
          </p:cNvPr>
          <p:cNvSpPr txBox="1"/>
          <p:nvPr/>
        </p:nvSpPr>
        <p:spPr>
          <a:xfrm>
            <a:off x="791029" y="1469286"/>
            <a:ext cx="11389656" cy="1200329"/>
          </a:xfrm>
          <a:prstGeom prst="rect">
            <a:avLst/>
          </a:prstGeom>
          <a:noFill/>
        </p:spPr>
        <p:txBody>
          <a:bodyPr wrap="none" rtlCol="0">
            <a:spAutoFit/>
          </a:bodyPr>
          <a:lstStyle/>
          <a:p>
            <a:r>
              <a:rPr lang="zh-CN" altLang="en-US" dirty="0"/>
              <a:t>先做单变量回归，选择</a:t>
            </a:r>
            <a:r>
              <a:rPr lang="en-US" altLang="zh-CN" dirty="0"/>
              <a:t>R^2</a:t>
            </a:r>
            <a:r>
              <a:rPr lang="zh-CN" altLang="en-US" dirty="0"/>
              <a:t>以及调整后</a:t>
            </a:r>
            <a:r>
              <a:rPr lang="en-US" altLang="zh-CN" dirty="0"/>
              <a:t>R^2</a:t>
            </a:r>
            <a:r>
              <a:rPr lang="zh-CN" altLang="en-US" dirty="0"/>
              <a:t>最大的变量（比如这里我们选择了</a:t>
            </a:r>
            <a:r>
              <a:rPr lang="en-US" altLang="zh-CN" dirty="0"/>
              <a:t>X1</a:t>
            </a:r>
            <a:r>
              <a:rPr lang="zh-CN" altLang="en-US" dirty="0"/>
              <a:t>），之后在</a:t>
            </a:r>
            <a:r>
              <a:rPr lang="en-US" altLang="zh-CN" dirty="0"/>
              <a:t>X1</a:t>
            </a:r>
            <a:r>
              <a:rPr lang="zh-CN" altLang="en-US" dirty="0"/>
              <a:t>基础上，分别做</a:t>
            </a:r>
            <a:endParaRPr lang="en-US" altLang="zh-CN" dirty="0"/>
          </a:p>
          <a:p>
            <a:r>
              <a:rPr lang="en-US" altLang="zh-CN" dirty="0"/>
              <a:t>X1</a:t>
            </a:r>
            <a:r>
              <a:rPr lang="zh-CN" altLang="en-US" dirty="0"/>
              <a:t>与其他变量的二元线性回归，选择选择</a:t>
            </a:r>
            <a:r>
              <a:rPr lang="en-US" altLang="zh-CN" dirty="0"/>
              <a:t>R^2</a:t>
            </a:r>
            <a:r>
              <a:rPr lang="zh-CN" altLang="en-US" dirty="0"/>
              <a:t>以及调整后</a:t>
            </a:r>
            <a:r>
              <a:rPr lang="en-US" altLang="zh-CN" dirty="0"/>
              <a:t>R^2</a:t>
            </a:r>
            <a:r>
              <a:rPr lang="zh-CN" altLang="en-US" dirty="0"/>
              <a:t>最大的变量，以此类推</a:t>
            </a:r>
            <a:r>
              <a:rPr lang="en-US" altLang="zh-CN" dirty="0"/>
              <a:t>……</a:t>
            </a:r>
            <a:r>
              <a:rPr lang="zh-CN" altLang="en-US" dirty="0"/>
              <a:t>直到我们发现在某一个</a:t>
            </a:r>
            <a:endParaRPr lang="en-US" altLang="zh-CN" dirty="0"/>
          </a:p>
          <a:p>
            <a:r>
              <a:rPr lang="zh-CN" altLang="en-US" dirty="0"/>
              <a:t>子集的基础上，无论加入哪一个未参与多元线性回归的变量，都无法提高</a:t>
            </a:r>
            <a:r>
              <a:rPr lang="en-US" altLang="zh-CN" dirty="0"/>
              <a:t>R^2</a:t>
            </a:r>
            <a:r>
              <a:rPr lang="zh-CN" altLang="en-US" dirty="0"/>
              <a:t>以及调整后</a:t>
            </a:r>
            <a:r>
              <a:rPr lang="en-US" altLang="zh-CN" dirty="0"/>
              <a:t>R^2</a:t>
            </a:r>
            <a:r>
              <a:rPr lang="zh-CN" altLang="en-US" dirty="0"/>
              <a:t>，那么当前的子集</a:t>
            </a:r>
            <a:endParaRPr lang="en-US" altLang="zh-CN" dirty="0"/>
          </a:p>
          <a:p>
            <a:r>
              <a:rPr lang="zh-CN" altLang="en-US" dirty="0"/>
              <a:t>就是最优子集。</a:t>
            </a:r>
            <a:endParaRPr lang="en-US" altLang="zh-CN" dirty="0"/>
          </a:p>
        </p:txBody>
      </p:sp>
    </p:spTree>
    <p:extLst>
      <p:ext uri="{BB962C8B-B14F-4D97-AF65-F5344CB8AC3E}">
        <p14:creationId xmlns:p14="http://schemas.microsoft.com/office/powerpoint/2010/main" val="2815422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Part6</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成本管理决策模型</a:t>
            </a:r>
          </a:p>
        </p:txBody>
      </p:sp>
    </p:spTree>
    <p:extLst>
      <p:ext uri="{BB962C8B-B14F-4D97-AF65-F5344CB8AC3E}">
        <p14:creationId xmlns:p14="http://schemas.microsoft.com/office/powerpoint/2010/main" val="2701655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1</a:t>
            </a:r>
            <a:r>
              <a:rPr lang="zh-CN" altLang="en-US" sz="3600" dirty="0"/>
              <a:t>、</a:t>
            </a:r>
            <a:r>
              <a:rPr lang="zh-CN" altLang="zh-CN" sz="3600" dirty="0"/>
              <a:t>本</a:t>
            </a:r>
            <a:r>
              <a:rPr lang="en-US" altLang="zh-CN" sz="3600" dirty="0"/>
              <a:t>-</a:t>
            </a:r>
            <a:r>
              <a:rPr lang="zh-CN" altLang="zh-CN" sz="3600" dirty="0"/>
              <a:t>量</a:t>
            </a:r>
            <a:r>
              <a:rPr lang="en-US" altLang="zh-CN" sz="3600" dirty="0"/>
              <a:t>-</a:t>
            </a:r>
            <a:r>
              <a:rPr lang="zh-CN" altLang="zh-CN" sz="3600" dirty="0"/>
              <a:t>利分析概述</a:t>
            </a:r>
            <a:endParaRPr lang="zh-CN" altLang="en-US" sz="3600" dirty="0"/>
          </a:p>
        </p:txBody>
      </p:sp>
      <p:sp>
        <p:nvSpPr>
          <p:cNvPr id="11" name="文本框 10"/>
          <p:cNvSpPr txBox="1"/>
          <p:nvPr/>
        </p:nvSpPr>
        <p:spPr>
          <a:xfrm>
            <a:off x="815392" y="1764121"/>
            <a:ext cx="10336823" cy="3329758"/>
          </a:xfrm>
          <a:prstGeom prst="rect">
            <a:avLst/>
          </a:prstGeom>
          <a:noFill/>
        </p:spPr>
        <p:txBody>
          <a:bodyPr wrap="square" rtlCol="0">
            <a:spAutoFit/>
          </a:bodyPr>
          <a:lstStyle/>
          <a:p>
            <a:pPr indent="540000">
              <a:lnSpc>
                <a:spcPct val="150000"/>
              </a:lnSpc>
            </a:pP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本—量—利模型为：</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algn="ctr">
              <a:lnSpc>
                <a:spcPct val="150000"/>
              </a:lnSpc>
            </a:pP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p*Q</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V=</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v*Q</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C=F+V</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R-C</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indent="540000">
              <a:lnSpc>
                <a:spcPct val="150000"/>
              </a:lnSpc>
            </a:pP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其中 </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p</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：销售单价；</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Q</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销量</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R</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销售收入</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C</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总成本</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v:</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单位变动成本</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F</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：固定成本；</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利润</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indent="540000">
              <a:lnSpc>
                <a:spcPct val="150000"/>
              </a:lnSpc>
            </a:pP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本—量—利模型可以用</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定量</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公式表示</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成</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利润与销量的关系：</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algn="ctr">
              <a:lnSpc>
                <a:spcPct val="150000"/>
              </a:lnSpc>
            </a:pP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=R-C= p*Q-(</a:t>
            </a:r>
            <a:r>
              <a:rPr lang="en-US" altLang="zh-CN" sz="2400" b="1" dirty="0" err="1">
                <a:solidFill>
                  <a:schemeClr val="tx2">
                    <a:lumMod val="75000"/>
                  </a:schemeClr>
                </a:solidFill>
                <a:latin typeface="宋体" panose="02010600030101010101" pitchFamily="2" charset="-122"/>
                <a:ea typeface="宋体" panose="02010600030101010101" pitchFamily="2" charset="-122"/>
                <a:cs typeface="Times New Roman" pitchFamily="18" charset="0"/>
              </a:rPr>
              <a:t>F+v</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*Q)=(p-v)*Q-F</a:t>
            </a:r>
            <a:endPar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294346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143D86F6-D118-4885-9F35-065CEE24D4AA}"/>
              </a:ext>
            </a:extLst>
          </p:cNvPr>
          <p:cNvSpPr/>
          <p:nvPr/>
        </p:nvSpPr>
        <p:spPr>
          <a:xfrm>
            <a:off x="855884" y="1626577"/>
            <a:ext cx="10436955" cy="33297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边际贡献</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是指产品销售收入减去变动成本后的余额，公式为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(p-v)Q</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单位边际贡献</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是指每销售一件产品所获得的毛利，即边际贡献除以销量，公式为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边际贡献率</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(k)</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是产品的单位边际贡献与销售单价或边际贡献与销售收入之间的比率，公式为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(p-v)/p</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或</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(p-v)Q/R</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也可以表达为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(1-v/p)</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或</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(1-V/R)</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p:txBody>
      </p:sp>
      <p:grpSp>
        <p:nvGrpSpPr>
          <p:cNvPr id="5" name="Group 2"/>
          <p:cNvGrpSpPr>
            <a:grpSpLocks/>
          </p:cNvGrpSpPr>
          <p:nvPr/>
        </p:nvGrpSpPr>
        <p:grpSpPr bwMode="auto">
          <a:xfrm>
            <a:off x="9037319" y="4534307"/>
            <a:ext cx="2033451" cy="1605235"/>
            <a:chOff x="1632" y="1248"/>
            <a:chExt cx="2682" cy="2286"/>
          </a:xfrm>
        </p:grpSpPr>
        <p:sp>
          <p:nvSpPr>
            <p:cNvPr id="6" name="Gear"/>
            <p:cNvSpPr>
              <a:spLocks noEditPoints="1" noChangeArrowheads="1"/>
            </p:cNvSpPr>
            <p:nvPr/>
          </p:nvSpPr>
          <p:spPr bwMode="auto">
            <a:xfrm>
              <a:off x="3119" y="1248"/>
              <a:ext cx="1195" cy="1048"/>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sp>
          <p:nvSpPr>
            <p:cNvPr id="7" name="AutoShape 4"/>
            <p:cNvSpPr>
              <a:spLocks noEditPoints="1" noChangeArrowheads="1"/>
            </p:cNvSpPr>
            <p:nvPr/>
          </p:nvSpPr>
          <p:spPr bwMode="auto">
            <a:xfrm>
              <a:off x="1632" y="1680"/>
              <a:ext cx="1429" cy="1253"/>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sp>
          <p:nvSpPr>
            <p:cNvPr id="8" name="AutoShape 5"/>
            <p:cNvSpPr>
              <a:spLocks noEditPoints="1" noChangeArrowheads="1"/>
            </p:cNvSpPr>
            <p:nvPr/>
          </p:nvSpPr>
          <p:spPr bwMode="auto">
            <a:xfrm>
              <a:off x="2559" y="2142"/>
              <a:ext cx="1588" cy="1392"/>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grpSp>
      <p:sp>
        <p:nvSpPr>
          <p:cNvPr id="9"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1</a:t>
            </a:r>
            <a:r>
              <a:rPr lang="zh-CN" altLang="en-US" sz="3600" dirty="0"/>
              <a:t>、</a:t>
            </a:r>
            <a:r>
              <a:rPr lang="zh-CN" altLang="zh-CN" sz="3600" dirty="0"/>
              <a:t>本</a:t>
            </a:r>
            <a:r>
              <a:rPr lang="en-US" altLang="zh-CN" sz="3600" dirty="0"/>
              <a:t>-</a:t>
            </a:r>
            <a:r>
              <a:rPr lang="zh-CN" altLang="zh-CN" sz="3600" dirty="0"/>
              <a:t>量</a:t>
            </a:r>
            <a:r>
              <a:rPr lang="en-US" altLang="zh-CN" sz="3600" dirty="0"/>
              <a:t>-</a:t>
            </a:r>
            <a:r>
              <a:rPr lang="zh-CN" altLang="zh-CN" sz="3600" dirty="0"/>
              <a:t>利分析概述</a:t>
            </a:r>
            <a:endParaRPr lang="zh-CN" altLang="en-US" sz="3600" dirty="0"/>
          </a:p>
        </p:txBody>
      </p:sp>
    </p:spTree>
    <p:extLst>
      <p:ext uri="{BB962C8B-B14F-4D97-AF65-F5344CB8AC3E}">
        <p14:creationId xmlns:p14="http://schemas.microsoft.com/office/powerpoint/2010/main" val="1041636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1"/>
          <p:cNvSpPr/>
          <p:nvPr/>
        </p:nvSpPr>
        <p:spPr>
          <a:xfrm>
            <a:off x="6330556" y="1832795"/>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圆角矩形 2"/>
          <p:cNvSpPr/>
          <p:nvPr/>
        </p:nvSpPr>
        <p:spPr>
          <a:xfrm>
            <a:off x="6480621" y="1832795"/>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 name="任意多边形 69"/>
          <p:cNvSpPr/>
          <p:nvPr/>
        </p:nvSpPr>
        <p:spPr>
          <a:xfrm>
            <a:off x="6718979" y="2303178"/>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圆角矩形 4"/>
          <p:cNvSpPr/>
          <p:nvPr/>
        </p:nvSpPr>
        <p:spPr>
          <a:xfrm>
            <a:off x="6330556" y="3610700"/>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圆角矩形 5"/>
          <p:cNvSpPr/>
          <p:nvPr/>
        </p:nvSpPr>
        <p:spPr>
          <a:xfrm>
            <a:off x="6480621" y="3610700"/>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 name="任意多边形 71"/>
          <p:cNvSpPr/>
          <p:nvPr/>
        </p:nvSpPr>
        <p:spPr>
          <a:xfrm>
            <a:off x="6718979" y="4084779"/>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圆角矩形 10"/>
          <p:cNvSpPr/>
          <p:nvPr/>
        </p:nvSpPr>
        <p:spPr>
          <a:xfrm>
            <a:off x="1109880" y="3610700"/>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8" name="圆角矩形 11"/>
          <p:cNvSpPr/>
          <p:nvPr/>
        </p:nvSpPr>
        <p:spPr>
          <a:xfrm>
            <a:off x="1259945" y="3610700"/>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0" name="任意多边形 70"/>
          <p:cNvSpPr/>
          <p:nvPr/>
        </p:nvSpPr>
        <p:spPr>
          <a:xfrm>
            <a:off x="1498302" y="4084779"/>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3" name="圆角矩形 7"/>
          <p:cNvSpPr/>
          <p:nvPr/>
        </p:nvSpPr>
        <p:spPr>
          <a:xfrm>
            <a:off x="1109880" y="1832795"/>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4" name="圆角矩形 8"/>
          <p:cNvSpPr/>
          <p:nvPr/>
        </p:nvSpPr>
        <p:spPr>
          <a:xfrm>
            <a:off x="1259945" y="1801392"/>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任意多边形 68"/>
          <p:cNvSpPr/>
          <p:nvPr/>
        </p:nvSpPr>
        <p:spPr>
          <a:xfrm>
            <a:off x="1498302" y="2303178"/>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2" name="文本框 31"/>
          <p:cNvSpPr txBox="1"/>
          <p:nvPr/>
        </p:nvSpPr>
        <p:spPr>
          <a:xfrm>
            <a:off x="2394178" y="3988467"/>
            <a:ext cx="2644749" cy="707886"/>
          </a:xfrm>
          <a:prstGeom prst="rect">
            <a:avLst/>
          </a:prstGeom>
          <a:noFill/>
        </p:spPr>
        <p:txBody>
          <a:bodyPr wrap="square" rtlCol="0">
            <a:spAutoFit/>
          </a:bodyPr>
          <a:lstStyle>
            <a:defPPr>
              <a:defRPr lang="en-US"/>
            </a:defPPr>
            <a:lvl1pPr>
              <a:defRPr sz="2000" b="1">
                <a:latin typeface="Times New Roman" pitchFamily="18" charset="0"/>
                <a:cs typeface="Times New Roman" pitchFamily="18" charset="0"/>
              </a:defRPr>
            </a:lvl1pPr>
          </a:lstStyle>
          <a:p>
            <a:r>
              <a:rPr lang="zh-CN" altLang="zh-CN" dirty="0"/>
              <a:t>使用</a:t>
            </a:r>
            <a:r>
              <a:rPr lang="en-US" altLang="zh-CN" dirty="0"/>
              <a:t>Excel</a:t>
            </a:r>
            <a:r>
              <a:rPr lang="zh-CN" altLang="zh-CN" dirty="0"/>
              <a:t>提供的规划求解</a:t>
            </a:r>
            <a:r>
              <a:rPr lang="en-US" altLang="zh-CN" dirty="0"/>
              <a:t>(Solver)</a:t>
            </a:r>
            <a:r>
              <a:rPr lang="zh-CN" altLang="zh-CN" dirty="0"/>
              <a:t>分析工具</a:t>
            </a:r>
            <a:endParaRPr lang="zh-CN" altLang="en-US" dirty="0"/>
          </a:p>
        </p:txBody>
      </p:sp>
      <p:sp>
        <p:nvSpPr>
          <p:cNvPr id="36" name="文本框 35"/>
          <p:cNvSpPr txBox="1"/>
          <p:nvPr/>
        </p:nvSpPr>
        <p:spPr>
          <a:xfrm>
            <a:off x="7627862" y="2223619"/>
            <a:ext cx="2865120" cy="707886"/>
          </a:xfrm>
          <a:prstGeom prst="rect">
            <a:avLst/>
          </a:prstGeom>
          <a:noFill/>
        </p:spPr>
        <p:txBody>
          <a:bodyPr wrap="square" rtlCol="0">
            <a:spAutoFit/>
          </a:bodyPr>
          <a:lstStyle>
            <a:defPPr>
              <a:defRPr lang="en-US"/>
            </a:defPPr>
            <a:lvl1pPr>
              <a:defRPr sz="2000" b="1">
                <a:latin typeface="Times New Roman" pitchFamily="18" charset="0"/>
                <a:cs typeface="Times New Roman" pitchFamily="18" charset="0"/>
              </a:defRPr>
            </a:lvl1pPr>
          </a:lstStyle>
          <a:p>
            <a:r>
              <a:rPr lang="zh-CN" altLang="zh-CN" dirty="0"/>
              <a:t>使用</a:t>
            </a:r>
            <a:r>
              <a:rPr lang="en-US" altLang="zh-CN" dirty="0"/>
              <a:t>Excel</a:t>
            </a:r>
            <a:r>
              <a:rPr lang="zh-CN" altLang="zh-CN" dirty="0"/>
              <a:t>提供的单变量求解</a:t>
            </a:r>
            <a:r>
              <a:rPr lang="en-US" altLang="zh-CN" dirty="0"/>
              <a:t>(Goal Seeking)</a:t>
            </a:r>
            <a:r>
              <a:rPr lang="zh-CN" altLang="zh-CN" dirty="0"/>
              <a:t>工具</a:t>
            </a:r>
            <a:endParaRPr lang="zh-CN" altLang="en-US" dirty="0"/>
          </a:p>
        </p:txBody>
      </p:sp>
      <p:sp>
        <p:nvSpPr>
          <p:cNvPr id="25" name="文本框 1"/>
          <p:cNvSpPr txBox="1"/>
          <p:nvPr/>
        </p:nvSpPr>
        <p:spPr>
          <a:xfrm>
            <a:off x="0" y="449558"/>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2</a:t>
            </a:r>
            <a:r>
              <a:rPr lang="zh-CN" altLang="en-US" sz="3600" dirty="0"/>
              <a:t>、</a:t>
            </a:r>
            <a:r>
              <a:rPr lang="zh-CN" altLang="zh-CN" sz="3600" dirty="0"/>
              <a:t>盈亏平衡点的计算方法</a:t>
            </a:r>
            <a:endParaRPr lang="zh-CN" altLang="en-US" sz="3600" dirty="0"/>
          </a:p>
        </p:txBody>
      </p:sp>
      <p:sp>
        <p:nvSpPr>
          <p:cNvPr id="27" name="矩形 26">
            <a:extLst>
              <a:ext uri="{FF2B5EF4-FFF2-40B4-BE49-F238E27FC236}">
                <a16:creationId xmlns:a16="http://schemas.microsoft.com/office/drawing/2014/main" id="{143D86F6-D118-4885-9F35-065CEE24D4AA}"/>
              </a:ext>
            </a:extLst>
          </p:cNvPr>
          <p:cNvSpPr/>
          <p:nvPr/>
        </p:nvSpPr>
        <p:spPr>
          <a:xfrm>
            <a:off x="2199626" y="2062661"/>
            <a:ext cx="3573419" cy="1092607"/>
          </a:xfrm>
          <a:prstGeom prst="rect">
            <a:avLst/>
          </a:prstGeom>
          <a:noFill/>
        </p:spPr>
        <p:txBody>
          <a:bodyPr wrap="square" rtlCol="0">
            <a:spAutoFit/>
          </a:bodyPr>
          <a:lstStyle/>
          <a:p>
            <a:pPr>
              <a:spcAft>
                <a:spcPts val="600"/>
              </a:spcAft>
            </a:pPr>
            <a:r>
              <a:rPr lang="zh-CN" altLang="en-US" sz="2000" b="1" dirty="0">
                <a:latin typeface="Times New Roman" pitchFamily="18" charset="0"/>
                <a:cs typeface="Times New Roman" pitchFamily="18" charset="0"/>
              </a:rPr>
              <a:t>公式法：</a:t>
            </a:r>
            <a:endParaRPr lang="en-US" altLang="zh-CN" sz="2000" b="1" dirty="0">
              <a:latin typeface="Times New Roman" pitchFamily="18" charset="0"/>
              <a:cs typeface="Times New Roman" pitchFamily="18" charset="0"/>
            </a:endParaRPr>
          </a:p>
          <a:p>
            <a:r>
              <a:rPr lang="zh-CN" altLang="zh-CN" sz="2000" b="1" dirty="0">
                <a:latin typeface="Times New Roman" pitchFamily="18" charset="0"/>
                <a:cs typeface="Times New Roman" pitchFamily="18" charset="0"/>
              </a:rPr>
              <a:t>盈亏平衡销量</a:t>
            </a:r>
            <a:r>
              <a:rPr lang="zh-CN" altLang="en-US" sz="2000" b="1" dirty="0">
                <a:latin typeface="Times New Roman" pitchFamily="18" charset="0"/>
                <a:cs typeface="Times New Roman" pitchFamily="18" charset="0"/>
              </a:rPr>
              <a:t>公式</a:t>
            </a:r>
            <a:r>
              <a:rPr lang="en-US" altLang="zh-CN" sz="2000" b="1" dirty="0">
                <a:latin typeface="Times New Roman" pitchFamily="18" charset="0"/>
                <a:cs typeface="Times New Roman" pitchFamily="18" charset="0"/>
              </a:rPr>
              <a:t>Q</a:t>
            </a:r>
            <a:r>
              <a:rPr lang="en-US" altLang="zh-CN" sz="2000" b="1" baseline="-25000" dirty="0">
                <a:latin typeface="Times New Roman" pitchFamily="18" charset="0"/>
                <a:cs typeface="Times New Roman" pitchFamily="18" charset="0"/>
              </a:rPr>
              <a:t>0</a:t>
            </a:r>
            <a:r>
              <a:rPr lang="en-US" altLang="zh-CN" sz="2000" b="1" dirty="0">
                <a:latin typeface="Times New Roman" pitchFamily="18" charset="0"/>
                <a:cs typeface="Times New Roman" pitchFamily="18" charset="0"/>
              </a:rPr>
              <a:t>=F/(p-v)</a:t>
            </a:r>
          </a:p>
          <a:p>
            <a:r>
              <a:rPr lang="zh-CN" altLang="zh-CN" sz="2000" b="1" dirty="0">
                <a:latin typeface="Times New Roman" pitchFamily="18" charset="0"/>
                <a:cs typeface="Times New Roman" pitchFamily="18" charset="0"/>
              </a:rPr>
              <a:t>盈亏平衡销售收入</a:t>
            </a:r>
            <a:r>
              <a:rPr lang="zh-CN" altLang="en-US" sz="2000" b="1" dirty="0">
                <a:latin typeface="Times New Roman" pitchFamily="18" charset="0"/>
                <a:cs typeface="Times New Roman" pitchFamily="18" charset="0"/>
              </a:rPr>
              <a:t>公式</a:t>
            </a:r>
            <a:r>
              <a:rPr lang="en-US" altLang="zh-CN" sz="2000" b="1" dirty="0">
                <a:latin typeface="Times New Roman" pitchFamily="18" charset="0"/>
                <a:cs typeface="Times New Roman" pitchFamily="18" charset="0"/>
              </a:rPr>
              <a:t>R</a:t>
            </a:r>
            <a:r>
              <a:rPr lang="en-US" altLang="zh-CN" sz="2000" b="1" baseline="-25000" dirty="0">
                <a:latin typeface="Times New Roman" pitchFamily="18" charset="0"/>
                <a:cs typeface="Times New Roman" pitchFamily="18" charset="0"/>
              </a:rPr>
              <a:t>0</a:t>
            </a:r>
            <a:r>
              <a:rPr lang="en-US" altLang="zh-CN" sz="2000" b="1" dirty="0">
                <a:latin typeface="Times New Roman" pitchFamily="18" charset="0"/>
                <a:cs typeface="Times New Roman" pitchFamily="18" charset="0"/>
              </a:rPr>
              <a:t>=F/k</a:t>
            </a:r>
            <a:endParaRPr lang="zh-CN" altLang="zh-CN" sz="2000" b="1" dirty="0">
              <a:latin typeface="Times New Roman" pitchFamily="18" charset="0"/>
              <a:cs typeface="Times New Roman" pitchFamily="18" charset="0"/>
            </a:endParaRPr>
          </a:p>
        </p:txBody>
      </p:sp>
      <p:sp>
        <p:nvSpPr>
          <p:cNvPr id="4" name="矩形 3"/>
          <p:cNvSpPr/>
          <p:nvPr/>
        </p:nvSpPr>
        <p:spPr>
          <a:xfrm>
            <a:off x="7695956" y="3988467"/>
            <a:ext cx="3054486" cy="707886"/>
          </a:xfrm>
          <a:prstGeom prst="rect">
            <a:avLst/>
          </a:prstGeom>
          <a:noFill/>
        </p:spPr>
        <p:txBody>
          <a:bodyPr wrap="square" rtlCol="0">
            <a:spAutoFit/>
          </a:bodyPr>
          <a:lstStyle/>
          <a:p>
            <a:r>
              <a:rPr lang="zh-CN" altLang="zh-CN" sz="2000" b="1" dirty="0">
                <a:latin typeface="Times New Roman" pitchFamily="18" charset="0"/>
                <a:cs typeface="Times New Roman" pitchFamily="18" charset="0"/>
              </a:rPr>
              <a:t>在灵敏度分析的基础上</a:t>
            </a:r>
            <a:r>
              <a:rPr lang="zh-CN" altLang="en-US" sz="2000" b="1" dirty="0">
                <a:latin typeface="Times New Roman" pitchFamily="18" charset="0"/>
                <a:cs typeface="Times New Roman" pitchFamily="18" charset="0"/>
              </a:rPr>
              <a:t>，</a:t>
            </a:r>
            <a:r>
              <a:rPr lang="zh-CN" altLang="zh-CN" sz="2000" b="1" dirty="0">
                <a:latin typeface="Times New Roman" pitchFamily="18" charset="0"/>
                <a:cs typeface="Times New Roman" pitchFamily="18" charset="0"/>
              </a:rPr>
              <a:t>使用查表加内插值的方法</a:t>
            </a:r>
            <a:endParaRPr lang="zh-CN" altLang="en-US" sz="2000" b="1" dirty="0">
              <a:latin typeface="Times New Roman" pitchFamily="18" charset="0"/>
              <a:cs typeface="Times New Roman" pitchFamily="18" charset="0"/>
            </a:endParaRPr>
          </a:p>
        </p:txBody>
      </p:sp>
      <p:sp>
        <p:nvSpPr>
          <p:cNvPr id="2" name="矩形 1">
            <a:extLst>
              <a:ext uri="{FF2B5EF4-FFF2-40B4-BE49-F238E27FC236}">
                <a16:creationId xmlns:a16="http://schemas.microsoft.com/office/drawing/2014/main" id="{E7F45EA0-4DA3-406C-A743-353BC033DBE4}"/>
              </a:ext>
            </a:extLst>
          </p:cNvPr>
          <p:cNvSpPr/>
          <p:nvPr/>
        </p:nvSpPr>
        <p:spPr>
          <a:xfrm>
            <a:off x="2199626" y="2427570"/>
            <a:ext cx="3573419" cy="716442"/>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2318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pic>
        <p:nvPicPr>
          <p:cNvPr id="3" name="图片 2">
            <a:extLst>
              <a:ext uri="{FF2B5EF4-FFF2-40B4-BE49-F238E27FC236}">
                <a16:creationId xmlns:a16="http://schemas.microsoft.com/office/drawing/2014/main" id="{0DE8DF20-0665-4074-8B63-D05078ED91D2}"/>
              </a:ext>
            </a:extLst>
          </p:cNvPr>
          <p:cNvPicPr>
            <a:picLocks noChangeAspect="1"/>
          </p:cNvPicPr>
          <p:nvPr/>
        </p:nvPicPr>
        <p:blipFill>
          <a:blip r:embed="rId2"/>
          <a:stretch>
            <a:fillRect/>
          </a:stretch>
        </p:blipFill>
        <p:spPr>
          <a:xfrm>
            <a:off x="3086681" y="2062689"/>
            <a:ext cx="5606154" cy="4395693"/>
          </a:xfrm>
          <a:prstGeom prst="rect">
            <a:avLst/>
          </a:prstGeom>
        </p:spPr>
      </p:pic>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495455"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endParaRPr lang="zh-CN" altLang="en-US" dirty="0"/>
          </a:p>
        </p:txBody>
      </p:sp>
    </p:spTree>
    <p:extLst>
      <p:ext uri="{BB962C8B-B14F-4D97-AF65-F5344CB8AC3E}">
        <p14:creationId xmlns:p14="http://schemas.microsoft.com/office/powerpoint/2010/main" val="39085574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495455"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endParaRPr lang="zh-CN" altLang="en-US" dirty="0"/>
          </a:p>
        </p:txBody>
      </p:sp>
      <p:pic>
        <p:nvPicPr>
          <p:cNvPr id="5" name="图片 4">
            <a:extLst>
              <a:ext uri="{FF2B5EF4-FFF2-40B4-BE49-F238E27FC236}">
                <a16:creationId xmlns:a16="http://schemas.microsoft.com/office/drawing/2014/main" id="{190E260B-43BB-4D11-AA15-0BA1D3653F28}"/>
              </a:ext>
            </a:extLst>
          </p:cNvPr>
          <p:cNvPicPr>
            <a:picLocks noChangeAspect="1"/>
          </p:cNvPicPr>
          <p:nvPr/>
        </p:nvPicPr>
        <p:blipFill>
          <a:blip r:embed="rId2"/>
          <a:stretch>
            <a:fillRect/>
          </a:stretch>
        </p:blipFill>
        <p:spPr>
          <a:xfrm>
            <a:off x="5669280" y="2282456"/>
            <a:ext cx="4689770" cy="3533969"/>
          </a:xfrm>
          <a:prstGeom prst="rect">
            <a:avLst/>
          </a:prstGeom>
        </p:spPr>
      </p:pic>
      <p:sp>
        <p:nvSpPr>
          <p:cNvPr id="6" name="文本框 5">
            <a:extLst>
              <a:ext uri="{FF2B5EF4-FFF2-40B4-BE49-F238E27FC236}">
                <a16:creationId xmlns:a16="http://schemas.microsoft.com/office/drawing/2014/main" id="{25523C5B-91B3-47A6-A838-85767DF8C082}"/>
              </a:ext>
            </a:extLst>
          </p:cNvPr>
          <p:cNvSpPr txBox="1"/>
          <p:nvPr/>
        </p:nvSpPr>
        <p:spPr>
          <a:xfrm>
            <a:off x="665871" y="2358683"/>
            <a:ext cx="2959465" cy="369332"/>
          </a:xfrm>
          <a:prstGeom prst="rect">
            <a:avLst/>
          </a:prstGeom>
          <a:noFill/>
        </p:spPr>
        <p:txBody>
          <a:bodyPr wrap="none" rtlCol="0">
            <a:spAutoFit/>
          </a:bodyPr>
          <a:lstStyle/>
          <a:p>
            <a:r>
              <a:rPr lang="en-US" altLang="zh-CN" dirty="0"/>
              <a:t>1. </a:t>
            </a:r>
            <a:r>
              <a:rPr lang="zh-CN" altLang="en-US" dirty="0"/>
              <a:t>先把最基本的折线图画好</a:t>
            </a:r>
          </a:p>
        </p:txBody>
      </p:sp>
    </p:spTree>
    <p:extLst>
      <p:ext uri="{BB962C8B-B14F-4D97-AF65-F5344CB8AC3E}">
        <p14:creationId xmlns:p14="http://schemas.microsoft.com/office/powerpoint/2010/main" val="23957896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1477328"/>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endParaRPr lang="en-US" altLang="zh-CN" dirty="0"/>
          </a:p>
        </p:txBody>
      </p:sp>
      <p:pic>
        <p:nvPicPr>
          <p:cNvPr id="9" name="图片 8">
            <a:extLst>
              <a:ext uri="{FF2B5EF4-FFF2-40B4-BE49-F238E27FC236}">
                <a16:creationId xmlns:a16="http://schemas.microsoft.com/office/drawing/2014/main" id="{3E1B585E-C334-45CD-9D66-0950433358FB}"/>
              </a:ext>
            </a:extLst>
          </p:cNvPr>
          <p:cNvPicPr>
            <a:picLocks noChangeAspect="1"/>
          </p:cNvPicPr>
          <p:nvPr/>
        </p:nvPicPr>
        <p:blipFill>
          <a:blip r:embed="rId2"/>
          <a:stretch>
            <a:fillRect/>
          </a:stretch>
        </p:blipFill>
        <p:spPr>
          <a:xfrm>
            <a:off x="5134312" y="2414954"/>
            <a:ext cx="6974347" cy="3687551"/>
          </a:xfrm>
          <a:prstGeom prst="rect">
            <a:avLst/>
          </a:prstGeom>
        </p:spPr>
      </p:pic>
    </p:spTree>
    <p:extLst>
      <p:ext uri="{BB962C8B-B14F-4D97-AF65-F5344CB8AC3E}">
        <p14:creationId xmlns:p14="http://schemas.microsoft.com/office/powerpoint/2010/main" val="34862018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2862322"/>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r>
              <a:rPr lang="zh-CN" altLang="en-US" dirty="0"/>
              <a:t>接下来更改图表类型，把销售收入与总成本改为折线图，把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、盈利与亏损改为面积图。注意</a:t>
            </a:r>
            <a:r>
              <a:rPr lang="en-US" altLang="zh-CN" dirty="0"/>
              <a:t>2</a:t>
            </a:r>
            <a:r>
              <a:rPr lang="zh-CN" altLang="en-US" dirty="0"/>
              <a:t>个细节，一个是不要打开次坐标轴，另一个是坐标轴选项中，要点在刻度线之上</a:t>
            </a:r>
            <a:endParaRPr lang="en-US" altLang="zh-CN" dirty="0"/>
          </a:p>
          <a:p>
            <a:endParaRPr lang="en-US" altLang="zh-CN" dirty="0"/>
          </a:p>
        </p:txBody>
      </p:sp>
      <p:pic>
        <p:nvPicPr>
          <p:cNvPr id="11" name="图片 10">
            <a:extLst>
              <a:ext uri="{FF2B5EF4-FFF2-40B4-BE49-F238E27FC236}">
                <a16:creationId xmlns:a16="http://schemas.microsoft.com/office/drawing/2014/main" id="{A01FB340-C217-4C3F-8E00-989BF29D8A6D}"/>
              </a:ext>
            </a:extLst>
          </p:cNvPr>
          <p:cNvPicPr>
            <a:picLocks noChangeAspect="1"/>
          </p:cNvPicPr>
          <p:nvPr/>
        </p:nvPicPr>
        <p:blipFill>
          <a:blip r:embed="rId2"/>
          <a:stretch>
            <a:fillRect/>
          </a:stretch>
        </p:blipFill>
        <p:spPr>
          <a:xfrm>
            <a:off x="5584875" y="2446307"/>
            <a:ext cx="5801489" cy="3445711"/>
          </a:xfrm>
          <a:prstGeom prst="rect">
            <a:avLst/>
          </a:prstGeom>
        </p:spPr>
      </p:pic>
    </p:spTree>
    <p:extLst>
      <p:ext uri="{BB962C8B-B14F-4D97-AF65-F5344CB8AC3E}">
        <p14:creationId xmlns:p14="http://schemas.microsoft.com/office/powerpoint/2010/main" val="2724641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3970318"/>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r>
              <a:rPr lang="zh-CN" altLang="en-US" dirty="0"/>
              <a:t>接下来更改图表类型，把销售收入与总成本改为折线图，把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、盈利与亏损改为面积图。注意</a:t>
            </a:r>
            <a:r>
              <a:rPr lang="en-US" altLang="zh-CN" dirty="0"/>
              <a:t>2</a:t>
            </a:r>
            <a:r>
              <a:rPr lang="zh-CN" altLang="en-US" dirty="0"/>
              <a:t>个细节，一个是不要打开次坐标轴，另一个是坐标轴选项中，要点在刻度线之上</a:t>
            </a:r>
            <a:endParaRPr lang="en-US" altLang="zh-CN" dirty="0"/>
          </a:p>
          <a:p>
            <a:pPr marL="342900" indent="-342900">
              <a:buAutoNum type="arabicPeriod"/>
            </a:pPr>
            <a:r>
              <a:rPr lang="zh-CN" altLang="en-US" dirty="0"/>
              <a:t>最后就是按照样例美化一下：</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设置为白色，盈利与亏损按照要求填充，在下方添加图例，图例中删除</a:t>
            </a:r>
            <a:r>
              <a:rPr lang="en-US" altLang="zh-CN" dirty="0"/>
              <a:t>MIN(</a:t>
            </a:r>
            <a:r>
              <a:rPr lang="zh-CN" altLang="en-US" dirty="0"/>
              <a:t>销售收入</a:t>
            </a:r>
            <a:r>
              <a:rPr lang="en-US" altLang="zh-CN" dirty="0"/>
              <a:t>,</a:t>
            </a:r>
            <a:r>
              <a:rPr lang="zh-CN" altLang="en-US" dirty="0"/>
              <a:t>总成本</a:t>
            </a:r>
            <a:r>
              <a:rPr lang="en-US" altLang="zh-CN" dirty="0"/>
              <a:t>)</a:t>
            </a:r>
          </a:p>
          <a:p>
            <a:pPr marL="342900" indent="-342900">
              <a:buAutoNum type="arabicPeriod"/>
            </a:pPr>
            <a:endParaRPr lang="en-US" altLang="zh-CN" dirty="0"/>
          </a:p>
        </p:txBody>
      </p:sp>
      <p:pic>
        <p:nvPicPr>
          <p:cNvPr id="3" name="图片 2">
            <a:extLst>
              <a:ext uri="{FF2B5EF4-FFF2-40B4-BE49-F238E27FC236}">
                <a16:creationId xmlns:a16="http://schemas.microsoft.com/office/drawing/2014/main" id="{5DFB1302-B949-47F5-9FBB-5D6966675DB1}"/>
              </a:ext>
            </a:extLst>
          </p:cNvPr>
          <p:cNvPicPr>
            <a:picLocks noChangeAspect="1"/>
          </p:cNvPicPr>
          <p:nvPr/>
        </p:nvPicPr>
        <p:blipFill>
          <a:blip r:embed="rId2"/>
          <a:stretch>
            <a:fillRect/>
          </a:stretch>
        </p:blipFill>
        <p:spPr>
          <a:xfrm>
            <a:off x="6563206" y="2358683"/>
            <a:ext cx="4374770" cy="3623763"/>
          </a:xfrm>
          <a:prstGeom prst="rect">
            <a:avLst/>
          </a:prstGeom>
        </p:spPr>
      </p:pic>
    </p:spTree>
    <p:extLst>
      <p:ext uri="{BB962C8B-B14F-4D97-AF65-F5344CB8AC3E}">
        <p14:creationId xmlns:p14="http://schemas.microsoft.com/office/powerpoint/2010/main" val="2225732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646331"/>
          </a:xfrm>
          <a:prstGeom prst="rect">
            <a:avLst/>
          </a:prstGeom>
          <a:noFill/>
        </p:spPr>
        <p:txBody>
          <a:bodyPr wrap="square">
            <a:spAutoFit/>
          </a:bodyPr>
          <a:lstStyle/>
          <a:p>
            <a:r>
              <a:rPr lang="zh-CN" altLang="en-US" dirty="0"/>
              <a:t>当求曲线交点时，为了减小误差，一般会使用 </a:t>
            </a:r>
            <a:r>
              <a:rPr lang="en-US" altLang="zh-CN" dirty="0"/>
              <a:t>match </a:t>
            </a:r>
            <a:r>
              <a:rPr lang="zh-CN" altLang="en-US" dirty="0"/>
              <a:t>函数，找到交点前后的两个点，再使用公式计算</a:t>
            </a:r>
            <a:endParaRPr lang="en-US" altLang="zh-CN" dirty="0"/>
          </a:p>
          <a:p>
            <a:r>
              <a:rPr lang="zh-CN" altLang="en-US" dirty="0"/>
              <a:t>比如这里的</a:t>
            </a:r>
            <a:r>
              <a:rPr lang="en-US" altLang="zh-CN" dirty="0"/>
              <a:t>3</a:t>
            </a:r>
            <a:r>
              <a:rPr lang="zh-CN" altLang="en-US" dirty="0"/>
              <a:t>种方案的净现值函数都不是直线，就需要使用 </a:t>
            </a:r>
            <a:r>
              <a:rPr lang="en-US" altLang="zh-CN" dirty="0"/>
              <a:t>match </a:t>
            </a:r>
            <a:r>
              <a:rPr lang="zh-CN" altLang="en-US" dirty="0"/>
              <a:t>函数</a:t>
            </a:r>
            <a:endParaRPr lang="en-US" altLang="zh-CN" dirty="0"/>
          </a:p>
        </p:txBody>
      </p:sp>
      <p:pic>
        <p:nvPicPr>
          <p:cNvPr id="11" name="图片 10">
            <a:extLst>
              <a:ext uri="{FF2B5EF4-FFF2-40B4-BE49-F238E27FC236}">
                <a16:creationId xmlns:a16="http://schemas.microsoft.com/office/drawing/2014/main" id="{00C869E3-B3B7-4E4A-A609-24AD112A52B1}"/>
              </a:ext>
            </a:extLst>
          </p:cNvPr>
          <p:cNvPicPr>
            <a:picLocks noChangeAspect="1"/>
          </p:cNvPicPr>
          <p:nvPr/>
        </p:nvPicPr>
        <p:blipFill>
          <a:blip r:embed="rId2"/>
          <a:stretch>
            <a:fillRect/>
          </a:stretch>
        </p:blipFill>
        <p:spPr>
          <a:xfrm>
            <a:off x="2550329" y="2833792"/>
            <a:ext cx="7822156" cy="3528407"/>
          </a:xfrm>
          <a:prstGeom prst="rect">
            <a:avLst/>
          </a:prstGeom>
        </p:spPr>
      </p:pic>
    </p:spTree>
    <p:extLst>
      <p:ext uri="{BB962C8B-B14F-4D97-AF65-F5344CB8AC3E}">
        <p14:creationId xmlns:p14="http://schemas.microsoft.com/office/powerpoint/2010/main" val="20244163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923330"/>
          </a:xfrm>
          <a:prstGeom prst="rect">
            <a:avLst/>
          </a:prstGeom>
          <a:noFill/>
        </p:spPr>
        <p:txBody>
          <a:bodyPr wrap="square">
            <a:spAutoFit/>
          </a:bodyPr>
          <a:lstStyle/>
          <a:p>
            <a:r>
              <a:rPr lang="zh-CN" altLang="en-US" dirty="0"/>
              <a:t>当求曲线交点时，为了减小误差，一般会使用 </a:t>
            </a:r>
            <a:r>
              <a:rPr lang="en-US" altLang="zh-CN" dirty="0"/>
              <a:t>match </a:t>
            </a:r>
            <a:r>
              <a:rPr lang="zh-CN" altLang="en-US" dirty="0"/>
              <a:t>函数，找到交点前后的两个点，再使用公式计算</a:t>
            </a:r>
            <a:endParaRPr lang="en-US" altLang="zh-CN" dirty="0"/>
          </a:p>
          <a:p>
            <a:r>
              <a:rPr lang="zh-CN" altLang="en-US" dirty="0"/>
              <a:t>比如这里的</a:t>
            </a:r>
            <a:r>
              <a:rPr lang="en-US" altLang="zh-CN" dirty="0"/>
              <a:t>3</a:t>
            </a:r>
            <a:r>
              <a:rPr lang="zh-CN" altLang="en-US" dirty="0"/>
              <a:t>种方案的净现值函数都不是直线，就需要使用 </a:t>
            </a:r>
            <a:r>
              <a:rPr lang="en-US" altLang="zh-CN" dirty="0"/>
              <a:t>match </a:t>
            </a:r>
            <a:r>
              <a:rPr lang="zh-CN" altLang="en-US" dirty="0"/>
              <a:t>函数，不然使用模拟运算表算出最大值最小值就行</a:t>
            </a:r>
            <a:endParaRPr lang="en-US" altLang="zh-CN" dirty="0"/>
          </a:p>
        </p:txBody>
      </p:sp>
      <p:pic>
        <p:nvPicPr>
          <p:cNvPr id="3" name="图片 2">
            <a:extLst>
              <a:ext uri="{FF2B5EF4-FFF2-40B4-BE49-F238E27FC236}">
                <a16:creationId xmlns:a16="http://schemas.microsoft.com/office/drawing/2014/main" id="{997B8011-05B3-4A6B-A47D-CFDE5C037F2B}"/>
              </a:ext>
            </a:extLst>
          </p:cNvPr>
          <p:cNvPicPr>
            <a:picLocks noChangeAspect="1"/>
          </p:cNvPicPr>
          <p:nvPr/>
        </p:nvPicPr>
        <p:blipFill>
          <a:blip r:embed="rId2"/>
          <a:stretch>
            <a:fillRect/>
          </a:stretch>
        </p:blipFill>
        <p:spPr>
          <a:xfrm>
            <a:off x="3329830" y="3110791"/>
            <a:ext cx="5204402" cy="2926852"/>
          </a:xfrm>
          <a:prstGeom prst="rect">
            <a:avLst/>
          </a:prstGeom>
        </p:spPr>
      </p:pic>
    </p:spTree>
    <p:extLst>
      <p:ext uri="{BB962C8B-B14F-4D97-AF65-F5344CB8AC3E}">
        <p14:creationId xmlns:p14="http://schemas.microsoft.com/office/powerpoint/2010/main" val="2273125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369332"/>
          </a:xfrm>
          <a:prstGeom prst="rect">
            <a:avLst/>
          </a:prstGeom>
          <a:noFill/>
        </p:spPr>
        <p:txBody>
          <a:bodyPr wrap="square">
            <a:spAutoFit/>
          </a:bodyPr>
          <a:lstStyle/>
          <a:p>
            <a:r>
              <a:rPr lang="zh-CN" altLang="en-US" dirty="0"/>
              <a:t>公式：</a:t>
            </a:r>
            <a:endParaRPr lang="en-US" altLang="zh-CN" dirty="0"/>
          </a:p>
        </p:txBody>
      </p:sp>
      <p:sp>
        <p:nvSpPr>
          <p:cNvPr id="6" name="文本框 6">
            <a:extLst>
              <a:ext uri="{FF2B5EF4-FFF2-40B4-BE49-F238E27FC236}">
                <a16:creationId xmlns:a16="http://schemas.microsoft.com/office/drawing/2014/main" id="{00000000-0008-0000-0100-000007000000}"/>
              </a:ext>
            </a:extLst>
          </p:cNvPr>
          <p:cNvSpPr txBox="1"/>
          <p:nvPr/>
        </p:nvSpPr>
        <p:spPr>
          <a:xfrm>
            <a:off x="1342541" y="1964405"/>
            <a:ext cx="5886450" cy="109061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a:t>(y2-y1)/(x2-x1)=(y-y1)/(x-x1)</a:t>
            </a:r>
          </a:p>
          <a:p>
            <a:r>
              <a:rPr lang="en-US" altLang="zh-CN" sz="1100" dirty="0"/>
              <a:t>x-x1=(y-y1)/(y2-y1)*(x2-x1)</a:t>
            </a:r>
          </a:p>
          <a:p>
            <a:r>
              <a:rPr lang="en-US" altLang="zh-CN" sz="3600" dirty="0">
                <a:solidFill>
                  <a:srgbClr val="FF0000"/>
                </a:solidFill>
              </a:rPr>
              <a:t>x</a:t>
            </a:r>
            <a:r>
              <a:rPr lang="en-US" altLang="zh-CN" sz="3600" dirty="0"/>
              <a:t>=x1+(</a:t>
            </a:r>
            <a:r>
              <a:rPr lang="en-US" altLang="zh-CN" sz="3600" dirty="0">
                <a:solidFill>
                  <a:srgbClr val="FF0000"/>
                </a:solidFill>
              </a:rPr>
              <a:t>y</a:t>
            </a:r>
            <a:r>
              <a:rPr lang="en-US" altLang="zh-CN" sz="3600" dirty="0"/>
              <a:t>-y1)/(y2-y1)*(x2-x1)</a:t>
            </a:r>
          </a:p>
          <a:p>
            <a:endParaRPr lang="zh-CN" altLang="en-US" sz="1100" dirty="0"/>
          </a:p>
        </p:txBody>
      </p:sp>
      <p:sp>
        <p:nvSpPr>
          <p:cNvPr id="9" name="文本框 8">
            <a:extLst>
              <a:ext uri="{FF2B5EF4-FFF2-40B4-BE49-F238E27FC236}">
                <a16:creationId xmlns:a16="http://schemas.microsoft.com/office/drawing/2014/main" id="{89A16324-A2EF-4181-8C6A-8C23B2C1DA38}"/>
              </a:ext>
            </a:extLst>
          </p:cNvPr>
          <p:cNvSpPr txBox="1"/>
          <p:nvPr/>
        </p:nvSpPr>
        <p:spPr>
          <a:xfrm>
            <a:off x="517291" y="3200043"/>
            <a:ext cx="4597779" cy="1754326"/>
          </a:xfrm>
          <a:prstGeom prst="rect">
            <a:avLst/>
          </a:prstGeom>
          <a:noFill/>
        </p:spPr>
        <p:txBody>
          <a:bodyPr wrap="square" rtlCol="0">
            <a:spAutoFit/>
          </a:bodyPr>
          <a:lstStyle/>
          <a:p>
            <a:r>
              <a:rPr lang="zh-CN" altLang="en-US" dirty="0"/>
              <a:t>这里的 </a:t>
            </a:r>
            <a:r>
              <a:rPr lang="en-US" altLang="zh-CN" dirty="0"/>
              <a:t>y </a:t>
            </a:r>
            <a:r>
              <a:rPr lang="zh-CN" altLang="en-US" dirty="0"/>
              <a:t>就是 </a:t>
            </a:r>
            <a:r>
              <a:rPr lang="en-US" altLang="zh-CN" dirty="0"/>
              <a:t>0 </a:t>
            </a:r>
            <a:r>
              <a:rPr lang="zh-CN" altLang="en-US" dirty="0"/>
              <a:t>这个单元格。具体操作是：</a:t>
            </a:r>
            <a:br>
              <a:rPr lang="en-US" altLang="zh-CN" dirty="0"/>
            </a:br>
            <a:r>
              <a:rPr lang="en-US" altLang="zh-CN" dirty="0"/>
              <a:t>1. </a:t>
            </a:r>
            <a:r>
              <a:rPr lang="zh-CN" altLang="en-US" dirty="0"/>
              <a:t>先按照公式把 </a:t>
            </a:r>
            <a:r>
              <a:rPr lang="en-US" altLang="zh-CN" dirty="0"/>
              <a:t>x </a:t>
            </a:r>
            <a:r>
              <a:rPr lang="zh-CN" altLang="en-US" dirty="0"/>
              <a:t>算出来</a:t>
            </a:r>
            <a:endParaRPr lang="en-US" altLang="zh-CN" dirty="0"/>
          </a:p>
          <a:p>
            <a:r>
              <a:rPr lang="en-US" altLang="zh-CN" dirty="0"/>
              <a:t>2. </a:t>
            </a:r>
            <a:r>
              <a:rPr lang="zh-CN" altLang="en-US" dirty="0"/>
              <a:t>把所有与 </a:t>
            </a:r>
            <a:r>
              <a:rPr lang="en-US" altLang="zh-CN" dirty="0"/>
              <a:t>y </a:t>
            </a:r>
            <a:r>
              <a:rPr lang="zh-CN" altLang="en-US" dirty="0"/>
              <a:t>相关的单元格按</a:t>
            </a:r>
            <a:r>
              <a:rPr lang="en-US" altLang="zh-CN" dirty="0"/>
              <a:t>F4</a:t>
            </a:r>
            <a:r>
              <a:rPr lang="zh-CN" altLang="en-US" dirty="0"/>
              <a:t>锁定，之后往右侧拖</a:t>
            </a:r>
            <a:endParaRPr lang="en-US" altLang="zh-CN" dirty="0"/>
          </a:p>
          <a:p>
            <a:r>
              <a:rPr lang="en-US" altLang="zh-CN" dirty="0"/>
              <a:t>3. </a:t>
            </a:r>
            <a:r>
              <a:rPr lang="zh-CN" altLang="en-US" dirty="0"/>
              <a:t>如果右侧的两个值是一致的，那么就算对了</a:t>
            </a:r>
            <a:endParaRPr lang="en-US" altLang="zh-CN" dirty="0"/>
          </a:p>
        </p:txBody>
      </p:sp>
      <p:pic>
        <p:nvPicPr>
          <p:cNvPr id="5" name="图片 4">
            <a:extLst>
              <a:ext uri="{FF2B5EF4-FFF2-40B4-BE49-F238E27FC236}">
                <a16:creationId xmlns:a16="http://schemas.microsoft.com/office/drawing/2014/main" id="{06F40329-44EC-481A-B7BF-D181BF164C4B}"/>
              </a:ext>
            </a:extLst>
          </p:cNvPr>
          <p:cNvPicPr>
            <a:picLocks noChangeAspect="1"/>
          </p:cNvPicPr>
          <p:nvPr/>
        </p:nvPicPr>
        <p:blipFill>
          <a:blip r:embed="rId2"/>
          <a:stretch>
            <a:fillRect/>
          </a:stretch>
        </p:blipFill>
        <p:spPr>
          <a:xfrm>
            <a:off x="5357846" y="3355893"/>
            <a:ext cx="6481389" cy="3102965"/>
          </a:xfrm>
          <a:prstGeom prst="rect">
            <a:avLst/>
          </a:prstGeom>
        </p:spPr>
      </p:pic>
    </p:spTree>
    <p:extLst>
      <p:ext uri="{BB962C8B-B14F-4D97-AF65-F5344CB8AC3E}">
        <p14:creationId xmlns:p14="http://schemas.microsoft.com/office/powerpoint/2010/main" val="19782666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4</a:t>
            </a:r>
            <a:r>
              <a:rPr lang="zh-CN" altLang="en-US" sz="3600" dirty="0"/>
              <a:t>、</a:t>
            </a:r>
            <a:r>
              <a:rPr lang="zh-CN" altLang="zh-CN" sz="3600" dirty="0"/>
              <a:t>安全边际分析概述</a:t>
            </a:r>
            <a:endParaRPr lang="zh-CN" altLang="en-US" sz="3600" dirty="0"/>
          </a:p>
        </p:txBody>
      </p:sp>
      <p:sp>
        <p:nvSpPr>
          <p:cNvPr id="11" name="文本框 10"/>
          <p:cNvSpPr txBox="1"/>
          <p:nvPr/>
        </p:nvSpPr>
        <p:spPr>
          <a:xfrm>
            <a:off x="1038958" y="1969050"/>
            <a:ext cx="9306521" cy="32539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盈亏平衡销量为</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0</a:t>
            </a:r>
            <a:r>
              <a:rPr lang="zh-CN" altLang="zh-CN" sz="2400" b="1" dirty="0">
                <a:solidFill>
                  <a:schemeClr val="tx2">
                    <a:lumMod val="75000"/>
                  </a:schemeClr>
                </a:solidFill>
                <a:latin typeface="Times New Roman" pitchFamily="18" charset="0"/>
                <a:cs typeface="Times New Roman" pitchFamily="18" charset="0"/>
              </a:rPr>
              <a:t>，目标销量为</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t</a:t>
            </a:r>
            <a:r>
              <a:rPr lang="zh-CN" altLang="zh-CN" sz="2400" b="1" dirty="0">
                <a:solidFill>
                  <a:schemeClr val="tx2">
                    <a:lumMod val="75000"/>
                  </a:schemeClr>
                </a:solidFill>
                <a:latin typeface="Times New Roman" pitchFamily="18" charset="0"/>
                <a:cs typeface="Times New Roman" pitchFamily="18" charset="0"/>
              </a:rPr>
              <a:t>，</a:t>
            </a:r>
            <a:r>
              <a:rPr lang="zh-CN" altLang="en-US" sz="2400" b="1" dirty="0">
                <a:solidFill>
                  <a:schemeClr val="tx2">
                    <a:lumMod val="75000"/>
                  </a:schemeClr>
                </a:solidFill>
                <a:latin typeface="Times New Roman" pitchFamily="18" charset="0"/>
                <a:cs typeface="Times New Roman" pitchFamily="18" charset="0"/>
              </a:rPr>
              <a:t>目标利润为</a:t>
            </a:r>
            <a:endParaRPr lang="en-US" altLang="zh-CN" sz="2400" b="1" dirty="0">
              <a:solidFill>
                <a:schemeClr val="tx2">
                  <a:lumMod val="75000"/>
                </a:schemeClr>
              </a:solidFill>
              <a:latin typeface="Times New Roman" pitchFamily="18" charset="0"/>
              <a:cs typeface="Times New Roman" pitchFamily="18" charset="0"/>
            </a:endParaRP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目标销量</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t</a:t>
            </a:r>
            <a:r>
              <a:rPr lang="zh-CN" altLang="zh-CN" sz="2400" b="1" dirty="0">
                <a:solidFill>
                  <a:schemeClr val="tx2">
                    <a:lumMod val="75000"/>
                  </a:schemeClr>
                </a:solidFill>
                <a:latin typeface="Times New Roman" pitchFamily="18" charset="0"/>
                <a:cs typeface="Times New Roman" pitchFamily="18" charset="0"/>
              </a:rPr>
              <a:t>的计算公式</a:t>
            </a:r>
            <a:r>
              <a:rPr lang="zh-CN" altLang="en-US" sz="2400" b="1" dirty="0">
                <a:solidFill>
                  <a:schemeClr val="tx2">
                    <a:lumMod val="75000"/>
                  </a:schemeClr>
                </a:solidFill>
                <a:latin typeface="Times New Roman" pitchFamily="18" charset="0"/>
                <a:cs typeface="Times New Roman" pitchFamily="18" charset="0"/>
              </a:rPr>
              <a:t>为 </a:t>
            </a: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目标销售收入</a:t>
            </a:r>
            <a:r>
              <a:rPr lang="en-US" altLang="zh-CN" sz="2400" b="1" dirty="0">
                <a:solidFill>
                  <a:schemeClr val="tx2">
                    <a:lumMod val="75000"/>
                  </a:schemeClr>
                </a:solidFill>
                <a:latin typeface="Times New Roman" pitchFamily="18" charset="0"/>
                <a:cs typeface="Times New Roman" pitchFamily="18" charset="0"/>
              </a:rPr>
              <a:t>    </a:t>
            </a:r>
            <a:r>
              <a:rPr lang="zh-CN" altLang="zh-CN" sz="2400" b="1" dirty="0">
                <a:solidFill>
                  <a:schemeClr val="tx2">
                    <a:lumMod val="75000"/>
                  </a:schemeClr>
                </a:solidFill>
                <a:latin typeface="Times New Roman" pitchFamily="18" charset="0"/>
                <a:cs typeface="Times New Roman" pitchFamily="18" charset="0"/>
              </a:rPr>
              <a:t>的计算公式</a:t>
            </a:r>
            <a:r>
              <a:rPr lang="zh-CN" altLang="en-US" sz="2400" b="1" dirty="0">
                <a:solidFill>
                  <a:schemeClr val="tx2">
                    <a:lumMod val="75000"/>
                  </a:schemeClr>
                </a:solidFill>
                <a:latin typeface="Times New Roman" pitchFamily="18" charset="0"/>
                <a:cs typeface="Times New Roman" pitchFamily="18" charset="0"/>
              </a:rPr>
              <a:t>为</a:t>
            </a: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安全边际</a:t>
            </a:r>
            <a:r>
              <a:rPr lang="en-US" altLang="zh-CN" sz="2400" b="1" dirty="0">
                <a:solidFill>
                  <a:schemeClr val="tx2">
                    <a:lumMod val="75000"/>
                  </a:schemeClr>
                </a:solidFill>
                <a:latin typeface="Times New Roman" pitchFamily="18" charset="0"/>
                <a:cs typeface="Times New Roman" pitchFamily="18" charset="0"/>
              </a:rPr>
              <a:t>    </a:t>
            </a:r>
            <a:r>
              <a:rPr lang="zh-CN" altLang="zh-CN" sz="2400" b="1" dirty="0">
                <a:solidFill>
                  <a:schemeClr val="tx2">
                    <a:lumMod val="75000"/>
                  </a:schemeClr>
                </a:solidFill>
                <a:latin typeface="Times New Roman" pitchFamily="18" charset="0"/>
                <a:cs typeface="Times New Roman" pitchFamily="18" charset="0"/>
              </a:rPr>
              <a:t>的计算公式为</a:t>
            </a:r>
            <a:r>
              <a:rPr lang="en-US" altLang="zh-CN" sz="2400" b="1" dirty="0">
                <a:solidFill>
                  <a:schemeClr val="tx2">
                    <a:lumMod val="75000"/>
                  </a:schemeClr>
                </a:solidFill>
                <a:latin typeface="Times New Roman" pitchFamily="18" charset="0"/>
                <a:cs typeface="Times New Roman" pitchFamily="18" charset="0"/>
              </a:rPr>
              <a:t>              </a:t>
            </a:r>
            <a:r>
              <a:rPr lang="zh-CN" altLang="en-US" sz="2400" b="1" dirty="0">
                <a:solidFill>
                  <a:schemeClr val="tx2">
                    <a:lumMod val="75000"/>
                  </a:schemeClr>
                </a:solidFill>
                <a:latin typeface="Times New Roman" pitchFamily="18" charset="0"/>
                <a:cs typeface="Times New Roman" pitchFamily="18" charset="0"/>
              </a:rPr>
              <a:t>或</a:t>
            </a:r>
            <a:endParaRPr lang="en-US" altLang="zh-CN" sz="2400" b="1" dirty="0">
              <a:solidFill>
                <a:schemeClr val="tx2">
                  <a:lumMod val="75000"/>
                </a:schemeClr>
              </a:solidFill>
              <a:latin typeface="Times New Roman" pitchFamily="18" charset="0"/>
              <a:cs typeface="Times New Roman" pitchFamily="18" charset="0"/>
            </a:endParaRPr>
          </a:p>
          <a:p>
            <a:pPr marL="342900" indent="-342900">
              <a:lnSpc>
                <a:spcPct val="150000"/>
              </a:lnSpc>
              <a:spcAft>
                <a:spcPts val="1200"/>
              </a:spcAft>
              <a:buFont typeface="Arial" panose="020B0604020202020204" pitchFamily="34" charset="0"/>
              <a:buChar char="•"/>
            </a:pPr>
            <a:r>
              <a:rPr lang="zh-CN" altLang="en-US" sz="2400" b="1" dirty="0">
                <a:solidFill>
                  <a:schemeClr val="tx2">
                    <a:lumMod val="75000"/>
                  </a:schemeClr>
                </a:solidFill>
                <a:latin typeface="Times New Roman" pitchFamily="18" charset="0"/>
                <a:cs typeface="Times New Roman" pitchFamily="18" charset="0"/>
              </a:rPr>
              <a:t>安全边际率    的计算公式为          或</a:t>
            </a:r>
            <a:endParaRPr lang="en-US" altLang="zh-CN" sz="2400" b="1" dirty="0">
              <a:solidFill>
                <a:schemeClr val="tx2">
                  <a:lumMod val="75000"/>
                </a:schemeClr>
              </a:solidFill>
              <a:latin typeface="Times New Roman" pitchFamily="18" charset="0"/>
              <a:cs typeface="Times New Roman" pitchFamily="18" charset="0"/>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 name="组合 2"/>
          <p:cNvGrpSpPr/>
          <p:nvPr/>
        </p:nvGrpSpPr>
        <p:grpSpPr>
          <a:xfrm>
            <a:off x="4885501" y="2026652"/>
            <a:ext cx="3456054" cy="2433091"/>
            <a:chOff x="2696495" y="2446930"/>
            <a:chExt cx="3421732" cy="2433091"/>
          </a:xfrm>
        </p:grpSpPr>
        <p:graphicFrame>
          <p:nvGraphicFramePr>
            <p:cNvPr id="46" name="对象 45"/>
            <p:cNvGraphicFramePr>
              <a:graphicFrameLocks noChangeAspect="1"/>
            </p:cNvGraphicFramePr>
            <p:nvPr/>
          </p:nvGraphicFramePr>
          <p:xfrm>
            <a:off x="2696495" y="3046618"/>
            <a:ext cx="2160193" cy="490930"/>
          </p:xfrm>
          <a:graphic>
            <a:graphicData uri="http://schemas.openxmlformats.org/presentationml/2006/ole">
              <mc:AlternateContent xmlns:mc="http://schemas.openxmlformats.org/markup-compatibility/2006">
                <mc:Choice xmlns:v="urn:schemas-microsoft-com:vml" Requires="v">
                  <p:oleObj spid="_x0000_s1236" name="公式" r:id="rId3" imgW="1180800" imgH="228600" progId="Equation.3">
                    <p:embed/>
                  </p:oleObj>
                </mc:Choice>
                <mc:Fallback>
                  <p:oleObj name="公式" r:id="rId3" imgW="1180800" imgH="228600" progId="Equation.3">
                    <p:embed/>
                    <p:pic>
                      <p:nvPicPr>
                        <p:cNvPr id="46" name="对象 45"/>
                        <p:cNvPicPr/>
                        <p:nvPr/>
                      </p:nvPicPr>
                      <p:blipFill>
                        <a:blip r:embed="rId4"/>
                        <a:stretch>
                          <a:fillRect/>
                        </a:stretch>
                      </p:blipFill>
                      <p:spPr>
                        <a:xfrm>
                          <a:off x="2696495" y="3046618"/>
                          <a:ext cx="2160193" cy="490930"/>
                        </a:xfrm>
                        <a:prstGeom prst="rect">
                          <a:avLst/>
                        </a:prstGeom>
                      </p:spPr>
                    </p:pic>
                  </p:oleObj>
                </mc:Fallback>
              </mc:AlternateContent>
            </a:graphicData>
          </a:graphic>
        </p:graphicFrame>
        <p:graphicFrame>
          <p:nvGraphicFramePr>
            <p:cNvPr id="47" name="对象 46"/>
            <p:cNvGraphicFramePr>
              <a:graphicFrameLocks noChangeAspect="1"/>
            </p:cNvGraphicFramePr>
            <p:nvPr/>
          </p:nvGraphicFramePr>
          <p:xfrm>
            <a:off x="3284937" y="3722076"/>
            <a:ext cx="1385077" cy="490537"/>
          </p:xfrm>
          <a:graphic>
            <a:graphicData uri="http://schemas.openxmlformats.org/presentationml/2006/ole">
              <mc:AlternateContent xmlns:mc="http://schemas.openxmlformats.org/markup-compatibility/2006">
                <mc:Choice xmlns:v="urn:schemas-microsoft-com:vml" Requires="v">
                  <p:oleObj spid="_x0000_s1237" name="公式" r:id="rId5" imgW="825480" imgH="228600" progId="Equation.3">
                    <p:embed/>
                  </p:oleObj>
                </mc:Choice>
                <mc:Fallback>
                  <p:oleObj name="公式" r:id="rId5" imgW="825480" imgH="228600" progId="Equation.3">
                    <p:embed/>
                    <p:pic>
                      <p:nvPicPr>
                        <p:cNvPr id="47" name="对象 46"/>
                        <p:cNvPicPr/>
                        <p:nvPr/>
                      </p:nvPicPr>
                      <p:blipFill>
                        <a:blip r:embed="rId6"/>
                        <a:stretch>
                          <a:fillRect/>
                        </a:stretch>
                      </p:blipFill>
                      <p:spPr>
                        <a:xfrm>
                          <a:off x="3284937" y="3722076"/>
                          <a:ext cx="1385077" cy="490537"/>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4103021" y="4389483"/>
            <a:ext cx="1224467" cy="490538"/>
          </p:xfrm>
          <a:graphic>
            <a:graphicData uri="http://schemas.openxmlformats.org/presentationml/2006/ole">
              <mc:AlternateContent xmlns:mc="http://schemas.openxmlformats.org/markup-compatibility/2006">
                <mc:Choice xmlns:v="urn:schemas-microsoft-com:vml" Requires="v">
                  <p:oleObj spid="_x0000_s1238" name="公式" r:id="rId7" imgW="799920" imgH="228600" progId="Equation.3">
                    <p:embed/>
                  </p:oleObj>
                </mc:Choice>
                <mc:Fallback>
                  <p:oleObj name="公式" r:id="rId7" imgW="799920" imgH="228600" progId="Equation.3">
                    <p:embed/>
                    <p:pic>
                      <p:nvPicPr>
                        <p:cNvPr id="48" name="对象 47"/>
                        <p:cNvPicPr/>
                        <p:nvPr/>
                      </p:nvPicPr>
                      <p:blipFill>
                        <a:blip r:embed="rId8"/>
                        <a:stretch>
                          <a:fillRect/>
                        </a:stretch>
                      </p:blipFill>
                      <p:spPr>
                        <a:xfrm>
                          <a:off x="4103021" y="4389483"/>
                          <a:ext cx="1224467" cy="490538"/>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5737227" y="2446930"/>
            <a:ext cx="381000" cy="490538"/>
          </p:xfrm>
          <a:graphic>
            <a:graphicData uri="http://schemas.openxmlformats.org/presentationml/2006/ole">
              <mc:AlternateContent xmlns:mc="http://schemas.openxmlformats.org/markup-compatibility/2006">
                <mc:Choice xmlns:v="urn:schemas-microsoft-com:vml" Requires="v">
                  <p:oleObj spid="_x0000_s1239" name="公式" r:id="rId9" imgW="177480" imgH="228600" progId="Equation.3">
                    <p:embed/>
                  </p:oleObj>
                </mc:Choice>
                <mc:Fallback>
                  <p:oleObj name="公式" r:id="rId9" imgW="177480" imgH="228600" progId="Equation.3">
                    <p:embed/>
                    <p:pic>
                      <p:nvPicPr>
                        <p:cNvPr id="53" name="对象 52"/>
                        <p:cNvPicPr/>
                        <p:nvPr/>
                      </p:nvPicPr>
                      <p:blipFill>
                        <a:blip r:embed="rId10"/>
                        <a:stretch>
                          <a:fillRect/>
                        </a:stretch>
                      </p:blipFill>
                      <p:spPr>
                        <a:xfrm>
                          <a:off x="5737227" y="2446930"/>
                          <a:ext cx="381000" cy="490538"/>
                        </a:xfrm>
                        <a:prstGeom prst="rect">
                          <a:avLst/>
                        </a:prstGeom>
                      </p:spPr>
                    </p:pic>
                  </p:oleObj>
                </mc:Fallback>
              </mc:AlternateContent>
            </a:graphicData>
          </a:graphic>
        </p:graphicFrame>
      </p:grpSp>
      <p:graphicFrame>
        <p:nvGraphicFramePr>
          <p:cNvPr id="14" name="对象 13"/>
          <p:cNvGraphicFramePr>
            <a:graphicFrameLocks noChangeAspect="1"/>
          </p:cNvGraphicFramePr>
          <p:nvPr/>
        </p:nvGraphicFramePr>
        <p:xfrm>
          <a:off x="4885501" y="3986247"/>
          <a:ext cx="980028" cy="490538"/>
        </p:xfrm>
        <a:graphic>
          <a:graphicData uri="http://schemas.openxmlformats.org/presentationml/2006/ole">
            <mc:AlternateContent xmlns:mc="http://schemas.openxmlformats.org/markup-compatibility/2006">
              <mc:Choice xmlns:v="urn:schemas-microsoft-com:vml" Requires="v">
                <p:oleObj spid="_x0000_s1240" name="公式" r:id="rId11" imgW="609480" imgH="228600" progId="Equation.3">
                  <p:embed/>
                </p:oleObj>
              </mc:Choice>
              <mc:Fallback>
                <p:oleObj name="公式" r:id="rId11" imgW="609480" imgH="228600" progId="Equation.3">
                  <p:embed/>
                  <p:pic>
                    <p:nvPicPr>
                      <p:cNvPr id="14" name="对象 13"/>
                      <p:cNvPicPr/>
                      <p:nvPr/>
                    </p:nvPicPr>
                    <p:blipFill>
                      <a:blip r:embed="rId12"/>
                      <a:stretch>
                        <a:fillRect/>
                      </a:stretch>
                    </p:blipFill>
                    <p:spPr>
                      <a:xfrm>
                        <a:off x="4885501" y="3986247"/>
                        <a:ext cx="980028" cy="49053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125820" y="4689621"/>
          <a:ext cx="748726" cy="490537"/>
        </p:xfrm>
        <a:graphic>
          <a:graphicData uri="http://schemas.openxmlformats.org/presentationml/2006/ole">
            <mc:AlternateContent xmlns:mc="http://schemas.openxmlformats.org/markup-compatibility/2006">
              <mc:Choice xmlns:v="urn:schemas-microsoft-com:vml" Requires="v">
                <p:oleObj spid="_x0000_s1241" name="公式" r:id="rId13" imgW="406080" imgH="228600" progId="Equation.3">
                  <p:embed/>
                </p:oleObj>
              </mc:Choice>
              <mc:Fallback>
                <p:oleObj name="公式" r:id="rId13" imgW="406080" imgH="228600" progId="Equation.3">
                  <p:embed/>
                  <p:pic>
                    <p:nvPicPr>
                      <p:cNvPr id="16" name="对象 15"/>
                      <p:cNvPicPr/>
                      <p:nvPr/>
                    </p:nvPicPr>
                    <p:blipFill>
                      <a:blip r:embed="rId14"/>
                      <a:stretch>
                        <a:fillRect/>
                      </a:stretch>
                    </p:blipFill>
                    <p:spPr>
                      <a:xfrm>
                        <a:off x="5125820" y="4689621"/>
                        <a:ext cx="748726" cy="490537"/>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6248757" y="4689621"/>
          <a:ext cx="1528202" cy="490538"/>
        </p:xfrm>
        <a:graphic>
          <a:graphicData uri="http://schemas.openxmlformats.org/presentationml/2006/ole">
            <mc:AlternateContent xmlns:mc="http://schemas.openxmlformats.org/markup-compatibility/2006">
              <mc:Choice xmlns:v="urn:schemas-microsoft-com:vml" Requires="v">
                <p:oleObj spid="_x0000_s1242" name="公式" r:id="rId15" imgW="901440" imgH="228600" progId="Equation.3">
                  <p:embed/>
                </p:oleObj>
              </mc:Choice>
              <mc:Fallback>
                <p:oleObj name="公式" r:id="rId15" imgW="901440" imgH="228600" progId="Equation.3">
                  <p:embed/>
                  <p:pic>
                    <p:nvPicPr>
                      <p:cNvPr id="6" name="对象 5"/>
                      <p:cNvPicPr>
                        <a:picLocks noChangeAspect="1" noChangeArrowheads="1"/>
                      </p:cNvPicPr>
                      <p:nvPr/>
                    </p:nvPicPr>
                    <p:blipFill>
                      <a:blip r:embed="rId16"/>
                      <a:srcRect/>
                      <a:stretch>
                        <a:fillRect/>
                      </a:stretch>
                    </p:blipFill>
                    <p:spPr bwMode="auto">
                      <a:xfrm>
                        <a:off x="6248757" y="4689621"/>
                        <a:ext cx="1528202" cy="490538"/>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3273053" y="3296657"/>
          <a:ext cx="384822" cy="490538"/>
        </p:xfrm>
        <a:graphic>
          <a:graphicData uri="http://schemas.openxmlformats.org/presentationml/2006/ole">
            <mc:AlternateContent xmlns:mc="http://schemas.openxmlformats.org/markup-compatibility/2006">
              <mc:Choice xmlns:v="urn:schemas-microsoft-com:vml" Requires="v">
                <p:oleObj spid="_x0000_s1243" name="公式" r:id="rId17" imgW="177480" imgH="228600" progId="Equation.3">
                  <p:embed/>
                </p:oleObj>
              </mc:Choice>
              <mc:Fallback>
                <p:oleObj name="公式" r:id="rId17" imgW="177480" imgH="228600" progId="Equation.3">
                  <p:embed/>
                  <p:pic>
                    <p:nvPicPr>
                      <p:cNvPr id="19" name="对象 18"/>
                      <p:cNvPicPr/>
                      <p:nvPr/>
                    </p:nvPicPr>
                    <p:blipFill>
                      <a:blip r:embed="rId18"/>
                      <a:stretch>
                        <a:fillRect/>
                      </a:stretch>
                    </p:blipFill>
                    <p:spPr>
                      <a:xfrm>
                        <a:off x="3273053" y="3296657"/>
                        <a:ext cx="384822" cy="490538"/>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735846" y="4059075"/>
          <a:ext cx="247650" cy="354013"/>
        </p:xfrm>
        <a:graphic>
          <a:graphicData uri="http://schemas.openxmlformats.org/presentationml/2006/ole">
            <mc:AlternateContent xmlns:mc="http://schemas.openxmlformats.org/markup-compatibility/2006">
              <mc:Choice xmlns:v="urn:schemas-microsoft-com:vml" Requires="v">
                <p:oleObj spid="_x0000_s1244" name="公式" r:id="rId19" imgW="114120" imgH="164880" progId="Equation.3">
                  <p:embed/>
                </p:oleObj>
              </mc:Choice>
              <mc:Fallback>
                <p:oleObj name="公式" r:id="rId19" imgW="114120" imgH="164880" progId="Equation.3">
                  <p:embed/>
                  <p:pic>
                    <p:nvPicPr>
                      <p:cNvPr id="8" name="对象 7"/>
                      <p:cNvPicPr>
                        <a:picLocks noChangeAspect="1" noChangeArrowheads="1"/>
                      </p:cNvPicPr>
                      <p:nvPr/>
                    </p:nvPicPr>
                    <p:blipFill>
                      <a:blip r:embed="rId20"/>
                      <a:srcRect/>
                      <a:stretch>
                        <a:fillRect/>
                      </a:stretch>
                    </p:blipFill>
                    <p:spPr bwMode="auto">
                      <a:xfrm>
                        <a:off x="2735846" y="4059075"/>
                        <a:ext cx="2476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014770" y="4808997"/>
          <a:ext cx="247650" cy="273050"/>
        </p:xfrm>
        <a:graphic>
          <a:graphicData uri="http://schemas.openxmlformats.org/presentationml/2006/ole">
            <mc:AlternateContent xmlns:mc="http://schemas.openxmlformats.org/markup-compatibility/2006">
              <mc:Choice xmlns:v="urn:schemas-microsoft-com:vml" Requires="v">
                <p:oleObj spid="_x0000_s1245" name="公式" r:id="rId21" imgW="114120" imgH="126720" progId="Equation.3">
                  <p:embed/>
                </p:oleObj>
              </mc:Choice>
              <mc:Fallback>
                <p:oleObj name="公式" r:id="rId21" imgW="114120" imgH="126720" progId="Equation.3">
                  <p:embed/>
                  <p:pic>
                    <p:nvPicPr>
                      <p:cNvPr id="10" name="对象 9"/>
                      <p:cNvPicPr>
                        <a:picLocks noChangeAspect="1" noChangeArrowheads="1"/>
                      </p:cNvPicPr>
                      <p:nvPr/>
                    </p:nvPicPr>
                    <p:blipFill>
                      <a:blip r:embed="rId22"/>
                      <a:srcRect/>
                      <a:stretch>
                        <a:fillRect/>
                      </a:stretch>
                    </p:blipFill>
                    <p:spPr bwMode="auto">
                      <a:xfrm>
                        <a:off x="3014770" y="4808997"/>
                        <a:ext cx="24765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a:extLst>
              <a:ext uri="{FF2B5EF4-FFF2-40B4-BE49-F238E27FC236}">
                <a16:creationId xmlns:a16="http://schemas.microsoft.com/office/drawing/2014/main" id="{C10801CF-C54B-425D-8EBB-DBB68CD0DA6A}"/>
              </a:ext>
            </a:extLst>
          </p:cNvPr>
          <p:cNvSpPr/>
          <p:nvPr/>
        </p:nvSpPr>
        <p:spPr>
          <a:xfrm>
            <a:off x="1351885" y="2626340"/>
            <a:ext cx="6036243" cy="529410"/>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32ED2BA-AFD4-4B5B-B3A4-EAB56DF52C42}"/>
              </a:ext>
            </a:extLst>
          </p:cNvPr>
          <p:cNvSpPr/>
          <p:nvPr/>
        </p:nvSpPr>
        <p:spPr>
          <a:xfrm>
            <a:off x="1351885" y="3981106"/>
            <a:ext cx="6709421" cy="1199051"/>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49227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1" name="文本框 10"/>
          <p:cNvSpPr txBox="1"/>
          <p:nvPr/>
        </p:nvSpPr>
        <p:spPr>
          <a:xfrm>
            <a:off x="265935" y="1720108"/>
            <a:ext cx="7791241" cy="523220"/>
          </a:xfrm>
          <a:prstGeom prst="rect">
            <a:avLst/>
          </a:prstGeom>
          <a:noFill/>
        </p:spPr>
        <p:txBody>
          <a:bodyPr wrap="square" rtlCol="0">
            <a:spAutoFit/>
          </a:bodyPr>
          <a:lstStyle/>
          <a:p>
            <a:pPr indent="540000"/>
            <a:r>
              <a:rPr lang="zh-CN" altLang="zh-CN" sz="2800" b="1" dirty="0">
                <a:solidFill>
                  <a:schemeClr val="tx2">
                    <a:lumMod val="75000"/>
                  </a:schemeClr>
                </a:solidFill>
              </a:rPr>
              <a:t>最优单价和利润极大值</a:t>
            </a:r>
            <a:r>
              <a:rPr lang="zh-CN" altLang="en-US" sz="2800" b="1" dirty="0">
                <a:solidFill>
                  <a:schemeClr val="tx2">
                    <a:lumMod val="75000"/>
                  </a:schemeClr>
                </a:solidFill>
              </a:rPr>
              <a:t>的公式推导：</a:t>
            </a:r>
            <a:endParaRPr lang="zh-CN" altLang="zh-CN" sz="2800" b="1" dirty="0">
              <a:solidFill>
                <a:schemeClr val="tx2">
                  <a:lumMod val="75000"/>
                </a:schemeClr>
              </a:solidFill>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1876509777"/>
              </p:ext>
            </p:extLst>
          </p:nvPr>
        </p:nvGraphicFramePr>
        <p:xfrm>
          <a:off x="802608" y="2594315"/>
          <a:ext cx="5015932" cy="2040063"/>
        </p:xfrm>
        <a:graphic>
          <a:graphicData uri="http://schemas.openxmlformats.org/presentationml/2006/ole">
            <mc:AlternateContent xmlns:mc="http://schemas.openxmlformats.org/markup-compatibility/2006">
              <mc:Choice xmlns:v="urn:schemas-microsoft-com:vml" Requires="v">
                <p:oleObj spid="_x0000_s2092" name="公式" r:id="rId3" imgW="2362200" imgH="889000" progId="Equation.3">
                  <p:embed/>
                </p:oleObj>
              </mc:Choice>
              <mc:Fallback>
                <p:oleObj name="公式" r:id="rId3" imgW="2362200" imgH="889000" progId="Equation.3">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608" y="2594315"/>
                        <a:ext cx="5015932" cy="2040063"/>
                      </a:xfrm>
                      <a:prstGeom prst="rect">
                        <a:avLst/>
                      </a:prstGeom>
                      <a:noFill/>
                    </p:spPr>
                  </p:pic>
                </p:oleObj>
              </mc:Fallback>
            </mc:AlternateContent>
          </a:graphicData>
        </a:graphic>
      </p:graphicFrame>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6558553" y="2418615"/>
          <a:ext cx="4406413" cy="2916320"/>
        </p:xfrm>
        <a:graphic>
          <a:graphicData uri="http://schemas.openxmlformats.org/presentationml/2006/ole">
            <mc:AlternateContent xmlns:mc="http://schemas.openxmlformats.org/markup-compatibility/2006">
              <mc:Choice xmlns:v="urn:schemas-microsoft-com:vml" Requires="v">
                <p:oleObj spid="_x0000_s2093" name="公式" r:id="rId5" imgW="1968500" imgH="1282700" progId="Equation.3">
                  <p:embed/>
                </p:oleObj>
              </mc:Choice>
              <mc:Fallback>
                <p:oleObj name="公式" r:id="rId5" imgW="1968500" imgH="1282700" progId="Equation.3">
                  <p:embed/>
                  <p:pic>
                    <p:nvPicPr>
                      <p:cNvPr id="18"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8553" y="2418615"/>
                        <a:ext cx="4406413" cy="2916320"/>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BF9F1CE-81F9-4A4C-BDE9-7BB7437B4E64}"/>
              </a:ext>
            </a:extLst>
          </p:cNvPr>
          <p:cNvSpPr/>
          <p:nvPr/>
        </p:nvSpPr>
        <p:spPr>
          <a:xfrm>
            <a:off x="6372751" y="3428999"/>
            <a:ext cx="2933934" cy="981445"/>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3247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1" name="文本框 10"/>
          <p:cNvSpPr txBox="1"/>
          <p:nvPr/>
        </p:nvSpPr>
        <p:spPr>
          <a:xfrm>
            <a:off x="265935" y="1720108"/>
            <a:ext cx="7791241" cy="523220"/>
          </a:xfrm>
          <a:prstGeom prst="rect">
            <a:avLst/>
          </a:prstGeom>
          <a:noFill/>
        </p:spPr>
        <p:txBody>
          <a:bodyPr wrap="square" rtlCol="0">
            <a:spAutoFit/>
          </a:bodyPr>
          <a:lstStyle/>
          <a:p>
            <a:pPr indent="540000"/>
            <a:r>
              <a:rPr lang="zh-CN" altLang="zh-CN" sz="2800" b="1" dirty="0">
                <a:solidFill>
                  <a:schemeClr val="tx2">
                    <a:lumMod val="75000"/>
                  </a:schemeClr>
                </a:solidFill>
              </a:rPr>
              <a:t>最优单价和利润极大值</a:t>
            </a:r>
            <a:r>
              <a:rPr lang="zh-CN" altLang="en-US" sz="2800" b="1" dirty="0">
                <a:solidFill>
                  <a:schemeClr val="tx2">
                    <a:lumMod val="75000"/>
                  </a:schemeClr>
                </a:solidFill>
              </a:rPr>
              <a:t>的公式推导：</a:t>
            </a:r>
            <a:endParaRPr lang="zh-CN" altLang="zh-CN" sz="2800" b="1" dirty="0">
              <a:solidFill>
                <a:schemeClr val="tx2">
                  <a:lumMod val="75000"/>
                </a:schemeClr>
              </a:solidFill>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802608" y="2594315"/>
          <a:ext cx="5015932" cy="2040063"/>
        </p:xfrm>
        <a:graphic>
          <a:graphicData uri="http://schemas.openxmlformats.org/presentationml/2006/ole">
            <mc:AlternateContent xmlns:mc="http://schemas.openxmlformats.org/markup-compatibility/2006">
              <mc:Choice xmlns:v="urn:schemas-microsoft-com:vml" Requires="v">
                <p:oleObj spid="_x0000_s3110" name="公式" r:id="rId3" imgW="2362200" imgH="889000" progId="Equation.3">
                  <p:embed/>
                </p:oleObj>
              </mc:Choice>
              <mc:Fallback>
                <p:oleObj name="公式" r:id="rId3" imgW="2362200" imgH="889000" progId="Equation.3">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608" y="2594315"/>
                        <a:ext cx="5015932" cy="2040063"/>
                      </a:xfrm>
                      <a:prstGeom prst="rect">
                        <a:avLst/>
                      </a:prstGeom>
                      <a:noFill/>
                    </p:spPr>
                  </p:pic>
                </p:oleObj>
              </mc:Fallback>
            </mc:AlternateContent>
          </a:graphicData>
        </a:graphic>
      </p:graphicFrame>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6558553" y="2418615"/>
          <a:ext cx="4406413" cy="2916320"/>
        </p:xfrm>
        <a:graphic>
          <a:graphicData uri="http://schemas.openxmlformats.org/presentationml/2006/ole">
            <mc:AlternateContent xmlns:mc="http://schemas.openxmlformats.org/markup-compatibility/2006">
              <mc:Choice xmlns:v="urn:schemas-microsoft-com:vml" Requires="v">
                <p:oleObj spid="_x0000_s3111" name="公式" r:id="rId5" imgW="1968500" imgH="1282700" progId="Equation.3">
                  <p:embed/>
                </p:oleObj>
              </mc:Choice>
              <mc:Fallback>
                <p:oleObj name="公式" r:id="rId5" imgW="1968500" imgH="1282700" progId="Equation.3">
                  <p:embed/>
                  <p:pic>
                    <p:nvPicPr>
                      <p:cNvPr id="18"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8553" y="2418615"/>
                        <a:ext cx="4406413" cy="2916320"/>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BF9F1CE-81F9-4A4C-BDE9-7BB7437B4E64}"/>
              </a:ext>
            </a:extLst>
          </p:cNvPr>
          <p:cNvSpPr/>
          <p:nvPr/>
        </p:nvSpPr>
        <p:spPr>
          <a:xfrm>
            <a:off x="6457203" y="4289564"/>
            <a:ext cx="4778193" cy="1187458"/>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E8875784-3B7C-4BB8-B6AD-57340524DC12}"/>
              </a:ext>
            </a:extLst>
          </p:cNvPr>
          <p:cNvPicPr>
            <a:picLocks noChangeAspect="1"/>
          </p:cNvPicPr>
          <p:nvPr/>
        </p:nvPicPr>
        <p:blipFill>
          <a:blip r:embed="rId7"/>
          <a:stretch>
            <a:fillRect/>
          </a:stretch>
        </p:blipFill>
        <p:spPr>
          <a:xfrm>
            <a:off x="693561" y="2418615"/>
            <a:ext cx="5234026" cy="3190898"/>
          </a:xfrm>
          <a:prstGeom prst="rect">
            <a:avLst/>
          </a:prstGeom>
        </p:spPr>
      </p:pic>
      <p:sp>
        <p:nvSpPr>
          <p:cNvPr id="12" name="矩形 11">
            <a:extLst>
              <a:ext uri="{FF2B5EF4-FFF2-40B4-BE49-F238E27FC236}">
                <a16:creationId xmlns:a16="http://schemas.microsoft.com/office/drawing/2014/main" id="{931D7CEA-D94D-4C8D-90CC-3FC3F2624760}"/>
              </a:ext>
            </a:extLst>
          </p:cNvPr>
          <p:cNvSpPr/>
          <p:nvPr/>
        </p:nvSpPr>
        <p:spPr>
          <a:xfrm>
            <a:off x="7535594" y="4693453"/>
            <a:ext cx="356381" cy="460012"/>
          </a:xfrm>
          <a:prstGeom prst="rect">
            <a:avLst/>
          </a:prstGeom>
          <a:noFill/>
          <a:ln w="412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cxnSp>
        <p:nvCxnSpPr>
          <p:cNvPr id="6" name="直接箭头连接符 5">
            <a:extLst>
              <a:ext uri="{FF2B5EF4-FFF2-40B4-BE49-F238E27FC236}">
                <a16:creationId xmlns:a16="http://schemas.microsoft.com/office/drawing/2014/main" id="{94CF78DD-D2C6-454E-9FE2-8AF651AED5C1}"/>
              </a:ext>
            </a:extLst>
          </p:cNvPr>
          <p:cNvCxnSpPr/>
          <p:nvPr/>
        </p:nvCxnSpPr>
        <p:spPr>
          <a:xfrm flipV="1">
            <a:off x="6391422" y="5097194"/>
            <a:ext cx="1312984" cy="10303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268E7E6-09C1-4DEE-BD69-F4824C42AB6B}"/>
              </a:ext>
            </a:extLst>
          </p:cNvPr>
          <p:cNvSpPr txBox="1"/>
          <p:nvPr/>
        </p:nvSpPr>
        <p:spPr>
          <a:xfrm>
            <a:off x="5927587" y="6191475"/>
            <a:ext cx="4147289" cy="369332"/>
          </a:xfrm>
          <a:prstGeom prst="rect">
            <a:avLst/>
          </a:prstGeom>
          <a:noFill/>
        </p:spPr>
        <p:txBody>
          <a:bodyPr wrap="none" rtlCol="0">
            <a:spAutoFit/>
          </a:bodyPr>
          <a:lstStyle/>
          <a:p>
            <a:r>
              <a:rPr lang="zh-CN" altLang="en-US" dirty="0"/>
              <a:t>这里的第一个</a:t>
            </a:r>
            <a:r>
              <a:rPr lang="en-US" altLang="zh-CN" dirty="0"/>
              <a:t>-</a:t>
            </a:r>
            <a:r>
              <a:rPr lang="zh-CN" altLang="en-US" dirty="0"/>
              <a:t>负号一定要放在</a:t>
            </a:r>
            <a:r>
              <a:rPr lang="en-US" altLang="zh-CN" dirty="0"/>
              <a:t>^</a:t>
            </a:r>
            <a:r>
              <a:rPr lang="zh-CN" altLang="en-US" dirty="0"/>
              <a:t>的外面</a:t>
            </a:r>
            <a:endParaRPr lang="en-US" altLang="zh-CN" dirty="0"/>
          </a:p>
        </p:txBody>
      </p:sp>
      <p:cxnSp>
        <p:nvCxnSpPr>
          <p:cNvPr id="15" name="直接箭头连接符 14">
            <a:extLst>
              <a:ext uri="{FF2B5EF4-FFF2-40B4-BE49-F238E27FC236}">
                <a16:creationId xmlns:a16="http://schemas.microsoft.com/office/drawing/2014/main" id="{50103913-8CA8-4D09-8054-A8D520CDE75E}"/>
              </a:ext>
            </a:extLst>
          </p:cNvPr>
          <p:cNvCxnSpPr>
            <a:cxnSpLocks/>
          </p:cNvCxnSpPr>
          <p:nvPr/>
        </p:nvCxnSpPr>
        <p:spPr>
          <a:xfrm flipH="1" flipV="1">
            <a:off x="3352800" y="2728015"/>
            <a:ext cx="3038622" cy="33966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DEE60AA8-C76F-44B8-9654-8D6E77B980F1}"/>
              </a:ext>
            </a:extLst>
          </p:cNvPr>
          <p:cNvSpPr txBox="1"/>
          <p:nvPr/>
        </p:nvSpPr>
        <p:spPr>
          <a:xfrm>
            <a:off x="582716" y="5743213"/>
            <a:ext cx="5157302" cy="923330"/>
          </a:xfrm>
          <a:prstGeom prst="rect">
            <a:avLst/>
          </a:prstGeom>
          <a:noFill/>
        </p:spPr>
        <p:txBody>
          <a:bodyPr wrap="square" rtlCol="0">
            <a:spAutoFit/>
          </a:bodyPr>
          <a:lstStyle/>
          <a:p>
            <a:r>
              <a:rPr lang="zh-CN" altLang="en-US" dirty="0"/>
              <a:t>这边不建议直接套公式，而是使用最优单价先算出对应的销售数量</a:t>
            </a:r>
            <a:r>
              <a:rPr lang="en-US" altLang="zh-CN" dirty="0" err="1"/>
              <a:t>Q_opt</a:t>
            </a:r>
            <a:r>
              <a:rPr lang="zh-CN" altLang="en-US" dirty="0"/>
              <a:t>，再直接算</a:t>
            </a:r>
            <a:endParaRPr lang="en-US" altLang="zh-CN" dirty="0"/>
          </a:p>
          <a:p>
            <a:r>
              <a:rPr lang="en-US" altLang="zh-CN" dirty="0" err="1"/>
              <a:t>p_opt</a:t>
            </a:r>
            <a:r>
              <a:rPr lang="en-US" altLang="zh-CN" dirty="0"/>
              <a:t>*</a:t>
            </a:r>
            <a:r>
              <a:rPr lang="en-US" altLang="zh-CN" dirty="0" err="1"/>
              <a:t>Q_opt</a:t>
            </a:r>
            <a:r>
              <a:rPr lang="en-US" altLang="zh-CN" dirty="0"/>
              <a:t>-v*</a:t>
            </a:r>
            <a:r>
              <a:rPr lang="en-US" altLang="zh-CN" dirty="0" err="1"/>
              <a:t>Q_opt</a:t>
            </a:r>
            <a:r>
              <a:rPr lang="en-US" altLang="zh-CN" dirty="0"/>
              <a:t>-F</a:t>
            </a:r>
          </a:p>
        </p:txBody>
      </p:sp>
    </p:spTree>
    <p:extLst>
      <p:ext uri="{BB962C8B-B14F-4D97-AF65-F5344CB8AC3E}">
        <p14:creationId xmlns:p14="http://schemas.microsoft.com/office/powerpoint/2010/main" val="14481648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17F678EA-BFDB-4B2E-A65F-31FFDA31668E}"/>
              </a:ext>
            </a:extLst>
          </p:cNvPr>
          <p:cNvPicPr>
            <a:picLocks noChangeAspect="1"/>
          </p:cNvPicPr>
          <p:nvPr/>
        </p:nvPicPr>
        <p:blipFill>
          <a:blip r:embed="rId2"/>
          <a:stretch>
            <a:fillRect/>
          </a:stretch>
        </p:blipFill>
        <p:spPr>
          <a:xfrm>
            <a:off x="3155024" y="2160898"/>
            <a:ext cx="6200820" cy="4224368"/>
          </a:xfrm>
          <a:prstGeom prst="rect">
            <a:avLst/>
          </a:prstGeom>
        </p:spPr>
      </p:pic>
      <p:sp>
        <p:nvSpPr>
          <p:cNvPr id="6" name="文本框 5">
            <a:extLst>
              <a:ext uri="{FF2B5EF4-FFF2-40B4-BE49-F238E27FC236}">
                <a16:creationId xmlns:a16="http://schemas.microsoft.com/office/drawing/2014/main" id="{AF0F5555-807B-4347-A751-D3AC0F0C4BB4}"/>
              </a:ext>
            </a:extLst>
          </p:cNvPr>
          <p:cNvSpPr txBox="1"/>
          <p:nvPr/>
        </p:nvSpPr>
        <p:spPr>
          <a:xfrm>
            <a:off x="600222" y="1538068"/>
            <a:ext cx="11771171" cy="369332"/>
          </a:xfrm>
          <a:prstGeom prst="rect">
            <a:avLst/>
          </a:prstGeom>
          <a:noFill/>
        </p:spPr>
        <p:txBody>
          <a:bodyPr wrap="none" rtlCol="0">
            <a:spAutoFit/>
          </a:bodyPr>
          <a:lstStyle/>
          <a:p>
            <a:r>
              <a:rPr lang="zh-CN" altLang="en-US" dirty="0"/>
              <a:t>先使用</a:t>
            </a:r>
            <a:r>
              <a:rPr lang="en-US" altLang="zh-CN" dirty="0"/>
              <a:t>max</a:t>
            </a:r>
            <a:r>
              <a:rPr lang="zh-CN" altLang="en-US" dirty="0"/>
              <a:t>找到最大利润值，然后在使用</a:t>
            </a:r>
            <a:r>
              <a:rPr lang="en-US" altLang="zh-CN" dirty="0" err="1"/>
              <a:t>xlookup</a:t>
            </a:r>
            <a:r>
              <a:rPr lang="zh-CN" altLang="en-US" dirty="0"/>
              <a:t>找到相应的单价，如果补偿足够小，也可以找到比较精确的最优值</a:t>
            </a:r>
            <a:endParaRPr lang="en-US" altLang="zh-CN" dirty="0"/>
          </a:p>
        </p:txBody>
      </p:sp>
    </p:spTree>
    <p:extLst>
      <p:ext uri="{BB962C8B-B14F-4D97-AF65-F5344CB8AC3E}">
        <p14:creationId xmlns:p14="http://schemas.microsoft.com/office/powerpoint/2010/main" val="2381738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05C185E-743C-8681-D34B-550835FA8061}"/>
              </a:ext>
            </a:extLst>
          </p:cNvPr>
          <p:cNvSpPr/>
          <p:nvPr/>
        </p:nvSpPr>
        <p:spPr>
          <a:xfrm>
            <a:off x="792773" y="1631782"/>
            <a:ext cx="6756919" cy="37908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4"/>
          <p:cNvSpPr/>
          <p:nvPr/>
        </p:nvSpPr>
        <p:spPr>
          <a:xfrm>
            <a:off x="7893410" y="1631783"/>
            <a:ext cx="3763350" cy="379082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文本框 31"/>
          <p:cNvSpPr txBox="1"/>
          <p:nvPr/>
        </p:nvSpPr>
        <p:spPr>
          <a:xfrm>
            <a:off x="8126133" y="2261676"/>
            <a:ext cx="3297903" cy="2308324"/>
          </a:xfrm>
          <a:prstGeom prst="rect">
            <a:avLst/>
          </a:prstGeom>
          <a:noFill/>
        </p:spPr>
        <p:txBody>
          <a:bodyPr wrap="square" rtlCol="0">
            <a:spAutoFit/>
          </a:bodyPr>
          <a:lstStyle/>
          <a:p>
            <a:pPr algn="just"/>
            <a:r>
              <a:rPr lang="zh-CN" altLang="en-US" sz="2400" b="1" dirty="0">
                <a:solidFill>
                  <a:schemeClr val="bg1"/>
                </a:solidFill>
                <a:latin typeface="+mn-ea"/>
              </a:rPr>
              <a:t>节约费用是降低成本的一个重要措施，对费用中重大项目的支出，需事先提出几种方案进行决策分析，以便用最少的费用取得最大的效果。</a:t>
            </a:r>
          </a:p>
        </p:txBody>
      </p:sp>
      <p:sp>
        <p:nvSpPr>
          <p:cNvPr id="35" name="文本框 34"/>
          <p:cNvSpPr txBox="1"/>
          <p:nvPr/>
        </p:nvSpPr>
        <p:spPr>
          <a:xfrm>
            <a:off x="1016058" y="1809898"/>
            <a:ext cx="6177515" cy="3416320"/>
          </a:xfrm>
          <a:prstGeom prst="rect">
            <a:avLst/>
          </a:prstGeom>
          <a:noFill/>
        </p:spPr>
        <p:txBody>
          <a:bodyPr wrap="square" rtlCol="0">
            <a:spAutoFit/>
          </a:bodyPr>
          <a:lstStyle/>
          <a:p>
            <a:pPr algn="just"/>
            <a:r>
              <a:rPr lang="zh-CN" altLang="zh-CN" sz="2400" dirty="0">
                <a:solidFill>
                  <a:schemeClr val="tx2">
                    <a:lumMod val="75000"/>
                  </a:schemeClr>
                </a:solidFill>
                <a:latin typeface="宋体" panose="02010600030101010101" pitchFamily="2" charset="-122"/>
                <a:ea typeface="宋体" panose="02010600030101010101" pitchFamily="2" charset="-122"/>
              </a:rPr>
              <a:t>对于零件是自制还是外购方案的决策</a:t>
            </a:r>
            <a:r>
              <a:rPr lang="zh-CN" altLang="en-US" sz="2400" dirty="0">
                <a:solidFill>
                  <a:schemeClr val="tx2">
                    <a:lumMod val="75000"/>
                  </a:schemeClr>
                </a:solidFill>
                <a:latin typeface="宋体" panose="02010600030101010101" pitchFamily="2" charset="-122"/>
                <a:ea typeface="宋体" panose="02010600030101010101" pitchFamily="2" charset="-122"/>
              </a:rPr>
              <a:t>，如果将产品需求量表示为</a:t>
            </a:r>
            <a:r>
              <a:rPr lang="en-US" altLang="zh-CN" sz="2400" dirty="0">
                <a:solidFill>
                  <a:schemeClr val="tx2">
                    <a:lumMod val="75000"/>
                  </a:schemeClr>
                </a:solidFill>
                <a:latin typeface="宋体" panose="02010600030101010101" pitchFamily="2" charset="-122"/>
                <a:ea typeface="宋体" panose="02010600030101010101" pitchFamily="2" charset="-122"/>
              </a:rPr>
              <a:t>Q</a:t>
            </a:r>
            <a:r>
              <a:rPr lang="zh-CN" altLang="en-US" sz="2400" dirty="0">
                <a:solidFill>
                  <a:schemeClr val="tx2">
                    <a:lumMod val="75000"/>
                  </a:schemeClr>
                </a:solidFill>
                <a:latin typeface="宋体" panose="02010600030101010101" pitchFamily="2" charset="-122"/>
                <a:ea typeface="宋体" panose="02010600030101010101" pitchFamily="2" charset="-122"/>
              </a:rPr>
              <a:t>，</a:t>
            </a:r>
            <a:r>
              <a:rPr lang="en-US" altLang="zh-CN" sz="2400" dirty="0">
                <a:solidFill>
                  <a:schemeClr val="tx2">
                    <a:lumMod val="75000"/>
                  </a:schemeClr>
                </a:solidFill>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方案的总成本表示为</a:t>
            </a:r>
            <a:r>
              <a:rPr lang="en-US" altLang="zh-CN" sz="2400" dirty="0">
                <a:effectLst/>
                <a:latin typeface="宋体" panose="02010600030101010101" pitchFamily="2" charset="-122"/>
                <a:ea typeface="宋体" panose="02010600030101010101" pitchFamily="2" charset="-122"/>
              </a:rPr>
              <a:t>C</a:t>
            </a:r>
            <a:r>
              <a:rPr lang="en-US" altLang="zh-CN" sz="2400" baseline="-25000" dirty="0">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，固定成本为</a:t>
            </a:r>
            <a:r>
              <a:rPr lang="en-US" altLang="zh-CN" sz="2400" dirty="0">
                <a:effectLst/>
                <a:latin typeface="宋体" panose="02010600030101010101" pitchFamily="2" charset="-122"/>
                <a:ea typeface="宋体" panose="02010600030101010101" pitchFamily="2" charset="-122"/>
              </a:rPr>
              <a:t>F</a:t>
            </a:r>
            <a:r>
              <a:rPr lang="en-US" altLang="zh-CN" sz="2400" baseline="-25000" dirty="0">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，单位变动成本为</a:t>
            </a:r>
            <a:r>
              <a:rPr lang="en-US" altLang="zh-CN" sz="2400" dirty="0" err="1">
                <a:effectLst/>
                <a:latin typeface="宋体" panose="02010600030101010101" pitchFamily="2" charset="-122"/>
                <a:ea typeface="宋体" panose="02010600030101010101" pitchFamily="2" charset="-122"/>
              </a:rPr>
              <a:t>v</a:t>
            </a:r>
            <a:r>
              <a:rPr lang="en-US" altLang="zh-CN" sz="2400" baseline="-25000" dirty="0" err="1">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a:t>
            </a:r>
            <a:r>
              <a:rPr lang="en-US" altLang="zh-CN" sz="2400" dirty="0">
                <a:solidFill>
                  <a:schemeClr val="tx2">
                    <a:lumMod val="75000"/>
                  </a:schemeClr>
                </a:solidFill>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方案的总成本表示为</a:t>
            </a:r>
            <a:r>
              <a:rPr lang="en-US" altLang="zh-CN" sz="2400" dirty="0">
                <a:effectLst/>
                <a:latin typeface="宋体" panose="02010600030101010101" pitchFamily="2" charset="-122"/>
                <a:ea typeface="宋体" panose="02010600030101010101" pitchFamily="2" charset="-122"/>
              </a:rPr>
              <a:t>C</a:t>
            </a:r>
            <a:r>
              <a:rPr lang="en-US" altLang="zh-CN" sz="2400" baseline="-25000" dirty="0">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，固定成本为</a:t>
            </a:r>
            <a:r>
              <a:rPr lang="en-US" altLang="zh-CN" sz="2400" dirty="0">
                <a:effectLst/>
                <a:latin typeface="宋体" panose="02010600030101010101" pitchFamily="2" charset="-122"/>
                <a:ea typeface="宋体" panose="02010600030101010101" pitchFamily="2" charset="-122"/>
              </a:rPr>
              <a:t>F</a:t>
            </a:r>
            <a:r>
              <a:rPr lang="en-US" altLang="zh-CN" sz="2400" baseline="-25000" dirty="0">
                <a:effectLst/>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，单位变动成本为</a:t>
            </a:r>
            <a:r>
              <a:rPr lang="en-US" altLang="zh-CN" sz="2400" dirty="0" err="1">
                <a:effectLst/>
                <a:latin typeface="宋体" panose="02010600030101010101" pitchFamily="2" charset="-122"/>
                <a:ea typeface="宋体" panose="02010600030101010101" pitchFamily="2" charset="-122"/>
              </a:rPr>
              <a:t>v</a:t>
            </a:r>
            <a:r>
              <a:rPr lang="en-US" altLang="zh-CN" sz="2400" baseline="-25000" dirty="0" err="1">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，则</a:t>
            </a:r>
            <a:r>
              <a:rPr lang="zh-CN" altLang="en-US" sz="2400" b="1" dirty="0">
                <a:solidFill>
                  <a:schemeClr val="tx2">
                    <a:lumMod val="75000"/>
                  </a:schemeClr>
                </a:solidFill>
                <a:latin typeface="宋体" panose="02010600030101010101" pitchFamily="2" charset="-122"/>
                <a:ea typeface="宋体" panose="02010600030101010101" pitchFamily="2" charset="-122"/>
              </a:rPr>
              <a:t>相对平衡（</a:t>
            </a:r>
            <a:r>
              <a:rPr lang="en-US" altLang="zh-CN" sz="2400" b="1" dirty="0">
                <a:effectLst/>
                <a:latin typeface="宋体" panose="02010600030101010101" pitchFamily="2" charset="-122"/>
                <a:ea typeface="宋体" panose="02010600030101010101" pitchFamily="2" charset="-122"/>
              </a:rPr>
              <a:t>C</a:t>
            </a:r>
            <a:r>
              <a:rPr lang="en-US" altLang="zh-CN" sz="2400" b="1" baseline="-25000" dirty="0">
                <a:effectLst/>
                <a:latin typeface="宋体" panose="02010600030101010101" pitchFamily="2" charset="-122"/>
                <a:ea typeface="宋体" panose="02010600030101010101" pitchFamily="2" charset="-122"/>
              </a:rPr>
              <a:t>A</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C</a:t>
            </a:r>
            <a:r>
              <a:rPr lang="en-US" altLang="zh-CN" sz="2400" b="1" baseline="-25000" dirty="0">
                <a:latin typeface="宋体" panose="02010600030101010101" pitchFamily="2" charset="-122"/>
                <a:ea typeface="宋体" panose="02010600030101010101" pitchFamily="2" charset="-122"/>
              </a:rPr>
              <a:t>B</a:t>
            </a:r>
            <a:r>
              <a:rPr lang="zh-CN" altLang="en-US" sz="2400" b="1" dirty="0">
                <a:solidFill>
                  <a:schemeClr val="tx2">
                    <a:lumMod val="75000"/>
                  </a:schemeClr>
                </a:solidFill>
                <a:latin typeface="宋体" panose="02010600030101010101" pitchFamily="2" charset="-122"/>
                <a:ea typeface="宋体" panose="02010600030101010101" pitchFamily="2" charset="-122"/>
              </a:rPr>
              <a:t>）需求量</a:t>
            </a:r>
            <a:r>
              <a:rPr lang="en-US" altLang="zh-CN" sz="2400" b="1" dirty="0">
                <a:effectLst/>
                <a:latin typeface="宋体" panose="02010600030101010101" pitchFamily="2" charset="-122"/>
                <a:ea typeface="宋体" panose="02010600030101010101" pitchFamily="2" charset="-122"/>
              </a:rPr>
              <a:t>Q</a:t>
            </a:r>
            <a:r>
              <a:rPr lang="en-US" altLang="zh-CN" sz="2400" b="1" baseline="-25000" dirty="0">
                <a:effectLst/>
                <a:latin typeface="宋体" panose="02010600030101010101" pitchFamily="2" charset="-122"/>
                <a:ea typeface="宋体" panose="02010600030101010101" pitchFamily="2" charset="-122"/>
              </a:rPr>
              <a:t>0</a:t>
            </a:r>
            <a:r>
              <a:rPr lang="zh-CN" altLang="en-US" sz="2400" b="1" dirty="0">
                <a:solidFill>
                  <a:schemeClr val="tx2">
                    <a:lumMod val="75000"/>
                  </a:schemeClr>
                </a:solidFill>
                <a:latin typeface="宋体" panose="02010600030101010101" pitchFamily="2" charset="-122"/>
                <a:ea typeface="宋体" panose="02010600030101010101" pitchFamily="2" charset="-122"/>
              </a:rPr>
              <a:t>的计算公式为</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F</a:t>
            </a:r>
            <a:r>
              <a:rPr lang="en-US" altLang="zh-CN" sz="2400" b="1" baseline="-25000" dirty="0">
                <a:effectLst/>
                <a:latin typeface="宋体" panose="02010600030101010101" pitchFamily="2" charset="-122"/>
                <a:ea typeface="宋体" panose="02010600030101010101" pitchFamily="2" charset="-122"/>
              </a:rPr>
              <a:t>B</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F</a:t>
            </a:r>
            <a:r>
              <a:rPr lang="en-US" altLang="zh-CN" sz="2400" b="1" baseline="-25000" dirty="0">
                <a:effectLst/>
                <a:latin typeface="宋体" panose="02010600030101010101" pitchFamily="2" charset="-122"/>
                <a:ea typeface="宋体" panose="02010600030101010101" pitchFamily="2" charset="-122"/>
              </a:rPr>
              <a:t>A</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err="1">
                <a:effectLst/>
                <a:latin typeface="宋体" panose="02010600030101010101" pitchFamily="2" charset="-122"/>
                <a:ea typeface="宋体" panose="02010600030101010101" pitchFamily="2" charset="-122"/>
              </a:rPr>
              <a:t>v</a:t>
            </a:r>
            <a:r>
              <a:rPr lang="en-US" altLang="zh-CN" sz="2400" b="1" baseline="-25000" dirty="0" err="1">
                <a:effectLst/>
                <a:latin typeface="宋体" panose="02010600030101010101" pitchFamily="2" charset="-122"/>
                <a:ea typeface="宋体" panose="02010600030101010101" pitchFamily="2" charset="-122"/>
              </a:rPr>
              <a:t>A</a:t>
            </a:r>
            <a:r>
              <a:rPr lang="en-US" altLang="zh-CN" sz="2400" b="1" dirty="0" err="1">
                <a:solidFill>
                  <a:schemeClr val="tx2">
                    <a:lumMod val="75000"/>
                  </a:schemeClr>
                </a:solidFill>
                <a:latin typeface="宋体" panose="02010600030101010101" pitchFamily="2" charset="-122"/>
                <a:ea typeface="宋体" panose="02010600030101010101" pitchFamily="2" charset="-122"/>
              </a:rPr>
              <a:t>-</a:t>
            </a:r>
            <a:r>
              <a:rPr lang="en-US" altLang="zh-CN" sz="2400" b="1" dirty="0" err="1">
                <a:effectLst/>
                <a:latin typeface="宋体" panose="02010600030101010101" pitchFamily="2" charset="-122"/>
                <a:ea typeface="宋体" panose="02010600030101010101" pitchFamily="2" charset="-122"/>
              </a:rPr>
              <a:t>v</a:t>
            </a:r>
            <a:r>
              <a:rPr lang="en-US" altLang="zh-CN" sz="2400" b="1" baseline="-25000" dirty="0" err="1">
                <a:latin typeface="宋体" panose="02010600030101010101" pitchFamily="2" charset="-122"/>
                <a:ea typeface="宋体" panose="02010600030101010101" pitchFamily="2" charset="-122"/>
              </a:rPr>
              <a:t>B</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zh-CN" altLang="en-US" sz="2400" dirty="0">
                <a:solidFill>
                  <a:schemeClr val="tx2">
                    <a:lumMod val="75000"/>
                  </a:schemeClr>
                </a:solidFill>
                <a:latin typeface="宋体" panose="02010600030101010101" pitchFamily="2" charset="-122"/>
                <a:ea typeface="宋体" panose="02010600030101010101" pitchFamily="2" charset="-122"/>
              </a:rPr>
              <a:t>。如果</a:t>
            </a:r>
            <a:r>
              <a:rPr lang="en-US" altLang="zh-CN" sz="2400" dirty="0">
                <a:solidFill>
                  <a:schemeClr val="tx2">
                    <a:lumMod val="75000"/>
                  </a:schemeClr>
                </a:solidFill>
                <a:latin typeface="宋体" panose="02010600030101010101" pitchFamily="2" charset="-122"/>
                <a:ea typeface="宋体" panose="02010600030101010101" pitchFamily="2" charset="-122"/>
              </a:rPr>
              <a:t>Q0</a:t>
            </a:r>
            <a:r>
              <a:rPr lang="zh-CN" altLang="en-US" sz="2400" dirty="0">
                <a:solidFill>
                  <a:schemeClr val="tx2">
                    <a:lumMod val="75000"/>
                  </a:schemeClr>
                </a:solidFill>
                <a:latin typeface="宋体" panose="02010600030101010101" pitchFamily="2" charset="-122"/>
                <a:ea typeface="宋体" panose="02010600030101010101" pitchFamily="2" charset="-122"/>
              </a:rPr>
              <a:t>无解，说明两个备选方案的成本没有交点，其中有一个方案的成本始终低于另一个方案的成本，这个方案显然应该被选。</a:t>
            </a:r>
          </a:p>
        </p:txBody>
      </p:sp>
      <p:sp>
        <p:nvSpPr>
          <p:cNvPr id="10" name="文本框 1"/>
          <p:cNvSpPr txBox="1"/>
          <p:nvPr/>
        </p:nvSpPr>
        <p:spPr>
          <a:xfrm>
            <a:off x="0" y="546834"/>
            <a:ext cx="12191999"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pPr algn="l"/>
            <a:r>
              <a:rPr lang="en-US" altLang="zh-CN" sz="3600" dirty="0"/>
              <a:t>        6</a:t>
            </a:r>
            <a:r>
              <a:rPr lang="zh-CN" altLang="en-US" sz="3600" dirty="0"/>
              <a:t>、</a:t>
            </a:r>
            <a:r>
              <a:rPr lang="zh-CN" altLang="zh-CN" sz="3600" dirty="0"/>
              <a:t>两种可选方案的成本决策分析概述</a:t>
            </a:r>
            <a:endParaRPr lang="zh-CN" altLang="en-US" sz="3600" dirty="0"/>
          </a:p>
        </p:txBody>
      </p:sp>
      <p:sp>
        <p:nvSpPr>
          <p:cNvPr id="7" name="矩形 6">
            <a:extLst>
              <a:ext uri="{FF2B5EF4-FFF2-40B4-BE49-F238E27FC236}">
                <a16:creationId xmlns:a16="http://schemas.microsoft.com/office/drawing/2014/main" id="{F27A8586-D39E-44E0-BBC4-DC38C97032B8}"/>
              </a:ext>
            </a:extLst>
          </p:cNvPr>
          <p:cNvSpPr/>
          <p:nvPr/>
        </p:nvSpPr>
        <p:spPr>
          <a:xfrm>
            <a:off x="3371499" y="3687052"/>
            <a:ext cx="2137339" cy="436164"/>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34749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Part7</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库存管理决策模型</a:t>
            </a:r>
          </a:p>
        </p:txBody>
      </p:sp>
    </p:spTree>
    <p:extLst>
      <p:ext uri="{BB962C8B-B14F-4D97-AF65-F5344CB8AC3E}">
        <p14:creationId xmlns:p14="http://schemas.microsoft.com/office/powerpoint/2010/main" val="1393645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21763" y="665324"/>
            <a:ext cx="3133113" cy="830997"/>
          </a:xfrm>
          <a:prstGeom prst="rect">
            <a:avLst/>
          </a:prstGeom>
          <a:noFill/>
        </p:spPr>
        <p:txBody>
          <a:bodyPr wrap="square" rtlCol="0">
            <a:spAutoFit/>
          </a:bodyPr>
          <a:lstStyle/>
          <a:p>
            <a:pPr algn="just"/>
            <a:r>
              <a:rPr lang="zh-CN" altLang="en-US" sz="4800" b="1" dirty="0">
                <a:solidFill>
                  <a:schemeClr val="tx2">
                    <a:lumMod val="75000"/>
                  </a:schemeClr>
                </a:solidFill>
                <a:latin typeface="宋体" panose="02010600030101010101" pitchFamily="2" charset="-122"/>
                <a:ea typeface="宋体" panose="02010600030101010101" pitchFamily="2" charset="-122"/>
              </a:rPr>
              <a:t>决策模型</a:t>
            </a:r>
          </a:p>
        </p:txBody>
      </p:sp>
      <p:pic>
        <p:nvPicPr>
          <p:cNvPr id="14" name="图片 1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698188" y="651753"/>
            <a:ext cx="9109242" cy="5997375"/>
          </a:xfrm>
          <a:prstGeom prst="rect">
            <a:avLst/>
          </a:prstGeom>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278283" y="0"/>
            <a:ext cx="4460816" cy="830997"/>
          </a:xfrm>
          <a:prstGeom prst="rect">
            <a:avLst/>
          </a:prstGeom>
          <a:noFill/>
        </p:spPr>
        <p:txBody>
          <a:bodyPr wrap="square" rtlCol="0">
            <a:spAutoFit/>
          </a:bodyPr>
          <a:lstStyle/>
          <a:p>
            <a:pPr algn="just"/>
            <a:r>
              <a:rPr lang="zh-CN" altLang="en-US" sz="4800" b="1" dirty="0">
                <a:solidFill>
                  <a:schemeClr val="tx2">
                    <a:lumMod val="75000"/>
                  </a:schemeClr>
                </a:solidFill>
                <a:latin typeface="宋体" panose="02010600030101010101" pitchFamily="2" charset="-122"/>
                <a:ea typeface="宋体" panose="02010600030101010101" pitchFamily="2" charset="-122"/>
              </a:rPr>
              <a:t>库存变化模型</a:t>
            </a:r>
          </a:p>
        </p:txBody>
      </p:sp>
      <p:sp>
        <p:nvSpPr>
          <p:cNvPr id="4" name="文本框 3">
            <a:extLst>
              <a:ext uri="{FF2B5EF4-FFF2-40B4-BE49-F238E27FC236}">
                <a16:creationId xmlns:a16="http://schemas.microsoft.com/office/drawing/2014/main" id="{74913112-AF79-4144-91D0-55C8B8196EBF}"/>
              </a:ext>
            </a:extLst>
          </p:cNvPr>
          <p:cNvSpPr txBox="1"/>
          <p:nvPr/>
        </p:nvSpPr>
        <p:spPr>
          <a:xfrm>
            <a:off x="69625" y="889620"/>
            <a:ext cx="10517491" cy="3970318"/>
          </a:xfrm>
          <a:prstGeom prst="rect">
            <a:avLst/>
          </a:prstGeom>
          <a:noFill/>
        </p:spPr>
        <p:txBody>
          <a:bodyPr wrap="square" rtlCol="0">
            <a:spAutoFit/>
          </a:bodyPr>
          <a:lstStyle/>
          <a:p>
            <a:r>
              <a:rPr lang="zh-CN" altLang="en-US" dirty="0"/>
              <a:t>期初库存</a:t>
            </a:r>
            <a:r>
              <a:rPr lang="en-US" altLang="zh-CN" dirty="0"/>
              <a:t>_t = </a:t>
            </a:r>
            <a:r>
              <a:rPr lang="zh-CN" altLang="en-US" dirty="0"/>
              <a:t>期末库存</a:t>
            </a:r>
            <a:r>
              <a:rPr lang="en-US" altLang="zh-CN" dirty="0"/>
              <a:t>_t-1</a:t>
            </a:r>
          </a:p>
          <a:p>
            <a:r>
              <a:rPr lang="zh-CN" altLang="en-US" dirty="0"/>
              <a:t>期末库存</a:t>
            </a:r>
            <a:r>
              <a:rPr lang="en-US" altLang="zh-CN" dirty="0"/>
              <a:t>_t = max(</a:t>
            </a:r>
            <a:r>
              <a:rPr lang="zh-CN" altLang="en-US" dirty="0"/>
              <a:t>期初库存</a:t>
            </a:r>
            <a:r>
              <a:rPr lang="en-US" altLang="zh-CN" dirty="0"/>
              <a:t>_t+</a:t>
            </a:r>
            <a:r>
              <a:rPr lang="zh-CN" altLang="en-US" dirty="0"/>
              <a:t>到货量</a:t>
            </a:r>
            <a:r>
              <a:rPr lang="en-US" altLang="zh-CN" dirty="0"/>
              <a:t>_t-</a:t>
            </a:r>
            <a:r>
              <a:rPr lang="zh-CN" altLang="en-US" dirty="0"/>
              <a:t>日需求</a:t>
            </a:r>
            <a:r>
              <a:rPr lang="en-US" altLang="zh-CN" dirty="0"/>
              <a:t>_t, 0)   </a:t>
            </a:r>
            <a:r>
              <a:rPr lang="zh-CN" altLang="en-US" dirty="0">
                <a:solidFill>
                  <a:srgbClr val="FF0000"/>
                </a:solidFill>
              </a:rPr>
              <a:t>有的时候会缺货，约束：期末库存</a:t>
            </a:r>
            <a:r>
              <a:rPr lang="en-US" altLang="zh-CN" dirty="0">
                <a:solidFill>
                  <a:srgbClr val="FF0000"/>
                </a:solidFill>
              </a:rPr>
              <a:t>&gt;=0</a:t>
            </a:r>
          </a:p>
          <a:p>
            <a:r>
              <a:rPr lang="zh-CN" altLang="en-US" dirty="0"/>
              <a:t>缺货量 </a:t>
            </a:r>
            <a:r>
              <a:rPr lang="en-US" altLang="zh-CN" dirty="0"/>
              <a:t>= max(-</a:t>
            </a:r>
            <a:r>
              <a:rPr lang="zh-CN" altLang="en-US" dirty="0"/>
              <a:t>期初库存</a:t>
            </a:r>
            <a:r>
              <a:rPr lang="en-US" altLang="zh-CN" dirty="0"/>
              <a:t>_t-</a:t>
            </a:r>
            <a:r>
              <a:rPr lang="zh-CN" altLang="en-US" dirty="0"/>
              <a:t>到货量</a:t>
            </a:r>
            <a:r>
              <a:rPr lang="en-US" altLang="zh-CN" dirty="0"/>
              <a:t>_t+</a:t>
            </a:r>
            <a:r>
              <a:rPr lang="zh-CN" altLang="en-US" dirty="0"/>
              <a:t>日需求</a:t>
            </a:r>
            <a:r>
              <a:rPr lang="en-US" altLang="zh-CN" dirty="0"/>
              <a:t>_t, 0) </a:t>
            </a:r>
          </a:p>
          <a:p>
            <a:r>
              <a:rPr lang="zh-CN" altLang="en-US" dirty="0"/>
              <a:t>是否订货：比较复杂，有的时候订货周期固定，那么就按照周期来，有的时候也与安全库存相关</a:t>
            </a:r>
            <a:endParaRPr lang="en-US" altLang="zh-CN" dirty="0"/>
          </a:p>
          <a:p>
            <a:r>
              <a:rPr lang="zh-CN" altLang="en-US" dirty="0"/>
              <a:t>到货量</a:t>
            </a:r>
            <a:r>
              <a:rPr lang="en-US" altLang="zh-CN" dirty="0"/>
              <a:t>_t = </a:t>
            </a:r>
            <a:r>
              <a:rPr lang="zh-CN" altLang="en-US" dirty="0"/>
              <a:t>是否订货</a:t>
            </a:r>
            <a:r>
              <a:rPr lang="en-US" altLang="zh-CN" dirty="0"/>
              <a:t>_(t-td)*</a:t>
            </a:r>
            <a:r>
              <a:rPr lang="zh-CN" altLang="en-US" dirty="0"/>
              <a:t>到货量</a:t>
            </a:r>
            <a:r>
              <a:rPr lang="en-US" altLang="zh-CN" dirty="0"/>
              <a:t>     </a:t>
            </a:r>
            <a:r>
              <a:rPr lang="zh-CN" altLang="en-US" dirty="0">
                <a:solidFill>
                  <a:srgbClr val="FF0000"/>
                </a:solidFill>
              </a:rPr>
              <a:t>有的时候是延迟交付的，到货天数为</a:t>
            </a:r>
            <a:r>
              <a:rPr lang="en-US" altLang="zh-CN" dirty="0">
                <a:solidFill>
                  <a:srgbClr val="FF0000"/>
                </a:solidFill>
              </a:rPr>
              <a:t>td</a:t>
            </a:r>
          </a:p>
          <a:p>
            <a:r>
              <a:rPr lang="zh-CN" altLang="en-US" dirty="0"/>
              <a:t>存储成本 </a:t>
            </a:r>
            <a:r>
              <a:rPr lang="en-US" altLang="zh-CN" dirty="0"/>
              <a:t>= (</a:t>
            </a:r>
            <a:r>
              <a:rPr lang="zh-CN" altLang="en-US" dirty="0"/>
              <a:t>期初库存</a:t>
            </a:r>
            <a:r>
              <a:rPr lang="en-US" altLang="zh-CN" dirty="0"/>
              <a:t>+</a:t>
            </a:r>
            <a:r>
              <a:rPr lang="zh-CN" altLang="en-US" dirty="0"/>
              <a:t>期末库存</a:t>
            </a:r>
            <a:r>
              <a:rPr lang="en-US" altLang="zh-CN" dirty="0"/>
              <a:t>)/2*</a:t>
            </a:r>
            <a:r>
              <a:rPr lang="zh-CN" altLang="en-US" dirty="0"/>
              <a:t>日单位存储成本  </a:t>
            </a:r>
            <a:r>
              <a:rPr lang="zh-CN" altLang="en-US" dirty="0">
                <a:solidFill>
                  <a:srgbClr val="FF0000"/>
                </a:solidFill>
              </a:rPr>
              <a:t>有的时候算的不是平均库存，注意调整</a:t>
            </a:r>
            <a:endParaRPr lang="en-US" altLang="zh-CN" dirty="0"/>
          </a:p>
          <a:p>
            <a:r>
              <a:rPr lang="zh-CN" altLang="en-US" dirty="0"/>
              <a:t>缺货成本 </a:t>
            </a:r>
            <a:r>
              <a:rPr lang="en-US" altLang="zh-CN" dirty="0"/>
              <a:t>= </a:t>
            </a:r>
            <a:r>
              <a:rPr lang="zh-CN" altLang="en-US" dirty="0"/>
              <a:t>缺货量 </a:t>
            </a:r>
            <a:r>
              <a:rPr lang="en-US" altLang="zh-CN" dirty="0"/>
              <a:t>* </a:t>
            </a:r>
            <a:r>
              <a:rPr lang="zh-CN" altLang="en-US" dirty="0"/>
              <a:t>单位缺货成本</a:t>
            </a:r>
            <a:endParaRPr lang="en-US" altLang="zh-CN" dirty="0"/>
          </a:p>
          <a:p>
            <a:r>
              <a:rPr lang="zh-CN" altLang="en-US" dirty="0"/>
              <a:t>订货成本 </a:t>
            </a:r>
            <a:r>
              <a:rPr lang="en-US" altLang="zh-CN" dirty="0"/>
              <a:t>= </a:t>
            </a:r>
            <a:r>
              <a:rPr lang="zh-CN" altLang="en-US" dirty="0"/>
              <a:t>是否订货 </a:t>
            </a:r>
            <a:r>
              <a:rPr lang="en-US" altLang="zh-CN" dirty="0"/>
              <a:t>* </a:t>
            </a:r>
            <a:r>
              <a:rPr lang="zh-CN" altLang="en-US" dirty="0"/>
              <a:t>一次订货成本</a:t>
            </a:r>
            <a:endParaRPr lang="en-US" altLang="zh-CN" dirty="0"/>
          </a:p>
          <a:p>
            <a:r>
              <a:rPr lang="zh-CN" altLang="en-US" dirty="0"/>
              <a:t>采购成本 </a:t>
            </a:r>
            <a:r>
              <a:rPr lang="en-US" altLang="zh-CN" dirty="0"/>
              <a:t>= </a:t>
            </a:r>
            <a:r>
              <a:rPr lang="zh-CN" altLang="en-US" dirty="0"/>
              <a:t>是否订货 </a:t>
            </a:r>
            <a:r>
              <a:rPr lang="en-US" altLang="zh-CN" dirty="0"/>
              <a:t>* </a:t>
            </a:r>
            <a:r>
              <a:rPr lang="zh-CN" altLang="en-US" dirty="0"/>
              <a:t>订购量 </a:t>
            </a:r>
            <a:r>
              <a:rPr lang="en-US" altLang="zh-CN" dirty="0"/>
              <a:t>* </a:t>
            </a:r>
            <a:r>
              <a:rPr lang="zh-CN" altLang="en-US" dirty="0"/>
              <a:t>单价   </a:t>
            </a:r>
            <a:r>
              <a:rPr lang="zh-CN" altLang="en-US" dirty="0">
                <a:solidFill>
                  <a:srgbClr val="FF0000"/>
                </a:solidFill>
              </a:rPr>
              <a:t>有的时候还要考虑采购成本</a:t>
            </a:r>
            <a:endParaRPr lang="en-US" altLang="zh-CN" dirty="0">
              <a:solidFill>
                <a:srgbClr val="FF0000"/>
              </a:solidFill>
            </a:endParaRPr>
          </a:p>
          <a:p>
            <a:endParaRPr lang="en-US" altLang="zh-CN" dirty="0"/>
          </a:p>
          <a:p>
            <a:r>
              <a:rPr lang="zh-CN" altLang="en-US" dirty="0"/>
              <a:t>约束：</a:t>
            </a:r>
            <a:endParaRPr lang="en-US" altLang="zh-CN" dirty="0"/>
          </a:p>
          <a:p>
            <a:r>
              <a:rPr lang="zh-CN" altLang="en-US" dirty="0"/>
              <a:t>在延迟交付问题中，一旦采购之后到货之前都不再订货，于是 是否订货 ：</a:t>
            </a:r>
            <a:endParaRPr lang="en-US" altLang="zh-CN" dirty="0"/>
          </a:p>
          <a:p>
            <a:r>
              <a:rPr lang="zh-CN" altLang="en-US" dirty="0"/>
              <a:t>是否订货 </a:t>
            </a:r>
            <a:r>
              <a:rPr lang="en-US" altLang="zh-CN" dirty="0"/>
              <a:t>= max(if(</a:t>
            </a:r>
            <a:r>
              <a:rPr lang="zh-CN" altLang="en-US" dirty="0"/>
              <a:t>期末库存</a:t>
            </a:r>
            <a:r>
              <a:rPr lang="en-US" altLang="zh-CN" dirty="0"/>
              <a:t>&lt;</a:t>
            </a:r>
            <a:r>
              <a:rPr lang="zh-CN" altLang="en-US" dirty="0"/>
              <a:t>安全库存</a:t>
            </a:r>
            <a:r>
              <a:rPr lang="en-US" altLang="zh-CN" dirty="0"/>
              <a:t>, 1, 0) – sum(</a:t>
            </a:r>
            <a:r>
              <a:rPr lang="zh-CN" altLang="en-US" dirty="0"/>
              <a:t>前</a:t>
            </a:r>
            <a:r>
              <a:rPr lang="en-US" altLang="zh-CN" dirty="0"/>
              <a:t>td</a:t>
            </a:r>
            <a:r>
              <a:rPr lang="zh-CN" altLang="en-US" dirty="0"/>
              <a:t>天的是否订货标志求和</a:t>
            </a:r>
            <a:r>
              <a:rPr lang="en-US" altLang="zh-CN" dirty="0"/>
              <a:t>), 0)  </a:t>
            </a:r>
          </a:p>
          <a:p>
            <a:r>
              <a:rPr lang="zh-CN" altLang="en-US" dirty="0"/>
              <a:t>这个我也没把握，谢老师说这种问题太难了多半不考</a:t>
            </a:r>
          </a:p>
        </p:txBody>
      </p:sp>
      <p:pic>
        <p:nvPicPr>
          <p:cNvPr id="6" name="图片 5">
            <a:extLst>
              <a:ext uri="{FF2B5EF4-FFF2-40B4-BE49-F238E27FC236}">
                <a16:creationId xmlns:a16="http://schemas.microsoft.com/office/drawing/2014/main" id="{2FFECF44-506B-4AF4-9ABA-9E743916FC6E}"/>
              </a:ext>
            </a:extLst>
          </p:cNvPr>
          <p:cNvPicPr>
            <a:picLocks noChangeAspect="1"/>
          </p:cNvPicPr>
          <p:nvPr/>
        </p:nvPicPr>
        <p:blipFill>
          <a:blip r:embed="rId2"/>
          <a:stretch>
            <a:fillRect/>
          </a:stretch>
        </p:blipFill>
        <p:spPr>
          <a:xfrm>
            <a:off x="8362701" y="3843263"/>
            <a:ext cx="3829299" cy="2810145"/>
          </a:xfrm>
          <a:prstGeom prst="rect">
            <a:avLst/>
          </a:prstGeom>
        </p:spPr>
      </p:pic>
      <p:sp>
        <p:nvSpPr>
          <p:cNvPr id="7" name="文本框 6">
            <a:extLst>
              <a:ext uri="{FF2B5EF4-FFF2-40B4-BE49-F238E27FC236}">
                <a16:creationId xmlns:a16="http://schemas.microsoft.com/office/drawing/2014/main" id="{FB5ADF38-3F80-4C84-A641-DF953944651A}"/>
              </a:ext>
            </a:extLst>
          </p:cNvPr>
          <p:cNvSpPr txBox="1"/>
          <p:nvPr/>
        </p:nvSpPr>
        <p:spPr>
          <a:xfrm>
            <a:off x="278283" y="5329237"/>
            <a:ext cx="7571303" cy="1200329"/>
          </a:xfrm>
          <a:prstGeom prst="rect">
            <a:avLst/>
          </a:prstGeom>
          <a:noFill/>
        </p:spPr>
        <p:txBody>
          <a:bodyPr wrap="none" rtlCol="0">
            <a:spAutoFit/>
          </a:bodyPr>
          <a:lstStyle/>
          <a:p>
            <a:r>
              <a:rPr lang="zh-CN" altLang="en-US" dirty="0"/>
              <a:t>具体的公式一定要认真读题，尤其是要搞清楚订货后到底什么时候到货？</a:t>
            </a:r>
            <a:endParaRPr lang="en-US" altLang="zh-CN" dirty="0"/>
          </a:p>
          <a:p>
            <a:r>
              <a:rPr lang="zh-CN" altLang="en-US" dirty="0"/>
              <a:t>当天到货？次日到货？到货后加到期初库存还是期末库存？</a:t>
            </a:r>
            <a:endParaRPr lang="en-US" altLang="zh-CN" dirty="0"/>
          </a:p>
          <a:p>
            <a:endParaRPr lang="en-US" altLang="zh-CN" dirty="0"/>
          </a:p>
          <a:p>
            <a:r>
              <a:rPr lang="zh-CN" altLang="en-US" dirty="0"/>
              <a:t>还有存储成本也要看题意</a:t>
            </a:r>
          </a:p>
        </p:txBody>
      </p:sp>
    </p:spTree>
    <p:extLst>
      <p:ext uri="{BB962C8B-B14F-4D97-AF65-F5344CB8AC3E}">
        <p14:creationId xmlns:p14="http://schemas.microsoft.com/office/powerpoint/2010/main" val="6843593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9847337-14E0-474E-A493-B4BBCBCA3997}"/>
              </a:ext>
            </a:extLst>
          </p:cNvPr>
          <p:cNvSpPr txBox="1"/>
          <p:nvPr/>
        </p:nvSpPr>
        <p:spPr>
          <a:xfrm>
            <a:off x="-2" y="426030"/>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、经济订货量分析</a:t>
            </a:r>
          </a:p>
        </p:txBody>
      </p:sp>
      <p:graphicFrame>
        <p:nvGraphicFramePr>
          <p:cNvPr id="4" name="对象 3">
            <a:extLst>
              <a:ext uri="{FF2B5EF4-FFF2-40B4-BE49-F238E27FC236}">
                <a16:creationId xmlns:a16="http://schemas.microsoft.com/office/drawing/2014/main" id="{40FF035C-9351-4D04-8544-EF6692C94406}"/>
              </a:ext>
            </a:extLst>
          </p:cNvPr>
          <p:cNvGraphicFramePr>
            <a:graphicFrameLocks noChangeAspect="1"/>
          </p:cNvGraphicFramePr>
          <p:nvPr/>
        </p:nvGraphicFramePr>
        <p:xfrm>
          <a:off x="890423" y="3469667"/>
          <a:ext cx="3106224" cy="1117379"/>
        </p:xfrm>
        <a:graphic>
          <a:graphicData uri="http://schemas.openxmlformats.org/presentationml/2006/ole">
            <mc:AlternateContent xmlns:mc="http://schemas.openxmlformats.org/markup-compatibility/2006">
              <mc:Choice xmlns:v="urn:schemas-microsoft-com:vml" Requires="v">
                <p:oleObj spid="_x0000_s4188" r:id="rId3" imgW="1231366" imgH="431613" progId="Equation.3">
                  <p:embed/>
                </p:oleObj>
              </mc:Choice>
              <mc:Fallback>
                <p:oleObj r:id="rId3" imgW="1231366" imgH="431613" progId="Equation.3">
                  <p:embed/>
                  <p:pic>
                    <p:nvPicPr>
                      <p:cNvPr id="4" name="对象 3">
                        <a:extLst>
                          <a:ext uri="{FF2B5EF4-FFF2-40B4-BE49-F238E27FC236}">
                            <a16:creationId xmlns:a16="http://schemas.microsoft.com/office/drawing/2014/main" id="{40FF035C-9351-4D04-8544-EF6692C94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423" y="3469667"/>
                        <a:ext cx="3106224" cy="1117379"/>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66661CFE-3220-4DB7-8B4A-A7B4DDF6E0B3}"/>
              </a:ext>
            </a:extLst>
          </p:cNvPr>
          <p:cNvGraphicFramePr>
            <a:graphicFrameLocks noChangeAspect="1"/>
          </p:cNvGraphicFramePr>
          <p:nvPr/>
        </p:nvGraphicFramePr>
        <p:xfrm>
          <a:off x="5167449" y="3332404"/>
          <a:ext cx="1857097" cy="1237212"/>
        </p:xfrm>
        <a:graphic>
          <a:graphicData uri="http://schemas.openxmlformats.org/presentationml/2006/ole">
            <mc:AlternateContent xmlns:mc="http://schemas.openxmlformats.org/markup-compatibility/2006">
              <mc:Choice xmlns:v="urn:schemas-microsoft-com:vml" Requires="v">
                <p:oleObj spid="_x0000_s4189" name="公式" r:id="rId5" imgW="761760" imgH="444240" progId="Equation.3">
                  <p:embed/>
                </p:oleObj>
              </mc:Choice>
              <mc:Fallback>
                <p:oleObj name="公式" r:id="rId5" imgW="761760" imgH="444240" progId="Equation.3">
                  <p:embed/>
                  <p:pic>
                    <p:nvPicPr>
                      <p:cNvPr id="10" name="对象 9">
                        <a:extLst>
                          <a:ext uri="{FF2B5EF4-FFF2-40B4-BE49-F238E27FC236}">
                            <a16:creationId xmlns:a16="http://schemas.microsoft.com/office/drawing/2014/main" id="{66661CFE-3220-4DB7-8B4A-A7B4DDF6E0B3}"/>
                          </a:ext>
                        </a:extLst>
                      </p:cNvPr>
                      <p:cNvPicPr>
                        <a:picLocks noChangeAspect="1" noChangeArrowheads="1"/>
                      </p:cNvPicPr>
                      <p:nvPr/>
                    </p:nvPicPr>
                    <p:blipFill>
                      <a:blip r:embed="rId6"/>
                      <a:srcRect/>
                      <a:stretch>
                        <a:fillRect/>
                      </a:stretch>
                    </p:blipFill>
                    <p:spPr bwMode="auto">
                      <a:xfrm>
                        <a:off x="5167449" y="3332404"/>
                        <a:ext cx="1857097" cy="1237212"/>
                      </a:xfrm>
                      <a:prstGeom prst="rect">
                        <a:avLst/>
                      </a:prstGeom>
                      <a:noFill/>
                    </p:spPr>
                  </p:pic>
                </p:oleObj>
              </mc:Fallback>
            </mc:AlternateContent>
          </a:graphicData>
        </a:graphic>
      </p:graphicFrame>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6170DBA0-C187-4791-8652-4B2E7DEE9211}"/>
              </a:ext>
            </a:extLst>
          </p:cNvPr>
          <p:cNvGraphicFramePr>
            <a:graphicFrameLocks noChangeAspect="1"/>
          </p:cNvGraphicFramePr>
          <p:nvPr/>
        </p:nvGraphicFramePr>
        <p:xfrm>
          <a:off x="846886" y="1951837"/>
          <a:ext cx="3796941" cy="1188682"/>
        </p:xfrm>
        <a:graphic>
          <a:graphicData uri="http://schemas.openxmlformats.org/presentationml/2006/ole">
            <mc:AlternateContent xmlns:mc="http://schemas.openxmlformats.org/markup-compatibility/2006">
              <mc:Choice xmlns:v="urn:schemas-microsoft-com:vml" Requires="v">
                <p:oleObj spid="_x0000_s4190" r:id="rId7" imgW="1371600" imgH="419100" progId="Equation.3">
                  <p:embed/>
                </p:oleObj>
              </mc:Choice>
              <mc:Fallback>
                <p:oleObj r:id="rId7" imgW="1371600" imgH="419100" progId="Equation.3">
                  <p:embed/>
                  <p:pic>
                    <p:nvPicPr>
                      <p:cNvPr id="18" name="对象 17">
                        <a:extLst>
                          <a:ext uri="{FF2B5EF4-FFF2-40B4-BE49-F238E27FC236}">
                            <a16:creationId xmlns:a16="http://schemas.microsoft.com/office/drawing/2014/main" id="{6170DBA0-C187-4791-8652-4B2E7DEE92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6886" y="1951837"/>
                        <a:ext cx="3796941" cy="1188682"/>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9CC30CA8-876A-408B-8B82-AA9522779DD4}"/>
              </a:ext>
            </a:extLst>
          </p:cNvPr>
          <p:cNvGraphicFramePr>
            <a:graphicFrameLocks noChangeAspect="1"/>
          </p:cNvGraphicFramePr>
          <p:nvPr/>
        </p:nvGraphicFramePr>
        <p:xfrm>
          <a:off x="5363187" y="1869899"/>
          <a:ext cx="3448321" cy="1214448"/>
        </p:xfrm>
        <a:graphic>
          <a:graphicData uri="http://schemas.openxmlformats.org/presentationml/2006/ole">
            <mc:AlternateContent xmlns:mc="http://schemas.openxmlformats.org/markup-compatibility/2006">
              <mc:Choice xmlns:v="urn:schemas-microsoft-com:vml" Requires="v">
                <p:oleObj spid="_x0000_s4191" r:id="rId9" imgW="1244600" imgH="469900" progId="Equation.3">
                  <p:embed/>
                </p:oleObj>
              </mc:Choice>
              <mc:Fallback>
                <p:oleObj r:id="rId9" imgW="1244600" imgH="469900" progId="Equation.3">
                  <p:embed/>
                  <p:pic>
                    <p:nvPicPr>
                      <p:cNvPr id="19" name="对象 18">
                        <a:extLst>
                          <a:ext uri="{FF2B5EF4-FFF2-40B4-BE49-F238E27FC236}">
                            <a16:creationId xmlns:a16="http://schemas.microsoft.com/office/drawing/2014/main" id="{9CC30CA8-876A-408B-8B82-AA9522779D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3187" y="1869899"/>
                        <a:ext cx="3448321" cy="1214448"/>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9BD06867-2640-4FDB-BCC8-1E41926036B7}"/>
              </a:ext>
            </a:extLst>
          </p:cNvPr>
          <p:cNvGraphicFramePr>
            <a:graphicFrameLocks noChangeAspect="1"/>
          </p:cNvGraphicFramePr>
          <p:nvPr/>
        </p:nvGraphicFramePr>
        <p:xfrm>
          <a:off x="952070" y="5044726"/>
          <a:ext cx="2345936" cy="704597"/>
        </p:xfrm>
        <a:graphic>
          <a:graphicData uri="http://schemas.openxmlformats.org/presentationml/2006/ole">
            <mc:AlternateContent xmlns:mc="http://schemas.openxmlformats.org/markup-compatibility/2006">
              <mc:Choice xmlns:v="urn:schemas-microsoft-com:vml" Requires="v">
                <p:oleObj spid="_x0000_s4192" r:id="rId11" imgW="927100" imgH="241300" progId="Equation.3">
                  <p:embed/>
                </p:oleObj>
              </mc:Choice>
              <mc:Fallback>
                <p:oleObj r:id="rId11" imgW="927100" imgH="241300" progId="Equation.3">
                  <p:embed/>
                  <p:pic>
                    <p:nvPicPr>
                      <p:cNvPr id="20" name="对象 19">
                        <a:extLst>
                          <a:ext uri="{FF2B5EF4-FFF2-40B4-BE49-F238E27FC236}">
                            <a16:creationId xmlns:a16="http://schemas.microsoft.com/office/drawing/2014/main" id="{9BD06867-2640-4FDB-BCC8-1E41926036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2070" y="5044726"/>
                        <a:ext cx="2345936" cy="704597"/>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48B48F92-E189-471B-91FD-7F7404431543}"/>
              </a:ext>
            </a:extLst>
          </p:cNvPr>
          <p:cNvGraphicFramePr>
            <a:graphicFrameLocks noChangeAspect="1"/>
          </p:cNvGraphicFramePr>
          <p:nvPr/>
        </p:nvGraphicFramePr>
        <p:xfrm>
          <a:off x="5274816" y="4848498"/>
          <a:ext cx="1642364" cy="1194077"/>
        </p:xfrm>
        <a:graphic>
          <a:graphicData uri="http://schemas.openxmlformats.org/presentationml/2006/ole">
            <mc:AlternateContent xmlns:mc="http://schemas.openxmlformats.org/markup-compatibility/2006">
              <mc:Choice xmlns:v="urn:schemas-microsoft-com:vml" Requires="v">
                <p:oleObj spid="_x0000_s4193" r:id="rId13" imgW="672808" imgH="444307" progId="Equation.3">
                  <p:embed/>
                </p:oleObj>
              </mc:Choice>
              <mc:Fallback>
                <p:oleObj r:id="rId13" imgW="672808" imgH="444307" progId="Equation.3">
                  <p:embed/>
                  <p:pic>
                    <p:nvPicPr>
                      <p:cNvPr id="21" name="对象 20">
                        <a:extLst>
                          <a:ext uri="{FF2B5EF4-FFF2-40B4-BE49-F238E27FC236}">
                            <a16:creationId xmlns:a16="http://schemas.microsoft.com/office/drawing/2014/main" id="{48B48F92-E189-471B-91FD-7F740443154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74816" y="4848498"/>
                        <a:ext cx="1642364" cy="1194077"/>
                      </a:xfrm>
                      <a:prstGeom prst="rect">
                        <a:avLst/>
                      </a:prstGeom>
                      <a:noFill/>
                    </p:spPr>
                  </p:pic>
                </p:oleObj>
              </mc:Fallback>
            </mc:AlternateContent>
          </a:graphicData>
        </a:graphic>
      </p:graphicFrame>
      <p:sp>
        <p:nvSpPr>
          <p:cNvPr id="2" name="TextBox 1"/>
          <p:cNvSpPr txBox="1"/>
          <p:nvPr/>
        </p:nvSpPr>
        <p:spPr>
          <a:xfrm>
            <a:off x="803209" y="1072361"/>
            <a:ext cx="1991362" cy="584775"/>
          </a:xfrm>
          <a:prstGeom prst="rect">
            <a:avLst/>
          </a:prstGeom>
          <a:noFill/>
        </p:spPr>
        <p:txBody>
          <a:bodyPr wrap="square" rtlCol="0">
            <a:spAutoFit/>
          </a:bodyPr>
          <a:lstStyle/>
          <a:p>
            <a:r>
              <a:rPr lang="zh-CN" altLang="en-US" sz="3200" b="1" dirty="0">
                <a:solidFill>
                  <a:schemeClr val="tx2">
                    <a:lumMod val="75000"/>
                  </a:schemeClr>
                </a:solidFill>
                <a:latin typeface="宋体" pitchFamily="2" charset="-122"/>
                <a:ea typeface="宋体" pitchFamily="2" charset="-122"/>
              </a:rPr>
              <a:t>定量模型</a:t>
            </a:r>
          </a:p>
        </p:txBody>
      </p:sp>
      <p:sp>
        <p:nvSpPr>
          <p:cNvPr id="13" name="矩形 12"/>
          <p:cNvSpPr/>
          <p:nvPr/>
        </p:nvSpPr>
        <p:spPr>
          <a:xfrm>
            <a:off x="7822085" y="4103681"/>
            <a:ext cx="3686710" cy="2308324"/>
          </a:xfrm>
          <a:prstGeom prst="rect">
            <a:avLst/>
          </a:prstGeom>
          <a:blipFill>
            <a:blip r:embed="rId15">
              <a:extLst>
                <a:ext uri="{BEBA8EAE-BF5A-486C-A8C5-ECC9F3942E4B}">
                  <a14:imgProps xmlns:a14="http://schemas.microsoft.com/office/drawing/2010/main">
                    <a14:imgLayer r:embed="rId16">
                      <a14:imgEffect>
                        <a14:colorTemperature colorTemp="5900"/>
                      </a14:imgEffect>
                      <a14:imgEffect>
                        <a14:saturation sat="66000"/>
                      </a14:imgEffect>
                    </a14:imgLayer>
                  </a14:imgProps>
                </a:ext>
              </a:extLst>
            </a:blip>
            <a:tile tx="0" ty="0" sx="100000" sy="100000" flip="none" algn="tl"/>
          </a:blipFill>
          <a:effectLst>
            <a:outerShdw blurRad="50800" dist="38100" dir="2700000" algn="tl" rotWithShape="0">
              <a:prstClr val="black">
                <a:alpha val="40000"/>
              </a:prstClr>
            </a:outerShdw>
          </a:effectLst>
        </p:spPr>
        <p:txBody>
          <a:bodyPr wrap="square">
            <a:spAutoFit/>
          </a:bodyPr>
          <a:lstStyle/>
          <a:p>
            <a:r>
              <a:rPr lang="zh-CN" altLang="en-US" sz="2400" dirty="0">
                <a:solidFill>
                  <a:prstClr val="black"/>
                </a:solidFill>
                <a:latin typeface="Trebuchet MS"/>
                <a:ea typeface="华文新魏"/>
              </a:rPr>
              <a:t>设一次订货的订货量为</a:t>
            </a:r>
            <a:r>
              <a:rPr lang="en-US" altLang="zh-CN" sz="2400" i="1" dirty="0">
                <a:solidFill>
                  <a:prstClr val="black"/>
                </a:solidFill>
                <a:latin typeface="Trebuchet MS"/>
                <a:ea typeface="华文新魏"/>
              </a:rPr>
              <a:t>Q</a:t>
            </a:r>
            <a:r>
              <a:rPr lang="zh-CN" altLang="en-US" sz="2400" i="1" dirty="0">
                <a:solidFill>
                  <a:prstClr val="black"/>
                </a:solidFill>
                <a:latin typeface="Trebuchet MS"/>
                <a:ea typeface="华文新魏"/>
              </a:rPr>
              <a:t>，</a:t>
            </a:r>
            <a:r>
              <a:rPr lang="zh-CN" altLang="en-US" sz="2400" dirty="0">
                <a:solidFill>
                  <a:prstClr val="black"/>
                </a:solidFill>
                <a:latin typeface="Trebuchet MS"/>
                <a:ea typeface="华文新魏"/>
              </a:rPr>
              <a:t>年需求量为</a:t>
            </a:r>
            <a:r>
              <a:rPr lang="en-US" altLang="zh-CN" sz="2400" i="1" dirty="0">
                <a:solidFill>
                  <a:prstClr val="black"/>
                </a:solidFill>
                <a:latin typeface="Trebuchet MS"/>
                <a:ea typeface="华文新魏"/>
              </a:rPr>
              <a:t>D</a:t>
            </a:r>
            <a:r>
              <a:rPr lang="zh-CN" altLang="en-US" sz="2400" dirty="0">
                <a:solidFill>
                  <a:prstClr val="black"/>
                </a:solidFill>
                <a:latin typeface="Trebuchet MS"/>
                <a:ea typeface="华文新魏"/>
              </a:rPr>
              <a:t>，一次订货的</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固定</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订货成本为</a:t>
            </a:r>
            <a:r>
              <a:rPr lang="en-US" altLang="zh-CN" sz="2400" i="1" dirty="0">
                <a:solidFill>
                  <a:prstClr val="black"/>
                </a:solidFill>
                <a:latin typeface="Trebuchet MS"/>
                <a:ea typeface="华文新魏"/>
              </a:rPr>
              <a:t>k</a:t>
            </a:r>
            <a:r>
              <a:rPr lang="zh-CN" altLang="en-US" sz="2400" dirty="0">
                <a:solidFill>
                  <a:prstClr val="black"/>
                </a:solidFill>
                <a:latin typeface="Trebuchet MS"/>
                <a:ea typeface="华文新魏"/>
              </a:rPr>
              <a:t>，设一件商品保存一年的储存成本</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单位储存成本</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为</a:t>
            </a:r>
            <a:r>
              <a:rPr lang="en-US" altLang="zh-CN" sz="2400" i="1" dirty="0">
                <a:solidFill>
                  <a:prstClr val="black"/>
                </a:solidFill>
                <a:latin typeface="Trebuchet MS"/>
                <a:ea typeface="华文新魏"/>
              </a:rPr>
              <a:t>h</a:t>
            </a:r>
            <a:r>
              <a:rPr lang="en-US" altLang="zh-CN" sz="2400" dirty="0">
                <a:solidFill>
                  <a:prstClr val="black"/>
                </a:solidFill>
                <a:latin typeface="Trebuchet MS"/>
                <a:ea typeface="华文新魏"/>
              </a:rPr>
              <a:t>, </a:t>
            </a:r>
            <a:r>
              <a:rPr lang="zh-CN" altLang="en-US" sz="2400" dirty="0">
                <a:solidFill>
                  <a:prstClr val="black"/>
                </a:solidFill>
                <a:latin typeface="Trebuchet MS"/>
                <a:ea typeface="华文新魏"/>
              </a:rPr>
              <a:t>则年总成本</a:t>
            </a:r>
          </a:p>
        </p:txBody>
      </p:sp>
      <p:sp>
        <p:nvSpPr>
          <p:cNvPr id="14" name="矩形 13">
            <a:extLst>
              <a:ext uri="{FF2B5EF4-FFF2-40B4-BE49-F238E27FC236}">
                <a16:creationId xmlns:a16="http://schemas.microsoft.com/office/drawing/2014/main" id="{08F55F83-8306-4A41-AF52-4D2DB53BB7B4}"/>
              </a:ext>
            </a:extLst>
          </p:cNvPr>
          <p:cNvSpPr/>
          <p:nvPr/>
        </p:nvSpPr>
        <p:spPr>
          <a:xfrm>
            <a:off x="5069192" y="3332404"/>
            <a:ext cx="2128778" cy="1187458"/>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7DB3C6D-EBA1-49A4-80E6-44F0E3D5930B}"/>
              </a:ext>
            </a:extLst>
          </p:cNvPr>
          <p:cNvSpPr txBox="1"/>
          <p:nvPr/>
        </p:nvSpPr>
        <p:spPr>
          <a:xfrm>
            <a:off x="7349424" y="3197359"/>
            <a:ext cx="4501553" cy="830997"/>
          </a:xfrm>
          <a:prstGeom prst="rect">
            <a:avLst/>
          </a:prstGeom>
          <a:noFill/>
        </p:spPr>
        <p:txBody>
          <a:bodyPr wrap="none" rtlCol="0">
            <a:spAutoFit/>
          </a:bodyPr>
          <a:lstStyle/>
          <a:p>
            <a:r>
              <a:rPr lang="zh-CN" altLang="en-US" sz="2400" b="1" dirty="0"/>
              <a:t>经济订货量</a:t>
            </a:r>
            <a:r>
              <a:rPr lang="en-US" altLang="zh-CN" sz="2400" b="1" dirty="0"/>
              <a:t>EOQ</a:t>
            </a:r>
            <a:r>
              <a:rPr lang="zh-CN" altLang="en-US" sz="2400" b="1" dirty="0"/>
              <a:t>公式务必记住</a:t>
            </a:r>
            <a:endParaRPr lang="en-US" altLang="zh-CN" sz="2400" b="1" dirty="0"/>
          </a:p>
          <a:p>
            <a:r>
              <a:rPr lang="zh-CN" altLang="en-US" sz="2400" b="1" dirty="0"/>
              <a:t>其他的可以在</a:t>
            </a:r>
            <a:r>
              <a:rPr lang="en-US" altLang="zh-CN" sz="2400" b="1" dirty="0"/>
              <a:t>EOQ</a:t>
            </a:r>
            <a:r>
              <a:rPr lang="zh-CN" altLang="en-US" sz="2400" b="1" dirty="0"/>
              <a:t>基础上推出来</a:t>
            </a:r>
          </a:p>
        </p:txBody>
      </p:sp>
      <p:sp>
        <p:nvSpPr>
          <p:cNvPr id="15" name="文本框 14">
            <a:extLst>
              <a:ext uri="{FF2B5EF4-FFF2-40B4-BE49-F238E27FC236}">
                <a16:creationId xmlns:a16="http://schemas.microsoft.com/office/drawing/2014/main" id="{940852E6-3DD9-4F62-85C4-52DF9350A88B}"/>
              </a:ext>
            </a:extLst>
          </p:cNvPr>
          <p:cNvSpPr txBox="1"/>
          <p:nvPr/>
        </p:nvSpPr>
        <p:spPr>
          <a:xfrm>
            <a:off x="429805" y="5998662"/>
            <a:ext cx="7133684" cy="830997"/>
          </a:xfrm>
          <a:prstGeom prst="rect">
            <a:avLst/>
          </a:prstGeom>
          <a:noFill/>
        </p:spPr>
        <p:txBody>
          <a:bodyPr wrap="none" rtlCol="0">
            <a:spAutoFit/>
          </a:bodyPr>
          <a:lstStyle/>
          <a:p>
            <a:r>
              <a:rPr lang="zh-CN" altLang="en-US" sz="2400" b="1" dirty="0"/>
              <a:t>内插值法求 </a:t>
            </a:r>
            <a:r>
              <a:rPr lang="en-US" altLang="zh-CN" sz="2400" b="1" dirty="0"/>
              <a:t>EOQ </a:t>
            </a:r>
            <a:r>
              <a:rPr lang="zh-CN" altLang="en-US" sz="2400" b="1" dirty="0"/>
              <a:t>的时候，要注意，公式不是线性的</a:t>
            </a:r>
            <a:endParaRPr lang="en-US" altLang="zh-CN" sz="2400" b="1" dirty="0"/>
          </a:p>
          <a:p>
            <a:r>
              <a:rPr lang="zh-CN" altLang="en-US" sz="2400" b="1" dirty="0"/>
              <a:t>需要找到交点前后的两个点</a:t>
            </a:r>
          </a:p>
        </p:txBody>
      </p:sp>
    </p:spTree>
    <p:extLst>
      <p:ext uri="{BB962C8B-B14F-4D97-AF65-F5344CB8AC3E}">
        <p14:creationId xmlns:p14="http://schemas.microsoft.com/office/powerpoint/2010/main" val="34969531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pic>
        <p:nvPicPr>
          <p:cNvPr id="9" name="图片 8">
            <a:extLst>
              <a:ext uri="{FF2B5EF4-FFF2-40B4-BE49-F238E27FC236}">
                <a16:creationId xmlns:a16="http://schemas.microsoft.com/office/drawing/2014/main" id="{138909C5-38CF-4556-AD7E-3C5060BEE082}"/>
              </a:ext>
            </a:extLst>
          </p:cNvPr>
          <p:cNvPicPr>
            <a:picLocks noChangeAspect="1"/>
          </p:cNvPicPr>
          <p:nvPr/>
        </p:nvPicPr>
        <p:blipFill>
          <a:blip r:embed="rId3"/>
          <a:stretch>
            <a:fillRect/>
          </a:stretch>
        </p:blipFill>
        <p:spPr>
          <a:xfrm>
            <a:off x="5699126" y="924144"/>
            <a:ext cx="5227685" cy="3241009"/>
          </a:xfrm>
          <a:prstGeom prst="rect">
            <a:avLst/>
          </a:prstGeom>
        </p:spPr>
      </p:pic>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0649069" cy="1569660"/>
          </a:xfrm>
          <a:prstGeom prst="rect">
            <a:avLst/>
          </a:prstGeom>
          <a:noFill/>
        </p:spPr>
        <p:txBody>
          <a:bodyPr wrap="none" rtlCol="0">
            <a:spAutoFit/>
          </a:bodyPr>
          <a:lstStyle/>
          <a:p>
            <a:r>
              <a:rPr lang="zh-CN" altLang="en-US" sz="2400" b="1" dirty="0"/>
              <a:t>这道题有一个难点就是计算不同折扣阈值下的年总成本。</a:t>
            </a:r>
            <a:endParaRPr lang="en-US" altLang="zh-CN" sz="2400" b="1" dirty="0"/>
          </a:p>
          <a:p>
            <a:r>
              <a:rPr lang="zh-CN" altLang="en-US" sz="2400" b="1" dirty="0"/>
              <a:t>我们重点关注折扣阈值这个模拟运算表，被我框起来了</a:t>
            </a:r>
            <a:endParaRPr lang="en-US" altLang="zh-CN" sz="2400" b="1" dirty="0"/>
          </a:p>
          <a:p>
            <a:r>
              <a:rPr lang="zh-CN" altLang="en-US" sz="2400" b="1" dirty="0"/>
              <a:t>这里我们引用列单元格是折扣阈限值，但是年总成本是一个依赖订货量的函数</a:t>
            </a:r>
            <a:endParaRPr lang="en-US" altLang="zh-CN" sz="2400" b="1" dirty="0"/>
          </a:p>
          <a:p>
            <a:endParaRPr lang="zh-CN" altLang="en-US" sz="2400" b="1" dirty="0"/>
          </a:p>
        </p:txBody>
      </p:sp>
      <p:sp>
        <p:nvSpPr>
          <p:cNvPr id="27" name="矩形 26">
            <a:extLst>
              <a:ext uri="{FF2B5EF4-FFF2-40B4-BE49-F238E27FC236}">
                <a16:creationId xmlns:a16="http://schemas.microsoft.com/office/drawing/2014/main" id="{F58A4BC4-48C2-40D2-8571-66015886D744}"/>
              </a:ext>
            </a:extLst>
          </p:cNvPr>
          <p:cNvSpPr/>
          <p:nvPr/>
        </p:nvSpPr>
        <p:spPr>
          <a:xfrm>
            <a:off x="9341155" y="1177876"/>
            <a:ext cx="1045858" cy="1503412"/>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12537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107802" cy="1569660"/>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b="1" dirty="0"/>
              <a:t>如果</a:t>
            </a:r>
            <a:r>
              <a:rPr lang="en-US" altLang="zh-CN" sz="2400" b="1" dirty="0"/>
              <a:t>J3</a:t>
            </a:r>
            <a:r>
              <a:rPr lang="zh-CN" altLang="en-US" sz="2400" b="1" dirty="0"/>
              <a:t>处直接引用年总成本，那么算出来的全是</a:t>
            </a:r>
            <a:r>
              <a:rPr lang="en-US" altLang="zh-CN" sz="2400" b="1" dirty="0"/>
              <a:t>21833</a:t>
            </a:r>
            <a:r>
              <a:rPr lang="zh-CN" altLang="en-US" sz="2400" b="1" dirty="0"/>
              <a:t>，因为年总成本与折扣阈限值无关</a:t>
            </a:r>
            <a:endParaRPr lang="en-US" altLang="zh-CN" sz="2400" b="1" dirty="0"/>
          </a:p>
        </p:txBody>
      </p:sp>
      <p:pic>
        <p:nvPicPr>
          <p:cNvPr id="3" name="图片 2">
            <a:extLst>
              <a:ext uri="{FF2B5EF4-FFF2-40B4-BE49-F238E27FC236}">
                <a16:creationId xmlns:a16="http://schemas.microsoft.com/office/drawing/2014/main" id="{B425963B-F347-43FE-A93C-8507DE0633E0}"/>
              </a:ext>
            </a:extLst>
          </p:cNvPr>
          <p:cNvPicPr>
            <a:picLocks noChangeAspect="1"/>
          </p:cNvPicPr>
          <p:nvPr/>
        </p:nvPicPr>
        <p:blipFill>
          <a:blip r:embed="rId3"/>
          <a:stretch>
            <a:fillRect/>
          </a:stretch>
        </p:blipFill>
        <p:spPr>
          <a:xfrm>
            <a:off x="5848350" y="865225"/>
            <a:ext cx="5105648" cy="3433852"/>
          </a:xfrm>
          <a:prstGeom prst="rect">
            <a:avLst/>
          </a:prstGeom>
        </p:spPr>
      </p:pic>
    </p:spTree>
    <p:extLst>
      <p:ext uri="{BB962C8B-B14F-4D97-AF65-F5344CB8AC3E}">
        <p14:creationId xmlns:p14="http://schemas.microsoft.com/office/powerpoint/2010/main" val="19169610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032461" cy="1938992"/>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dirty="0"/>
              <a:t>如果</a:t>
            </a:r>
            <a:r>
              <a:rPr lang="en-US" altLang="zh-CN" sz="2400" dirty="0"/>
              <a:t>J3</a:t>
            </a:r>
            <a:r>
              <a:rPr lang="zh-CN" altLang="en-US" sz="2400" dirty="0"/>
              <a:t>处直接引用年总成本，那么算出来的全是</a:t>
            </a:r>
            <a:r>
              <a:rPr lang="en-US" altLang="zh-CN" sz="2400" dirty="0"/>
              <a:t>21833</a:t>
            </a:r>
            <a:r>
              <a:rPr lang="zh-CN" altLang="en-US" sz="2400" dirty="0"/>
              <a:t>，因为年总成本与折扣阈限值无关</a:t>
            </a:r>
            <a:endParaRPr lang="en-US" altLang="zh-CN" sz="2400" dirty="0"/>
          </a:p>
          <a:p>
            <a:r>
              <a:rPr lang="zh-CN" altLang="en-US" sz="2400" b="1" dirty="0"/>
              <a:t>所以第一种解决方案，是直接拿折扣阈限值重新计算年总成本</a:t>
            </a:r>
            <a:endParaRPr lang="en-US" altLang="zh-CN" sz="2400" b="1" dirty="0"/>
          </a:p>
        </p:txBody>
      </p:sp>
      <p:pic>
        <p:nvPicPr>
          <p:cNvPr id="4" name="图片 3">
            <a:extLst>
              <a:ext uri="{FF2B5EF4-FFF2-40B4-BE49-F238E27FC236}">
                <a16:creationId xmlns:a16="http://schemas.microsoft.com/office/drawing/2014/main" id="{1F311AB1-4FE9-47F6-8F80-16E71E9E556C}"/>
              </a:ext>
            </a:extLst>
          </p:cNvPr>
          <p:cNvPicPr>
            <a:picLocks noChangeAspect="1"/>
          </p:cNvPicPr>
          <p:nvPr/>
        </p:nvPicPr>
        <p:blipFill>
          <a:blip r:embed="rId3"/>
          <a:stretch>
            <a:fillRect/>
          </a:stretch>
        </p:blipFill>
        <p:spPr>
          <a:xfrm>
            <a:off x="6043611" y="717249"/>
            <a:ext cx="5426893" cy="3581827"/>
          </a:xfrm>
          <a:prstGeom prst="rect">
            <a:avLst/>
          </a:prstGeom>
        </p:spPr>
      </p:pic>
      <p:sp>
        <p:nvSpPr>
          <p:cNvPr id="13" name="文本框 12">
            <a:extLst>
              <a:ext uri="{FF2B5EF4-FFF2-40B4-BE49-F238E27FC236}">
                <a16:creationId xmlns:a16="http://schemas.microsoft.com/office/drawing/2014/main" id="{715F78D6-9FE3-467B-9A11-ADC91E89DEC9}"/>
              </a:ext>
            </a:extLst>
          </p:cNvPr>
          <p:cNvSpPr txBox="1"/>
          <p:nvPr/>
        </p:nvSpPr>
        <p:spPr>
          <a:xfrm>
            <a:off x="2850356" y="6334780"/>
            <a:ext cx="20054888" cy="523220"/>
          </a:xfrm>
          <a:prstGeom prst="rect">
            <a:avLst/>
          </a:prstGeom>
          <a:noFill/>
        </p:spPr>
        <p:txBody>
          <a:bodyPr wrap="square">
            <a:spAutoFit/>
          </a:bodyPr>
          <a:lstStyle/>
          <a:p>
            <a:r>
              <a:rPr lang="zh-CN" altLang="en-US" sz="2800" b="1" dirty="0">
                <a:solidFill>
                  <a:srgbClr val="FF0000"/>
                </a:solidFill>
              </a:rPr>
              <a:t>=C5*C4/C3+C6*C3/2-C2*C4</a:t>
            </a:r>
          </a:p>
        </p:txBody>
      </p:sp>
    </p:spTree>
    <p:extLst>
      <p:ext uri="{BB962C8B-B14F-4D97-AF65-F5344CB8AC3E}">
        <p14:creationId xmlns:p14="http://schemas.microsoft.com/office/powerpoint/2010/main" val="23304525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495728" cy="2308324"/>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dirty="0"/>
              <a:t>如果</a:t>
            </a:r>
            <a:r>
              <a:rPr lang="en-US" altLang="zh-CN" sz="2400" dirty="0"/>
              <a:t>J3</a:t>
            </a:r>
            <a:r>
              <a:rPr lang="zh-CN" altLang="en-US" sz="2400" dirty="0"/>
              <a:t>处直接引用年总成本，那么算出来的全是</a:t>
            </a:r>
            <a:r>
              <a:rPr lang="en-US" altLang="zh-CN" sz="2400" dirty="0"/>
              <a:t>21833</a:t>
            </a:r>
            <a:r>
              <a:rPr lang="zh-CN" altLang="en-US" sz="2400" dirty="0"/>
              <a:t>，因为年总成本与折扣阈限值无关</a:t>
            </a:r>
            <a:endParaRPr lang="en-US" altLang="zh-CN" sz="2400" dirty="0"/>
          </a:p>
          <a:p>
            <a:r>
              <a:rPr lang="zh-CN" altLang="en-US" sz="2400" b="1" dirty="0"/>
              <a:t>另一种解决方案是，用控件控制折扣阈限值，但是订购量直接引用折扣阈限值所在单元格</a:t>
            </a:r>
            <a:endParaRPr lang="en-US" altLang="zh-CN" sz="2400" b="1" dirty="0"/>
          </a:p>
          <a:p>
            <a:r>
              <a:rPr lang="zh-CN" altLang="en-US" sz="2400" b="1" dirty="0"/>
              <a:t>之后订货量模拟运算表直接列引用订货量，而折扣阈限值模拟运算表引用折扣阈限值单元格</a:t>
            </a:r>
            <a:endParaRPr lang="en-US" altLang="zh-CN" sz="2400" b="1" dirty="0"/>
          </a:p>
        </p:txBody>
      </p:sp>
      <p:pic>
        <p:nvPicPr>
          <p:cNvPr id="3" name="图片 2">
            <a:extLst>
              <a:ext uri="{FF2B5EF4-FFF2-40B4-BE49-F238E27FC236}">
                <a16:creationId xmlns:a16="http://schemas.microsoft.com/office/drawing/2014/main" id="{BA9B3A1C-FD9D-4316-89F9-063213A6E38C}"/>
              </a:ext>
            </a:extLst>
          </p:cNvPr>
          <p:cNvPicPr>
            <a:picLocks noChangeAspect="1"/>
          </p:cNvPicPr>
          <p:nvPr/>
        </p:nvPicPr>
        <p:blipFill>
          <a:blip r:embed="rId2"/>
          <a:stretch>
            <a:fillRect/>
          </a:stretch>
        </p:blipFill>
        <p:spPr>
          <a:xfrm>
            <a:off x="4089247" y="1081385"/>
            <a:ext cx="4545829" cy="2917577"/>
          </a:xfrm>
          <a:prstGeom prst="rect">
            <a:avLst/>
          </a:prstGeom>
        </p:spPr>
      </p:pic>
      <p:sp>
        <p:nvSpPr>
          <p:cNvPr id="5" name="文本框 4">
            <a:extLst>
              <a:ext uri="{FF2B5EF4-FFF2-40B4-BE49-F238E27FC236}">
                <a16:creationId xmlns:a16="http://schemas.microsoft.com/office/drawing/2014/main" id="{C1F7C019-DA8B-421A-AC40-F097CCA2E7B9}"/>
              </a:ext>
            </a:extLst>
          </p:cNvPr>
          <p:cNvSpPr txBox="1"/>
          <p:nvPr/>
        </p:nvSpPr>
        <p:spPr>
          <a:xfrm>
            <a:off x="8948738" y="1531249"/>
            <a:ext cx="2896947" cy="523220"/>
          </a:xfrm>
          <a:prstGeom prst="rect">
            <a:avLst/>
          </a:prstGeom>
          <a:noFill/>
        </p:spPr>
        <p:txBody>
          <a:bodyPr wrap="none" rtlCol="0">
            <a:spAutoFit/>
          </a:bodyPr>
          <a:lstStyle/>
          <a:p>
            <a:r>
              <a:rPr lang="zh-CN" altLang="en-US" sz="2800" b="1" dirty="0"/>
              <a:t>体会一下例题</a:t>
            </a:r>
            <a:r>
              <a:rPr lang="en-US" altLang="zh-CN" sz="2800" b="1" dirty="0"/>
              <a:t>8-3</a:t>
            </a:r>
            <a:endParaRPr lang="zh-CN" altLang="en-US" sz="2800" b="1" dirty="0"/>
          </a:p>
        </p:txBody>
      </p:sp>
    </p:spTree>
    <p:extLst>
      <p:ext uri="{BB962C8B-B14F-4D97-AF65-F5344CB8AC3E}">
        <p14:creationId xmlns:p14="http://schemas.microsoft.com/office/powerpoint/2010/main" val="3135734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B414384-3A69-43FF-A875-46864237B5DA}"/>
              </a:ext>
            </a:extLst>
          </p:cNvPr>
          <p:cNvSpPr txBox="1"/>
          <p:nvPr/>
        </p:nvSpPr>
        <p:spPr>
          <a:xfrm>
            <a:off x="-395288" y="80309"/>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zh-CN" altLang="en-US" sz="3600" dirty="0">
                <a:latin typeface="宋体" pitchFamily="2" charset="-122"/>
                <a:ea typeface="宋体" pitchFamily="2" charset="-122"/>
              </a:rPr>
              <a:t>随机数的生成</a:t>
            </a:r>
          </a:p>
        </p:txBody>
      </p:sp>
      <p:sp>
        <p:nvSpPr>
          <p:cNvPr id="3" name="文本框 2">
            <a:extLst>
              <a:ext uri="{FF2B5EF4-FFF2-40B4-BE49-F238E27FC236}">
                <a16:creationId xmlns:a16="http://schemas.microsoft.com/office/drawing/2014/main" id="{BDCA46D7-70C2-4F95-A86B-9504B4046E01}"/>
              </a:ext>
            </a:extLst>
          </p:cNvPr>
          <p:cNvSpPr txBox="1"/>
          <p:nvPr/>
        </p:nvSpPr>
        <p:spPr>
          <a:xfrm>
            <a:off x="160452" y="815181"/>
            <a:ext cx="8023761"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）均匀分布</a:t>
            </a:r>
            <a:r>
              <a:rPr lang="en-US" altLang="zh-CN" sz="2800" dirty="0">
                <a:latin typeface="宋体" pitchFamily="2" charset="-122"/>
                <a:ea typeface="宋体" pitchFamily="2" charset="-122"/>
              </a:rPr>
              <a:t>(Uniform Distribution)</a:t>
            </a:r>
            <a:endParaRPr lang="zh-CN" altLang="en-US" sz="2800" dirty="0">
              <a:latin typeface="宋体" pitchFamily="2" charset="-122"/>
              <a:ea typeface="宋体" pitchFamily="2" charset="-122"/>
            </a:endParaRPr>
          </a:p>
        </p:txBody>
      </p:sp>
      <p:sp>
        <p:nvSpPr>
          <p:cNvPr id="4" name="文本框 3">
            <a:extLst>
              <a:ext uri="{FF2B5EF4-FFF2-40B4-BE49-F238E27FC236}">
                <a16:creationId xmlns:a16="http://schemas.microsoft.com/office/drawing/2014/main" id="{35194974-3857-4BE0-909E-9D81806F86CA}"/>
              </a:ext>
            </a:extLst>
          </p:cNvPr>
          <p:cNvSpPr txBox="1"/>
          <p:nvPr/>
        </p:nvSpPr>
        <p:spPr>
          <a:xfrm>
            <a:off x="891892" y="1510475"/>
            <a:ext cx="10539725" cy="1508105"/>
          </a:xfrm>
          <a:prstGeom prst="rect">
            <a:avLst/>
          </a:prstGeom>
          <a:noFill/>
        </p:spPr>
        <p:txBody>
          <a:bodyPr wrap="square" rtlCol="0">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均匀分布描述在某最小值和最大值之间所有结果等可能的随机变量的特性。</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r>
              <a:rPr lang="zh-CN" altLang="en-US" sz="2400" dirty="0">
                <a:solidFill>
                  <a:schemeClr val="tx2">
                    <a:lumMod val="75000"/>
                  </a:schemeClr>
                </a:solidFill>
                <a:latin typeface="宋体" pitchFamily="2" charset="-122"/>
                <a:ea typeface="宋体" pitchFamily="2" charset="-122"/>
                <a:cs typeface="Times New Roman" pitchFamily="18" charset="0"/>
              </a:rPr>
              <a:t>对于在</a:t>
            </a:r>
            <a:r>
              <a:rPr lang="en-US" altLang="zh-CN" sz="2400" dirty="0">
                <a:solidFill>
                  <a:schemeClr val="tx2">
                    <a:lumMod val="75000"/>
                  </a:schemeClr>
                </a:solidFill>
                <a:latin typeface="宋体" pitchFamily="2" charset="-122"/>
                <a:ea typeface="宋体" pitchFamily="2" charset="-122"/>
                <a:cs typeface="Times New Roman" pitchFamily="18" charset="0"/>
              </a:rPr>
              <a:t>Excel</a:t>
            </a:r>
            <a:r>
              <a:rPr lang="zh-CN" altLang="en-US" sz="2400" dirty="0">
                <a:solidFill>
                  <a:schemeClr val="tx2">
                    <a:lumMod val="75000"/>
                  </a:schemeClr>
                </a:solidFill>
                <a:latin typeface="宋体" pitchFamily="2" charset="-122"/>
                <a:ea typeface="宋体" pitchFamily="2" charset="-122"/>
                <a:cs typeface="Times New Roman" pitchFamily="18" charset="0"/>
              </a:rPr>
              <a:t>中想要产生</a:t>
            </a:r>
            <a:r>
              <a:rPr lang="en-US" altLang="zh-CN" sz="2400" dirty="0">
                <a:solidFill>
                  <a:schemeClr val="tx2">
                    <a:lumMod val="75000"/>
                  </a:schemeClr>
                </a:solidFill>
                <a:latin typeface="宋体" pitchFamily="2" charset="-122"/>
                <a:ea typeface="宋体" pitchFamily="2" charset="-122"/>
                <a:cs typeface="Times New Roman" pitchFamily="18" charset="0"/>
              </a:rPr>
              <a:t>a</a:t>
            </a:r>
            <a:r>
              <a:rPr lang="zh-CN" altLang="en-US" sz="2400" dirty="0">
                <a:solidFill>
                  <a:schemeClr val="tx2">
                    <a:lumMod val="75000"/>
                  </a:schemeClr>
                </a:solidFill>
                <a:latin typeface="宋体" pitchFamily="2" charset="-122"/>
                <a:ea typeface="宋体" pitchFamily="2" charset="-122"/>
                <a:cs typeface="Times New Roman" pitchFamily="18" charset="0"/>
              </a:rPr>
              <a:t>和</a:t>
            </a:r>
            <a:r>
              <a:rPr lang="en-US" altLang="zh-CN" sz="2400" dirty="0">
                <a:solidFill>
                  <a:schemeClr val="tx2">
                    <a:lumMod val="75000"/>
                  </a:schemeClr>
                </a:solidFill>
                <a:latin typeface="宋体" pitchFamily="2" charset="-122"/>
                <a:ea typeface="宋体" pitchFamily="2" charset="-122"/>
                <a:cs typeface="Times New Roman" pitchFamily="18" charset="0"/>
              </a:rPr>
              <a:t>b</a:t>
            </a:r>
            <a:r>
              <a:rPr lang="zh-CN" altLang="en-US" sz="2400" dirty="0">
                <a:solidFill>
                  <a:schemeClr val="tx2">
                    <a:lumMod val="75000"/>
                  </a:schemeClr>
                </a:solidFill>
                <a:latin typeface="宋体" pitchFamily="2" charset="-122"/>
                <a:ea typeface="宋体" pitchFamily="2" charset="-122"/>
                <a:cs typeface="Times New Roman" pitchFamily="18" charset="0"/>
              </a:rPr>
              <a:t>之间均匀分布的随机数</a:t>
            </a:r>
            <a:r>
              <a:rPr lang="en-US" altLang="zh-CN" sz="2400" dirty="0">
                <a:solidFill>
                  <a:schemeClr val="tx2">
                    <a:lumMod val="75000"/>
                  </a:schemeClr>
                </a:solidFill>
                <a:latin typeface="宋体" pitchFamily="2" charset="-122"/>
                <a:ea typeface="宋体" pitchFamily="2" charset="-122"/>
                <a:cs typeface="Times New Roman" pitchFamily="18" charset="0"/>
              </a:rPr>
              <a:t>X</a:t>
            </a:r>
            <a:r>
              <a:rPr lang="zh-CN" altLang="en-US" sz="2400" dirty="0">
                <a:solidFill>
                  <a:schemeClr val="tx2">
                    <a:lumMod val="75000"/>
                  </a:schemeClr>
                </a:solidFill>
                <a:latin typeface="宋体" pitchFamily="2" charset="-122"/>
                <a:ea typeface="宋体" pitchFamily="2" charset="-122"/>
                <a:cs typeface="Times New Roman" pitchFamily="18" charset="0"/>
              </a:rPr>
              <a:t>，可以利用</a:t>
            </a:r>
            <a:r>
              <a:rPr lang="en-US" altLang="zh-CN" sz="2400" dirty="0">
                <a:solidFill>
                  <a:schemeClr val="tx2">
                    <a:lumMod val="75000"/>
                  </a:schemeClr>
                </a:solidFill>
                <a:latin typeface="宋体" pitchFamily="2" charset="-122"/>
                <a:ea typeface="宋体" pitchFamily="2" charset="-122"/>
                <a:cs typeface="Times New Roman" pitchFamily="18" charset="0"/>
              </a:rPr>
              <a:t>RAND()</a:t>
            </a:r>
            <a:r>
              <a:rPr lang="zh-CN" altLang="en-US" sz="2400" dirty="0">
                <a:solidFill>
                  <a:schemeClr val="tx2">
                    <a:lumMod val="75000"/>
                  </a:schemeClr>
                </a:solidFill>
                <a:latin typeface="宋体" pitchFamily="2" charset="-122"/>
                <a:ea typeface="宋体" pitchFamily="2" charset="-122"/>
                <a:cs typeface="Times New Roman" pitchFamily="18" charset="0"/>
              </a:rPr>
              <a:t>函数进行线性变换获得，变换公式为 </a:t>
            </a:r>
            <a:r>
              <a:rPr lang="en-US" altLang="zh-CN" sz="2400" dirty="0">
                <a:solidFill>
                  <a:schemeClr val="tx2">
                    <a:lumMod val="75000"/>
                  </a:schemeClr>
                </a:solidFill>
                <a:latin typeface="宋体" pitchFamily="2" charset="-122"/>
                <a:ea typeface="宋体" pitchFamily="2" charset="-122"/>
                <a:cs typeface="Times New Roman" pitchFamily="18" charset="0"/>
              </a:rPr>
              <a:t>x=a+(b-a)*RAND()</a:t>
            </a:r>
            <a:r>
              <a:rPr lang="zh-CN" altLang="en-US" sz="2400" dirty="0">
                <a:solidFill>
                  <a:schemeClr val="tx2">
                    <a:lumMod val="75000"/>
                  </a:schemeClr>
                </a:solidFill>
                <a:latin typeface="宋体" pitchFamily="2" charset="-122"/>
                <a:ea typeface="宋体" pitchFamily="2" charset="-122"/>
                <a:cs typeface="Times New Roman" pitchFamily="18" charset="0"/>
              </a:rPr>
              <a:t>。</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endParaRPr lang="en-US" altLang="zh-CN" sz="2000" i="1"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D324667F-24A7-4999-842B-4428649CA3AE}"/>
              </a:ext>
            </a:extLst>
          </p:cNvPr>
          <p:cNvSpPr txBox="1"/>
          <p:nvPr/>
        </p:nvSpPr>
        <p:spPr>
          <a:xfrm>
            <a:off x="190338" y="2714187"/>
            <a:ext cx="7682170"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）正态分布</a:t>
            </a:r>
            <a:r>
              <a:rPr lang="en-US" altLang="zh-CN" sz="2800" dirty="0">
                <a:latin typeface="宋体" pitchFamily="2" charset="-122"/>
                <a:ea typeface="宋体" pitchFamily="2" charset="-122"/>
              </a:rPr>
              <a:t>(Normal Distribution)</a:t>
            </a:r>
            <a:endParaRPr lang="zh-CN" altLang="en-US" sz="2800" dirty="0">
              <a:latin typeface="宋体" pitchFamily="2" charset="-122"/>
              <a:ea typeface="宋体" pitchFamily="2" charset="-122"/>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C6F6F446-5116-4617-86E9-BC2D9E50CDD3}"/>
                  </a:ext>
                </a:extLst>
              </p:cNvPr>
              <p:cNvSpPr txBox="1"/>
              <p:nvPr/>
            </p:nvSpPr>
            <p:spPr>
              <a:xfrm>
                <a:off x="943651" y="3335793"/>
                <a:ext cx="10539725" cy="1200329"/>
              </a:xfrm>
              <a:prstGeom prst="rect">
                <a:avLst/>
              </a:prstGeom>
              <a:noFill/>
            </p:spPr>
            <p:txBody>
              <a:bodyPr wrap="square" rtlCol="0">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正态分布是一条钟形曲线，中间高两边低，左右对称。其特性由两个参数刻画：均值</a:t>
                </a:r>
                <a14:m>
                  <m:oMath xmlns:m="http://schemas.openxmlformats.org/officeDocument/2006/math">
                    <m:r>
                      <a:rPr lang="zh-CN" altLang="en-US" sz="2400">
                        <a:solidFill>
                          <a:schemeClr val="tx2">
                            <a:lumMod val="75000"/>
                          </a:schemeClr>
                        </a:solidFill>
                        <a:latin typeface="Cambria Math"/>
                        <a:cs typeface="Times New Roman" pitchFamily="18" charset="0"/>
                      </a:rPr>
                      <m:t>𝜇</m:t>
                    </m:r>
                  </m:oMath>
                </a14:m>
                <a:r>
                  <a:rPr lang="zh-CN" altLang="en-US" sz="2400" dirty="0">
                    <a:solidFill>
                      <a:schemeClr val="tx2">
                        <a:lumMod val="75000"/>
                      </a:schemeClr>
                    </a:solidFill>
                    <a:latin typeface="宋体" pitchFamily="2" charset="-122"/>
                    <a:ea typeface="宋体" pitchFamily="2" charset="-122"/>
                    <a:cs typeface="Times New Roman" pitchFamily="18" charset="0"/>
                  </a:rPr>
                  <a:t> 和标准</a:t>
                </a:r>
                <a14:m>
                  <m:oMath xmlns:m="http://schemas.openxmlformats.org/officeDocument/2006/math">
                    <m:r>
                      <a:rPr lang="zh-CN" altLang="en-US" sz="2400" dirty="0">
                        <a:solidFill>
                          <a:schemeClr val="tx2">
                            <a:lumMod val="75000"/>
                          </a:schemeClr>
                        </a:solidFill>
                        <a:latin typeface="Cambria Math" panose="02040503050406030204" pitchFamily="18" charset="0"/>
                        <a:ea typeface="宋体" pitchFamily="2" charset="-122"/>
                        <a:cs typeface="Times New Roman" pitchFamily="18" charset="0"/>
                      </a:rPr>
                      <m:t>差</m:t>
                    </m:r>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𝜎</m:t>
                    </m:r>
                  </m:oMath>
                </a14:m>
                <a:r>
                  <a:rPr lang="zh-CN" altLang="en-US" sz="2400" dirty="0">
                    <a:solidFill>
                      <a:schemeClr val="tx2">
                        <a:lumMod val="75000"/>
                      </a:schemeClr>
                    </a:solidFill>
                    <a:latin typeface="宋体" pitchFamily="2" charset="-122"/>
                    <a:ea typeface="宋体" pitchFamily="2" charset="-122"/>
                    <a:cs typeface="Times New Roman" pitchFamily="18" charset="0"/>
                  </a:rPr>
                  <a:t> </a:t>
                </a:r>
                <a:r>
                  <a:rPr lang="en-US" altLang="zh-CN" sz="2400" dirty="0">
                    <a:solidFill>
                      <a:schemeClr val="tx2">
                        <a:lumMod val="75000"/>
                      </a:schemeClr>
                    </a:solidFill>
                    <a:latin typeface="宋体" pitchFamily="2" charset="-122"/>
                    <a:ea typeface="宋体" pitchFamily="2" charset="-122"/>
                    <a:cs typeface="Times New Roman" pitchFamily="18" charset="0"/>
                  </a:rPr>
                  <a:t>,</a:t>
                </a:r>
                <a:r>
                  <a:rPr lang="zh-CN" altLang="en-US" sz="2400" dirty="0">
                    <a:solidFill>
                      <a:schemeClr val="tx2">
                        <a:lumMod val="75000"/>
                      </a:schemeClr>
                    </a:solidFill>
                    <a:latin typeface="宋体" pitchFamily="2" charset="-122"/>
                    <a:ea typeface="宋体" pitchFamily="2" charset="-122"/>
                    <a:cs typeface="Times New Roman" pitchFamily="18" charset="0"/>
                  </a:rPr>
                  <a:t>函数为</a:t>
                </a:r>
                <a:r>
                  <a:rPr lang="en-US" altLang="zh-CN" sz="2400" dirty="0">
                    <a:solidFill>
                      <a:schemeClr val="tx2">
                        <a:lumMod val="75000"/>
                      </a:schemeClr>
                    </a:solidFill>
                    <a:latin typeface="宋体" pitchFamily="2" charset="-122"/>
                    <a:ea typeface="宋体" pitchFamily="2" charset="-122"/>
                    <a:cs typeface="Times New Roman" pitchFamily="18" charset="0"/>
                  </a:rPr>
                  <a:t>NORM.INV(RAND(),</a:t>
                </a:r>
                <a14:m>
                  <m:oMath xmlns:m="http://schemas.openxmlformats.org/officeDocument/2006/math">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𝜇</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14:m>
                  <m:oMath xmlns:m="http://schemas.openxmlformats.org/officeDocument/2006/math">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𝜎</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r>
                  <a:rPr lang="zh-CN" altLang="en-US" sz="2400" dirty="0">
                    <a:solidFill>
                      <a:schemeClr val="tx2">
                        <a:lumMod val="75000"/>
                      </a:schemeClr>
                    </a:solidFill>
                    <a:latin typeface="宋体" pitchFamily="2" charset="-122"/>
                    <a:ea typeface="宋体" pitchFamily="2" charset="-122"/>
                    <a:cs typeface="Times New Roman" pitchFamily="18" charset="0"/>
                  </a:rPr>
                  <a:t>。</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r>
                  <a:rPr lang="zh-CN" altLang="en-US" sz="2400" dirty="0">
                    <a:solidFill>
                      <a:schemeClr val="tx2">
                        <a:lumMod val="75000"/>
                      </a:schemeClr>
                    </a:solidFill>
                    <a:latin typeface="宋体" pitchFamily="2" charset="-122"/>
                    <a:ea typeface="宋体" pitchFamily="2" charset="-122"/>
                    <a:cs typeface="Times New Roman" pitchFamily="18" charset="0"/>
                  </a:rPr>
                  <a:t>如果是泊松分布，那就是 </a:t>
                </a:r>
                <a:r>
                  <a:rPr lang="en-US" altLang="zh-CN" sz="2400" dirty="0">
                    <a:solidFill>
                      <a:schemeClr val="tx2">
                        <a:lumMod val="75000"/>
                      </a:schemeClr>
                    </a:solidFill>
                    <a:latin typeface="宋体" pitchFamily="2" charset="-122"/>
                    <a:ea typeface="宋体" pitchFamily="2" charset="-122"/>
                    <a:cs typeface="Times New Roman" pitchFamily="18" charset="0"/>
                  </a:rPr>
                  <a:t>NORM.INV(RAND(),</a:t>
                </a:r>
                <a14:m>
                  <m:oMath xmlns:m="http://schemas.openxmlformats.org/officeDocument/2006/math">
                    <m:r>
                      <m:rPr>
                        <m:sty m:val="p"/>
                      </m:rPr>
                      <a:rPr lang="el-GR" altLang="zh-CN" sz="2400" i="1" smtClean="0">
                        <a:solidFill>
                          <a:schemeClr val="tx2">
                            <a:lumMod val="75000"/>
                          </a:schemeClr>
                        </a:solidFill>
                        <a:latin typeface="Cambria Math" panose="02040503050406030204" pitchFamily="18" charset="0"/>
                        <a:ea typeface="Cambria Math" panose="02040503050406030204" pitchFamily="18" charset="0"/>
                        <a:cs typeface="Times New Roman" pitchFamily="18" charset="0"/>
                      </a:rPr>
                      <m:t>λ</m:t>
                    </m:r>
                  </m:oMath>
                </a14:m>
                <a:r>
                  <a:rPr lang="en-US" altLang="zh-CN" sz="2400" dirty="0">
                    <a:solidFill>
                      <a:schemeClr val="tx2">
                        <a:lumMod val="75000"/>
                      </a:schemeClr>
                    </a:solidFill>
                    <a:latin typeface="宋体" pitchFamily="2" charset="-122"/>
                    <a:ea typeface="宋体" pitchFamily="2" charset="-122"/>
                    <a:cs typeface="Times New Roman" pitchFamily="18" charset="0"/>
                  </a:rPr>
                  <a:t>,sqrt(</a:t>
                </a:r>
                <a14:m>
                  <m:oMath xmlns:m="http://schemas.openxmlformats.org/officeDocument/2006/math">
                    <m:r>
                      <m:rPr>
                        <m:sty m:val="p"/>
                      </m:rPr>
                      <a:rPr lang="el-GR" altLang="zh-CN" sz="2400" i="1">
                        <a:solidFill>
                          <a:schemeClr val="tx2">
                            <a:lumMod val="75000"/>
                          </a:schemeClr>
                        </a:solidFill>
                        <a:latin typeface="Cambria Math" panose="02040503050406030204" pitchFamily="18" charset="0"/>
                        <a:ea typeface="Cambria Math" panose="02040503050406030204" pitchFamily="18" charset="0"/>
                        <a:cs typeface="Times New Roman" pitchFamily="18" charset="0"/>
                      </a:rPr>
                      <m:t>λ</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endParaRPr lang="zh-CN" altLang="en-US" sz="2400" dirty="0">
                  <a:solidFill>
                    <a:schemeClr val="tx2">
                      <a:lumMod val="75000"/>
                    </a:schemeClr>
                  </a:solidFill>
                  <a:latin typeface="宋体" pitchFamily="2" charset="-122"/>
                  <a:ea typeface="宋体" pitchFamily="2" charset="-122"/>
                  <a:cs typeface="Times New Roman" pitchFamily="18" charset="0"/>
                </a:endParaRPr>
              </a:p>
            </p:txBody>
          </p:sp>
        </mc:Choice>
        <mc:Fallback>
          <p:sp>
            <p:nvSpPr>
              <p:cNvPr id="7" name="文本框 6">
                <a:extLst>
                  <a:ext uri="{FF2B5EF4-FFF2-40B4-BE49-F238E27FC236}">
                    <a16:creationId xmlns:a16="http://schemas.microsoft.com/office/drawing/2014/main" id="{C6F6F446-5116-4617-86E9-BC2D9E50CDD3}"/>
                  </a:ext>
                </a:extLst>
              </p:cNvPr>
              <p:cNvSpPr txBox="1">
                <a:spLocks noRot="1" noChangeAspect="1" noMove="1" noResize="1" noEditPoints="1" noAdjustHandles="1" noChangeArrowheads="1" noChangeShapeType="1" noTextEdit="1"/>
              </p:cNvSpPr>
              <p:nvPr/>
            </p:nvSpPr>
            <p:spPr>
              <a:xfrm>
                <a:off x="943651" y="3335793"/>
                <a:ext cx="10539725" cy="1200329"/>
              </a:xfrm>
              <a:prstGeom prst="rect">
                <a:avLst/>
              </a:prstGeom>
              <a:blipFill>
                <a:blip r:embed="rId2"/>
                <a:stretch>
                  <a:fillRect l="-925" t="-4061" b="-913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9C51CC2-07AE-4975-ACA2-82A3F42F7641}"/>
              </a:ext>
            </a:extLst>
          </p:cNvPr>
          <p:cNvSpPr txBox="1"/>
          <p:nvPr/>
        </p:nvSpPr>
        <p:spPr>
          <a:xfrm>
            <a:off x="190338" y="4557690"/>
            <a:ext cx="6742035"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）特定离散分布的随机数</a:t>
            </a:r>
          </a:p>
        </p:txBody>
      </p:sp>
      <p:sp>
        <p:nvSpPr>
          <p:cNvPr id="9" name="矩形 8">
            <a:extLst>
              <a:ext uri="{FF2B5EF4-FFF2-40B4-BE49-F238E27FC236}">
                <a16:creationId xmlns:a16="http://schemas.microsoft.com/office/drawing/2014/main" id="{0FF10825-2C27-4939-9554-9E11A60AE1FA}"/>
              </a:ext>
            </a:extLst>
          </p:cNvPr>
          <p:cNvSpPr/>
          <p:nvPr/>
        </p:nvSpPr>
        <p:spPr>
          <a:xfrm>
            <a:off x="891895" y="5102478"/>
            <a:ext cx="7522454" cy="1200329"/>
          </a:xfrm>
          <a:prstGeom prst="rect">
            <a:avLst/>
          </a:prstGeom>
        </p:spPr>
        <p:txBody>
          <a:bodyPr wrap="square">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逆变换法（</a:t>
            </a:r>
            <a:r>
              <a:rPr lang="en-US" altLang="zh-CN" sz="2400" dirty="0">
                <a:solidFill>
                  <a:schemeClr val="tx2">
                    <a:lumMod val="75000"/>
                  </a:schemeClr>
                </a:solidFill>
                <a:latin typeface="宋体" pitchFamily="2" charset="-122"/>
                <a:ea typeface="宋体" pitchFamily="2" charset="-122"/>
                <a:cs typeface="Times New Roman" pitchFamily="18" charset="0"/>
              </a:rPr>
              <a:t>Inverse Transformation Method</a:t>
            </a:r>
            <a:r>
              <a:rPr lang="zh-CN" altLang="en-US" sz="2400" dirty="0">
                <a:solidFill>
                  <a:schemeClr val="tx2">
                    <a:lumMod val="75000"/>
                  </a:schemeClr>
                </a:solidFill>
                <a:latin typeface="宋体" pitchFamily="2" charset="-122"/>
                <a:ea typeface="宋体" pitchFamily="2" charset="-122"/>
                <a:cs typeface="Times New Roman" pitchFamily="18" charset="0"/>
              </a:rPr>
              <a:t>）。先计算累计概率表，之后 </a:t>
            </a:r>
            <a:r>
              <a:rPr lang="en-US" altLang="zh-CN" sz="2400" dirty="0">
                <a:solidFill>
                  <a:schemeClr val="tx2">
                    <a:lumMod val="75000"/>
                  </a:schemeClr>
                </a:solidFill>
                <a:latin typeface="宋体" pitchFamily="2" charset="-122"/>
                <a:ea typeface="宋体" pitchFamily="2" charset="-122"/>
                <a:cs typeface="Times New Roman" pitchFamily="18" charset="0"/>
              </a:rPr>
              <a:t>index(</a:t>
            </a:r>
            <a:r>
              <a:rPr lang="en-US" altLang="zh-CN" sz="2400" dirty="0" err="1">
                <a:solidFill>
                  <a:schemeClr val="tx2">
                    <a:lumMod val="75000"/>
                  </a:schemeClr>
                </a:solidFill>
                <a:latin typeface="宋体" pitchFamily="2" charset="-122"/>
                <a:ea typeface="宋体" pitchFamily="2" charset="-122"/>
                <a:cs typeface="Times New Roman" pitchFamily="18" charset="0"/>
              </a:rPr>
              <a:t>return_array,match</a:t>
            </a:r>
            <a:r>
              <a:rPr lang="en-US" altLang="zh-CN" sz="2400" dirty="0">
                <a:solidFill>
                  <a:schemeClr val="tx2">
                    <a:lumMod val="75000"/>
                  </a:schemeClr>
                </a:solidFill>
                <a:latin typeface="宋体" pitchFamily="2" charset="-122"/>
                <a:ea typeface="宋体" pitchFamily="2" charset="-122"/>
                <a:cs typeface="Times New Roman" pitchFamily="18" charset="0"/>
              </a:rPr>
              <a:t>(rand(), </a:t>
            </a:r>
            <a:r>
              <a:rPr lang="en-US" altLang="zh-CN" sz="2400" dirty="0" err="1">
                <a:solidFill>
                  <a:schemeClr val="tx2">
                    <a:lumMod val="75000"/>
                  </a:schemeClr>
                </a:solidFill>
                <a:latin typeface="宋体" pitchFamily="2" charset="-122"/>
                <a:ea typeface="宋体" pitchFamily="2" charset="-122"/>
                <a:cs typeface="Times New Roman" pitchFamily="18" charset="0"/>
              </a:rPr>
              <a:t>cd_array</a:t>
            </a:r>
            <a:r>
              <a:rPr lang="en-US" altLang="zh-CN" sz="2400" dirty="0">
                <a:solidFill>
                  <a:schemeClr val="tx2">
                    <a:lumMod val="75000"/>
                  </a:schemeClr>
                </a:solidFill>
                <a:latin typeface="宋体" pitchFamily="2" charset="-122"/>
                <a:ea typeface="宋体" pitchFamily="2" charset="-122"/>
                <a:cs typeface="Times New Roman" pitchFamily="18" charset="0"/>
              </a:rPr>
              <a:t>, 1))</a:t>
            </a:r>
            <a:endParaRPr lang="zh-CN" altLang="en-US" sz="2400" dirty="0">
              <a:solidFill>
                <a:schemeClr val="tx2">
                  <a:lumMod val="75000"/>
                </a:schemeClr>
              </a:solidFill>
              <a:latin typeface="宋体" pitchFamily="2" charset="-122"/>
              <a:ea typeface="宋体" pitchFamily="2" charset="-122"/>
              <a:cs typeface="Times New Roman" pitchFamily="18" charset="0"/>
            </a:endParaRPr>
          </a:p>
        </p:txBody>
      </p:sp>
      <p:pic>
        <p:nvPicPr>
          <p:cNvPr id="10" name="图片 9">
            <a:extLst>
              <a:ext uri="{FF2B5EF4-FFF2-40B4-BE49-F238E27FC236}">
                <a16:creationId xmlns:a16="http://schemas.microsoft.com/office/drawing/2014/main" id="{D0EF70C9-44D1-44EC-83AB-8D977DA7CDA0}"/>
              </a:ext>
            </a:extLst>
          </p:cNvPr>
          <p:cNvPicPr>
            <a:picLocks noChangeAspect="1"/>
          </p:cNvPicPr>
          <p:nvPr/>
        </p:nvPicPr>
        <p:blipFill>
          <a:blip r:embed="rId3"/>
          <a:stretch>
            <a:fillRect/>
          </a:stretch>
        </p:blipFill>
        <p:spPr>
          <a:xfrm>
            <a:off x="8702056" y="4302670"/>
            <a:ext cx="2781320" cy="2262204"/>
          </a:xfrm>
          <a:prstGeom prst="rect">
            <a:avLst/>
          </a:prstGeom>
        </p:spPr>
      </p:pic>
      <p:sp>
        <p:nvSpPr>
          <p:cNvPr id="11" name="矩形 10">
            <a:extLst>
              <a:ext uri="{FF2B5EF4-FFF2-40B4-BE49-F238E27FC236}">
                <a16:creationId xmlns:a16="http://schemas.microsoft.com/office/drawing/2014/main" id="{EFF4939C-5869-4C37-92E7-92D2767ACAC7}"/>
              </a:ext>
            </a:extLst>
          </p:cNvPr>
          <p:cNvSpPr/>
          <p:nvPr/>
        </p:nvSpPr>
        <p:spPr>
          <a:xfrm>
            <a:off x="1876982" y="5856405"/>
            <a:ext cx="1904443" cy="394656"/>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C073AB1C-9C7E-4EAC-AE13-26A829ED86E1}"/>
              </a:ext>
            </a:extLst>
          </p:cNvPr>
          <p:cNvSpPr/>
          <p:nvPr/>
        </p:nvSpPr>
        <p:spPr>
          <a:xfrm>
            <a:off x="8834995" y="5305670"/>
            <a:ext cx="632856" cy="880817"/>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C480EC87-0A7C-4F78-A7E3-6E74667097A2}"/>
              </a:ext>
            </a:extLst>
          </p:cNvPr>
          <p:cNvSpPr/>
          <p:nvPr/>
        </p:nvSpPr>
        <p:spPr>
          <a:xfrm>
            <a:off x="9998589" y="5262233"/>
            <a:ext cx="907535" cy="924254"/>
          </a:xfrm>
          <a:prstGeom prst="rect">
            <a:avLst/>
          </a:prstGeom>
          <a:noFill/>
          <a:ln w="412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992B7F5-FFF2-446A-B7EB-19427BB95202}"/>
              </a:ext>
            </a:extLst>
          </p:cNvPr>
          <p:cNvSpPr/>
          <p:nvPr/>
        </p:nvSpPr>
        <p:spPr>
          <a:xfrm>
            <a:off x="5926651" y="5788934"/>
            <a:ext cx="1398074" cy="513873"/>
          </a:xfrm>
          <a:prstGeom prst="rect">
            <a:avLst/>
          </a:prstGeom>
          <a:noFill/>
          <a:ln w="412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38751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1422" y="1556425"/>
            <a:ext cx="10749156" cy="3997118"/>
          </a:xfrm>
          <a:prstGeom prst="rect">
            <a:avLst/>
          </a:prstGeom>
          <a:effectLst/>
        </p:spPr>
      </p:pic>
      <p:sp>
        <p:nvSpPr>
          <p:cNvPr id="10" name="文本框 9">
            <a:extLst>
              <a:ext uri="{FF2B5EF4-FFF2-40B4-BE49-F238E27FC236}">
                <a16:creationId xmlns:a16="http://schemas.microsoft.com/office/drawing/2014/main" id="{049A9311-823D-4905-BF39-30FF95D523A0}"/>
              </a:ext>
            </a:extLst>
          </p:cNvPr>
          <p:cNvSpPr txBox="1"/>
          <p:nvPr/>
        </p:nvSpPr>
        <p:spPr>
          <a:xfrm>
            <a:off x="0" y="46232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、系统模拟模型的一般框架</a:t>
            </a:r>
          </a:p>
        </p:txBody>
      </p:sp>
    </p:spTree>
    <p:extLst>
      <p:ext uri="{BB962C8B-B14F-4D97-AF65-F5344CB8AC3E}">
        <p14:creationId xmlns:p14="http://schemas.microsoft.com/office/powerpoint/2010/main" val="26471357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3433BB46-C343-4615-AE9F-E06687201374}"/>
              </a:ext>
            </a:extLst>
          </p:cNvPr>
          <p:cNvPicPr>
            <a:picLocks noChangeAspect="1"/>
          </p:cNvPicPr>
          <p:nvPr/>
        </p:nvPicPr>
        <p:blipFill>
          <a:blip r:embed="rId2"/>
          <a:stretch>
            <a:fillRect/>
          </a:stretch>
        </p:blipFill>
        <p:spPr>
          <a:xfrm>
            <a:off x="1099568" y="1652588"/>
            <a:ext cx="9523229" cy="4886347"/>
          </a:xfrm>
          <a:prstGeom prst="rect">
            <a:avLst/>
          </a:prstGeom>
        </p:spPr>
      </p:pic>
      <p:sp>
        <p:nvSpPr>
          <p:cNvPr id="17" name="文本框 16">
            <a:extLst>
              <a:ext uri="{FF2B5EF4-FFF2-40B4-BE49-F238E27FC236}">
                <a16:creationId xmlns:a16="http://schemas.microsoft.com/office/drawing/2014/main" id="{8469F3FA-B35F-4FE0-A3E1-BD756C608B2C}"/>
              </a:ext>
            </a:extLst>
          </p:cNvPr>
          <p:cNvSpPr txBox="1"/>
          <p:nvPr/>
        </p:nvSpPr>
        <p:spPr>
          <a:xfrm>
            <a:off x="0" y="46232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、系统模拟模型的一般框架</a:t>
            </a:r>
          </a:p>
        </p:txBody>
      </p:sp>
      <p:sp>
        <p:nvSpPr>
          <p:cNvPr id="13" name="文本框 12">
            <a:extLst>
              <a:ext uri="{FF2B5EF4-FFF2-40B4-BE49-F238E27FC236}">
                <a16:creationId xmlns:a16="http://schemas.microsoft.com/office/drawing/2014/main" id="{F2A1AD84-6115-47CE-A42A-97618EA3CFAA}"/>
              </a:ext>
            </a:extLst>
          </p:cNvPr>
          <p:cNvSpPr txBox="1"/>
          <p:nvPr/>
        </p:nvSpPr>
        <p:spPr>
          <a:xfrm>
            <a:off x="5117048" y="1201289"/>
            <a:ext cx="2775119" cy="369332"/>
          </a:xfrm>
          <a:prstGeom prst="rect">
            <a:avLst/>
          </a:prstGeom>
          <a:noFill/>
        </p:spPr>
        <p:txBody>
          <a:bodyPr wrap="none" rtlCol="0">
            <a:spAutoFit/>
          </a:bodyPr>
          <a:lstStyle/>
          <a:p>
            <a:r>
              <a:rPr lang="zh-CN" altLang="en-US" dirty="0"/>
              <a:t>例题</a:t>
            </a:r>
            <a:r>
              <a:rPr lang="en-US" altLang="zh-CN" dirty="0"/>
              <a:t>8-5</a:t>
            </a:r>
            <a:r>
              <a:rPr lang="zh-CN" altLang="en-US" dirty="0"/>
              <a:t>、</a:t>
            </a:r>
            <a:r>
              <a:rPr lang="en-US" altLang="zh-CN" dirty="0"/>
              <a:t>8-6</a:t>
            </a:r>
            <a:r>
              <a:rPr lang="zh-CN" altLang="en-US" dirty="0"/>
              <a:t>、</a:t>
            </a:r>
            <a:r>
              <a:rPr lang="en-US" altLang="zh-CN" dirty="0"/>
              <a:t>8-7</a:t>
            </a:r>
            <a:r>
              <a:rPr lang="zh-CN" altLang="en-US" dirty="0"/>
              <a:t>、</a:t>
            </a:r>
            <a:r>
              <a:rPr lang="en-US" altLang="zh-CN" dirty="0"/>
              <a:t>8-8</a:t>
            </a:r>
            <a:endParaRPr lang="zh-CN" altLang="en-US" dirty="0"/>
          </a:p>
        </p:txBody>
      </p:sp>
    </p:spTree>
    <p:extLst>
      <p:ext uri="{BB962C8B-B14F-4D97-AF65-F5344CB8AC3E}">
        <p14:creationId xmlns:p14="http://schemas.microsoft.com/office/powerpoint/2010/main" val="22749903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67194" y="1030662"/>
            <a:ext cx="11022327" cy="481863"/>
          </a:xfrm>
          <a:prstGeom prst="rect">
            <a:avLst/>
          </a:prstGeom>
          <a:noFill/>
        </p:spPr>
        <p:txBody>
          <a:bodyPr wrap="square" rtlCol="0">
            <a:spAutoFit/>
          </a:bodyPr>
          <a:lstStyle>
            <a:defPPr>
              <a:defRPr lang="zh-CN"/>
            </a:defPPr>
            <a:lvl1pPr>
              <a:lnSpc>
                <a:spcPct val="150000"/>
              </a:lnSpc>
              <a:defRPr sz="2400" b="1">
                <a:solidFill>
                  <a:schemeClr val="tx2">
                    <a:lumMod val="75000"/>
                  </a:schemeClr>
                </a:solidFill>
                <a:latin typeface="Times New Roman" pitchFamily="18" charset="0"/>
                <a:cs typeface="Times New Roman" pitchFamily="18" charset="0"/>
              </a:defRPr>
            </a:lvl1pPr>
          </a:lstStyle>
          <a:p>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例</a:t>
            </a:r>
            <a:r>
              <a:rPr lang="en-US" altLang="zh-CN" sz="2000" b="0" dirty="0">
                <a:latin typeface="宋体" panose="02010600030101010101" pitchFamily="2" charset="-122"/>
                <a:ea typeface="宋体" panose="02010600030101010101" pitchFamily="2" charset="-122"/>
              </a:rPr>
              <a:t>8-7】</a:t>
            </a:r>
            <a:r>
              <a:rPr lang="zh-CN" altLang="en-US" sz="2000" b="0" dirty="0">
                <a:latin typeface="宋体" panose="02010600030101010101" pitchFamily="2" charset="-122"/>
                <a:ea typeface="宋体" panose="02010600030101010101" pitchFamily="2" charset="-122"/>
              </a:rPr>
              <a:t>在随机需求库存模拟模型的基础上，进一步分析服务水平与安全库存的关系。</a:t>
            </a: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rcRect/>
          <a:stretch/>
        </p:blipFill>
        <p:spPr>
          <a:xfrm>
            <a:off x="3908507" y="1676993"/>
            <a:ext cx="7781014" cy="3699528"/>
          </a:xfrm>
          <a:prstGeom prst="rect">
            <a:avLst/>
          </a:prstGeom>
          <a:effectLst>
            <a:outerShdw blurRad="50800" dist="38100" algn="l" rotWithShape="0">
              <a:prstClr val="black">
                <a:alpha val="40000"/>
              </a:prstClr>
            </a:outerShdw>
          </a:effectLst>
        </p:spPr>
      </p:pic>
      <p:sp>
        <p:nvSpPr>
          <p:cNvPr id="7" name="文本框 9">
            <a:extLst>
              <a:ext uri="{FF2B5EF4-FFF2-40B4-BE49-F238E27FC236}">
                <a16:creationId xmlns:a16="http://schemas.microsoft.com/office/drawing/2014/main" id="{F24C6EAA-385B-4C5A-9DB1-087A54AD95E1}"/>
              </a:ext>
            </a:extLst>
          </p:cNvPr>
          <p:cNvSpPr txBox="1"/>
          <p:nvPr/>
        </p:nvSpPr>
        <p:spPr>
          <a:xfrm>
            <a:off x="0" y="47224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5</a:t>
            </a:r>
            <a:r>
              <a:rPr lang="zh-CN" altLang="en-US" sz="3600" dirty="0">
                <a:latin typeface="宋体" pitchFamily="2" charset="-122"/>
                <a:ea typeface="宋体" pitchFamily="2" charset="-122"/>
              </a:rPr>
              <a:t>、随机需求服务水平模拟模型实例</a:t>
            </a:r>
          </a:p>
        </p:txBody>
      </p:sp>
      <p:pic>
        <p:nvPicPr>
          <p:cNvPr id="2" name="图片 1">
            <a:extLst>
              <a:ext uri="{FF2B5EF4-FFF2-40B4-BE49-F238E27FC236}">
                <a16:creationId xmlns:a16="http://schemas.microsoft.com/office/drawing/2014/main" id="{FEF12795-A410-5845-82D8-17971D1E551F}"/>
              </a:ext>
            </a:extLst>
          </p:cNvPr>
          <p:cNvPicPr>
            <a:picLocks noChangeAspect="1"/>
          </p:cNvPicPr>
          <p:nvPr/>
        </p:nvPicPr>
        <p:blipFill>
          <a:blip r:embed="rId4"/>
          <a:stretch>
            <a:fillRect/>
          </a:stretch>
        </p:blipFill>
        <p:spPr>
          <a:xfrm>
            <a:off x="3908507" y="5548130"/>
            <a:ext cx="7781014" cy="558415"/>
          </a:xfrm>
          <a:prstGeom prst="rect">
            <a:avLst/>
          </a:prstGeom>
          <a:ln>
            <a:solidFill>
              <a:schemeClr val="tx1"/>
            </a:solidFill>
          </a:ln>
        </p:spPr>
      </p:pic>
      <p:sp>
        <p:nvSpPr>
          <p:cNvPr id="3" name="TextBox 1">
            <a:extLst>
              <a:ext uri="{FF2B5EF4-FFF2-40B4-BE49-F238E27FC236}">
                <a16:creationId xmlns:a16="http://schemas.microsoft.com/office/drawing/2014/main" id="{61379859-B376-8FBA-B3E7-B78EEF321E0D}"/>
              </a:ext>
            </a:extLst>
          </p:cNvPr>
          <p:cNvSpPr txBox="1"/>
          <p:nvPr/>
        </p:nvSpPr>
        <p:spPr>
          <a:xfrm>
            <a:off x="434100" y="3276856"/>
            <a:ext cx="2872806" cy="1015663"/>
          </a:xfrm>
          <a:prstGeom prst="rect">
            <a:avLst/>
          </a:prstGeom>
          <a:noFill/>
        </p:spPr>
        <p:txBody>
          <a:bodyPr wrap="square" rtlCol="0">
            <a:spAutoFit/>
          </a:bodyPr>
          <a:lstStyle/>
          <a:p>
            <a:r>
              <a:rPr lang="zh-CN" altLang="en-US" sz="2000" b="1" dirty="0"/>
              <a:t>解题步骤</a:t>
            </a:r>
            <a:r>
              <a:rPr lang="en-US" altLang="zh-CN" sz="2000" b="1" dirty="0"/>
              <a:t> </a:t>
            </a:r>
            <a:r>
              <a:rPr lang="zh-CN" altLang="en-US" sz="2000" b="1" dirty="0"/>
              <a:t>：</a:t>
            </a:r>
            <a:endParaRPr lang="en-US" altLang="zh-CN" sz="2000" b="1" dirty="0"/>
          </a:p>
          <a:p>
            <a:r>
              <a:rPr lang="zh-CN" altLang="en-US" sz="2000" b="1" dirty="0"/>
              <a:t>第一步，</a:t>
            </a:r>
            <a:r>
              <a:rPr lang="zh-CN" altLang="en-US" sz="2000" dirty="0"/>
              <a:t>建立随机需求服务水平模拟模型。</a:t>
            </a:r>
          </a:p>
        </p:txBody>
      </p:sp>
    </p:spTree>
    <p:extLst>
      <p:ext uri="{BB962C8B-B14F-4D97-AF65-F5344CB8AC3E}">
        <p14:creationId xmlns:p14="http://schemas.microsoft.com/office/powerpoint/2010/main" val="41361219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a:extLst>
              <a:ext uri="{FF2B5EF4-FFF2-40B4-BE49-F238E27FC236}">
                <a16:creationId xmlns:a16="http://schemas.microsoft.com/office/drawing/2014/main" id="{F24C6EAA-385B-4C5A-9DB1-087A54AD95E1}"/>
              </a:ext>
            </a:extLst>
          </p:cNvPr>
          <p:cNvSpPr txBox="1"/>
          <p:nvPr/>
        </p:nvSpPr>
        <p:spPr>
          <a:xfrm>
            <a:off x="0" y="47224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5</a:t>
            </a:r>
            <a:r>
              <a:rPr lang="zh-CN" altLang="en-US" sz="3600" dirty="0">
                <a:latin typeface="宋体" pitchFamily="2" charset="-122"/>
                <a:ea typeface="宋体" pitchFamily="2" charset="-122"/>
              </a:rPr>
              <a:t>、随机需求服务水平模拟模型实例</a:t>
            </a:r>
          </a:p>
        </p:txBody>
      </p:sp>
      <p:pic>
        <p:nvPicPr>
          <p:cNvPr id="10" name="图片 9">
            <a:extLst>
              <a:ext uri="{FF2B5EF4-FFF2-40B4-BE49-F238E27FC236}">
                <a16:creationId xmlns:a16="http://schemas.microsoft.com/office/drawing/2014/main" id="{C3C71D84-19D7-41EE-931F-B5F6344E074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59580" y="1909822"/>
            <a:ext cx="8327481" cy="4387708"/>
          </a:xfrm>
          <a:prstGeom prst="rect">
            <a:avLst/>
          </a:prstGeom>
          <a:effectLst>
            <a:outerShdw blurRad="50800" dist="38100" algn="l" rotWithShape="0">
              <a:prstClr val="black">
                <a:alpha val="40000"/>
              </a:prstClr>
            </a:outerShdw>
          </a:effectLst>
        </p:spPr>
      </p:pic>
      <p:sp>
        <p:nvSpPr>
          <p:cNvPr id="3" name="TextBox 1">
            <a:extLst>
              <a:ext uri="{FF2B5EF4-FFF2-40B4-BE49-F238E27FC236}">
                <a16:creationId xmlns:a16="http://schemas.microsoft.com/office/drawing/2014/main" id="{E4C737AD-5E57-61DB-DD79-1A162A8435D0}"/>
              </a:ext>
            </a:extLst>
          </p:cNvPr>
          <p:cNvSpPr txBox="1"/>
          <p:nvPr/>
        </p:nvSpPr>
        <p:spPr>
          <a:xfrm>
            <a:off x="2059579" y="1314145"/>
            <a:ext cx="6991823" cy="400110"/>
          </a:xfrm>
          <a:prstGeom prst="rect">
            <a:avLst/>
          </a:prstGeom>
          <a:noFill/>
        </p:spPr>
        <p:txBody>
          <a:bodyPr wrap="square" rtlCol="0">
            <a:spAutoFit/>
          </a:bodyPr>
          <a:lstStyle/>
          <a:p>
            <a:r>
              <a:rPr lang="zh-CN" altLang="en-US" sz="2000" b="1" dirty="0"/>
              <a:t>第二步，</a:t>
            </a:r>
            <a:r>
              <a:rPr lang="zh-CN" altLang="en-US" sz="2000" dirty="0"/>
              <a:t>绘制服务水平随安全库存变化图。</a:t>
            </a:r>
          </a:p>
        </p:txBody>
      </p:sp>
      <p:sp>
        <p:nvSpPr>
          <p:cNvPr id="2" name="文本框 1">
            <a:extLst>
              <a:ext uri="{FF2B5EF4-FFF2-40B4-BE49-F238E27FC236}">
                <a16:creationId xmlns:a16="http://schemas.microsoft.com/office/drawing/2014/main" id="{0133D7B8-95CE-4FB4-8607-E1239B54218E}"/>
              </a:ext>
            </a:extLst>
          </p:cNvPr>
          <p:cNvSpPr txBox="1"/>
          <p:nvPr/>
        </p:nvSpPr>
        <p:spPr>
          <a:xfrm>
            <a:off x="4919663" y="6385753"/>
            <a:ext cx="2191626" cy="369332"/>
          </a:xfrm>
          <a:prstGeom prst="rect">
            <a:avLst/>
          </a:prstGeom>
          <a:noFill/>
        </p:spPr>
        <p:txBody>
          <a:bodyPr wrap="none" rtlCol="0">
            <a:spAutoFit/>
          </a:bodyPr>
          <a:lstStyle/>
          <a:p>
            <a:r>
              <a:rPr lang="zh-CN" altLang="en-US" dirty="0"/>
              <a:t>服务水平</a:t>
            </a:r>
            <a:r>
              <a:rPr lang="en-US" altLang="zh-CN" dirty="0"/>
              <a:t>=1-</a:t>
            </a:r>
            <a:r>
              <a:rPr lang="zh-CN" altLang="en-US" dirty="0"/>
              <a:t>缺货率</a:t>
            </a:r>
          </a:p>
        </p:txBody>
      </p:sp>
    </p:spTree>
    <p:extLst>
      <p:ext uri="{BB962C8B-B14F-4D97-AF65-F5344CB8AC3E}">
        <p14:creationId xmlns:p14="http://schemas.microsoft.com/office/powerpoint/2010/main" val="24344669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Part8</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库存管理决策模型</a:t>
            </a:r>
          </a:p>
        </p:txBody>
      </p:sp>
    </p:spTree>
    <p:extLst>
      <p:ext uri="{BB962C8B-B14F-4D97-AF65-F5344CB8AC3E}">
        <p14:creationId xmlns:p14="http://schemas.microsoft.com/office/powerpoint/2010/main" val="9349202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477926" y="1209529"/>
            <a:ext cx="8763652" cy="5098512"/>
          </a:xfrm>
          <a:prstGeom prst="rect">
            <a:avLst/>
          </a:prstGeom>
          <a:noFill/>
        </p:spPr>
        <p:txBody>
          <a:bodyPr wrap="square" rtlCol="0">
            <a:spAutoFit/>
          </a:bodyPr>
          <a:lstStyle/>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1.FV()</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FV(rate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基于固定利率及等额分期付款方式，返回某项投资的未来值。</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2.PV()</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返回投资的现值</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现值为一系列未来付款当前值的累计和</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3.</a:t>
            </a:r>
            <a:r>
              <a:rPr lang="zh-CN" altLang="en-US" sz="2000" b="1" dirty="0">
                <a:solidFill>
                  <a:schemeClr val="tx2">
                    <a:lumMod val="75000"/>
                  </a:schemeClr>
                </a:solidFill>
                <a:latin typeface="宋体" panose="02010600030101010101" pitchFamily="2" charset="-122"/>
                <a:ea typeface="宋体" panose="02010600030101010101" pitchFamily="2" charset="-122"/>
              </a:rPr>
              <a:t>净现值与</a:t>
            </a:r>
            <a:r>
              <a:rPr lang="en-US" altLang="zh-CN" sz="2000" b="1" dirty="0">
                <a:solidFill>
                  <a:schemeClr val="tx2">
                    <a:lumMod val="75000"/>
                  </a:schemeClr>
                </a:solidFill>
                <a:latin typeface="宋体" panose="02010600030101010101" pitchFamily="2" charset="-122"/>
                <a:ea typeface="宋体" panose="02010600030101010101" pitchFamily="2" charset="-122"/>
              </a:rPr>
              <a:t>NPV</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r>
              <a:rPr lang="en-US" altLang="zh-CN" sz="2000" b="1" dirty="0">
                <a:solidFill>
                  <a:schemeClr val="tx2">
                    <a:lumMod val="75000"/>
                  </a:schemeClr>
                </a:solidFill>
                <a:latin typeface="宋体" panose="02010600030101010101" pitchFamily="2" charset="-122"/>
                <a:ea typeface="宋体" panose="02010600030101010101" pitchFamily="2" charset="-122"/>
              </a:rPr>
              <a:t>Net Present Value</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zh-CN" altLang="en-US" sz="2000" dirty="0">
                <a:solidFill>
                  <a:schemeClr val="tx2">
                    <a:lumMod val="75000"/>
                  </a:schemeClr>
                </a:solidFill>
                <a:latin typeface="宋体" panose="02010600030101010101" pitchFamily="2" charset="-122"/>
                <a:ea typeface="宋体" panose="02010600030101010101" pitchFamily="2" charset="-122"/>
              </a:rPr>
              <a:t>   净现值：</a:t>
            </a:r>
            <a:r>
              <a:rPr lang="zh-CN" altLang="zh-CN" sz="2000" dirty="0">
                <a:solidFill>
                  <a:schemeClr val="tx2">
                    <a:lumMod val="75000"/>
                  </a:schemeClr>
                </a:solidFill>
                <a:latin typeface="宋体" panose="02010600030101010101" pitchFamily="2" charset="-122"/>
                <a:ea typeface="宋体" panose="02010600030101010101" pitchFamily="2" charset="-122"/>
              </a:rPr>
              <a:t>投资的净现值是指未来各期支出（负值）和收入（正值）的现值总和</a:t>
            </a:r>
            <a:r>
              <a:rPr lang="zh-CN" altLang="en-US" sz="2000" dirty="0">
                <a:solidFill>
                  <a:schemeClr val="tx2">
                    <a:lumMod val="75000"/>
                  </a:schemeClr>
                </a:solidFill>
                <a:latin typeface="宋体" panose="02010600030101010101" pitchFamily="2" charset="-122"/>
                <a:ea typeface="宋体" panose="02010600030101010101" pitchFamily="2" charset="-122"/>
              </a:rPr>
              <a:t>。</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NPV(rate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value1</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value2</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基于一串现金流和固定的贴现率，返回一项投资的净现值。</a:t>
            </a: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061395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318768"/>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210209" y="938121"/>
            <a:ext cx="10096901" cy="60939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PMT()</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r>
              <a:rPr lang="en-US" altLang="zh-CN" sz="2000" b="1" dirty="0">
                <a:solidFill>
                  <a:schemeClr val="tx2">
                    <a:lumMod val="75000"/>
                  </a:schemeClr>
                </a:solidFill>
                <a:latin typeface="宋体" panose="02010600030101010101" pitchFamily="2" charset="-122"/>
                <a:ea typeface="宋体" panose="02010600030101010101" pitchFamily="2" charset="-122"/>
              </a:rPr>
              <a:t>Payment</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2"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2"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基于固定利率及等额分期付款方式，返回贷款（或投资）的每期偿还（或回报）额。</a:t>
            </a: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PPMT()</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基于固定利率及等额分期付款方式，返回某一给定期次内的本金偿还（或回报）额。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IPMT()</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基于固定利率及等额分期付款方式，返回某一给定期次内的利息偿还（或回报）额。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ISPMT()</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ISPMT(rate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en-US" altLang="zh-CN" sz="2000" dirty="0">
                <a:solidFill>
                  <a:schemeClr val="tx2">
                    <a:lumMod val="75000"/>
                  </a:schemeClr>
                </a:solidFill>
                <a:latin typeface="宋体" panose="02010600030101010101" pitchFamily="2" charset="-122"/>
                <a:ea typeface="宋体" panose="02010600030101010101" pitchFamily="2" charset="-122"/>
              </a:rPr>
              <a:t>)</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基于等本分期付款方式，返回特定期次内的利息偿还（或回报）额。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583624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483167" y="990047"/>
            <a:ext cx="9225665" cy="58679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RATE()</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RATE(</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en-US" sz="2000" dirty="0">
                <a:solidFill>
                  <a:schemeClr val="tx2">
                    <a:lumMod val="75000"/>
                  </a:schemeClr>
                </a:solidFill>
                <a:latin typeface="宋体" panose="02010600030101010101" pitchFamily="2" charset="-122"/>
                <a:ea typeface="宋体" panose="02010600030101010101" pitchFamily="2" charset="-122"/>
              </a:rPr>
              <a:t>未来值</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guess)</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返回年金的各期利率。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zh-CN" sz="2000" b="1" dirty="0">
                <a:solidFill>
                  <a:schemeClr val="tx2">
                    <a:lumMod val="75000"/>
                  </a:schemeClr>
                </a:solidFill>
                <a:latin typeface="宋体" panose="02010600030101010101" pitchFamily="2" charset="-122"/>
                <a:ea typeface="宋体" panose="02010600030101010101" pitchFamily="2" charset="-122"/>
              </a:rPr>
              <a:t>内部收益率</a:t>
            </a:r>
            <a:r>
              <a:rPr lang="en-US" altLang="zh-CN" sz="2000" b="1" dirty="0">
                <a:solidFill>
                  <a:schemeClr val="tx2">
                    <a:lumMod val="75000"/>
                  </a:schemeClr>
                </a:solidFill>
                <a:latin typeface="宋体" panose="02010600030101010101" pitchFamily="2" charset="-122"/>
                <a:ea typeface="宋体" panose="02010600030101010101" pitchFamily="2" charset="-122"/>
              </a:rPr>
              <a:t>&amp;IRR</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en-US" altLang="zh-CN" sz="2000" b="1" dirty="0">
                <a:solidFill>
                  <a:schemeClr val="tx2">
                    <a:lumMod val="75000"/>
                  </a:schemeClr>
                </a:solidFill>
                <a:latin typeface="宋体" panose="02010600030101010101" pitchFamily="2" charset="-122"/>
                <a:ea typeface="宋体" panose="02010600030101010101" pitchFamily="2" charset="-122"/>
              </a:rPr>
              <a:t>(Internal Rate of Return)</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zh-CN" altLang="en-US" sz="2000" dirty="0">
                <a:solidFill>
                  <a:schemeClr val="tx2">
                    <a:lumMod val="75000"/>
                  </a:schemeClr>
                </a:solidFill>
                <a:latin typeface="宋体" panose="02010600030101010101" pitchFamily="2" charset="-122"/>
                <a:ea typeface="宋体" panose="02010600030101010101" pitchFamily="2" charset="-122"/>
              </a:rPr>
              <a:t>资金流入现值总额与资金流出现值总额相等、</a:t>
            </a:r>
            <a:r>
              <a:rPr lang="zh-CN" altLang="en-US" sz="2000" b="1" dirty="0">
                <a:solidFill>
                  <a:schemeClr val="tx2">
                    <a:lumMod val="75000"/>
                  </a:schemeClr>
                </a:solidFill>
                <a:latin typeface="宋体" panose="02010600030101010101" pitchFamily="2" charset="-122"/>
                <a:ea typeface="宋体" panose="02010600030101010101" pitchFamily="2" charset="-122"/>
              </a:rPr>
              <a:t>净现值等于零时</a:t>
            </a:r>
            <a:r>
              <a:rPr lang="zh-CN" altLang="en-US" sz="2000" dirty="0">
                <a:solidFill>
                  <a:schemeClr val="tx2">
                    <a:lumMod val="75000"/>
                  </a:schemeClr>
                </a:solidFill>
                <a:latin typeface="宋体" panose="02010600030101010101" pitchFamily="2" charset="-122"/>
                <a:ea typeface="宋体" panose="02010600030101010101" pitchFamily="2" charset="-122"/>
              </a:rPr>
              <a:t>的折现率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IRR(values</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guess)</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返回由数值代表的一组现金流的内部收益率，即投资回报利率。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zh-CN" altLang="en-US" sz="2000" dirty="0">
                <a:solidFill>
                  <a:schemeClr val="tx2">
                    <a:lumMod val="75000"/>
                  </a:schemeClr>
                </a:solidFill>
                <a:latin typeface="宋体" panose="02010600030101010101" pitchFamily="2" charset="-122"/>
                <a:ea typeface="宋体" panose="02010600030101010101" pitchFamily="2" charset="-122"/>
              </a:rPr>
              <a:t>注意点：</a:t>
            </a:r>
            <a:r>
              <a:rPr lang="zh-CN" altLang="zh-CN" sz="2000" dirty="0">
                <a:solidFill>
                  <a:schemeClr val="tx2">
                    <a:lumMod val="75000"/>
                  </a:schemeClr>
                </a:solidFill>
                <a:latin typeface="宋体" panose="02010600030101010101" pitchFamily="2" charset="-122"/>
                <a:ea typeface="宋体" panose="02010600030101010101" pitchFamily="2" charset="-122"/>
              </a:rPr>
              <a:t>这些现金流不一定必须为均衡的，其中包含定期支付（负值）和收入（正值）。但作为年金，它们必须按固定的间隔发生，如按月或按年。</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NPER()</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NPER(rate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基于固定利率及等额分期付款方式，返回某项投资（或贷款）的总期数。</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489643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1421827" y="5513257"/>
            <a:ext cx="9449995" cy="646331"/>
          </a:xfrm>
          <a:prstGeom prst="rect">
            <a:avLst/>
          </a:prstGeom>
          <a:noFill/>
        </p:spPr>
        <p:txBody>
          <a:bodyPr wrap="square" rtlCol="0">
            <a:spAutoFit/>
          </a:bodyPr>
          <a:lstStyle/>
          <a:p>
            <a:r>
              <a:rPr lang="zh-CN" altLang="en-US" dirty="0"/>
              <a:t>注意，一般净现值的计算，一般都是从第</a:t>
            </a:r>
            <a:r>
              <a:rPr lang="en-US" altLang="zh-CN" dirty="0"/>
              <a:t>1</a:t>
            </a:r>
            <a:r>
              <a:rPr lang="zh-CN" altLang="en-US" dirty="0"/>
              <a:t>年开始算起的，而不是从第</a:t>
            </a:r>
            <a:r>
              <a:rPr lang="en-US" altLang="zh-CN" dirty="0"/>
              <a:t>0</a:t>
            </a:r>
            <a:r>
              <a:rPr lang="zh-CN" altLang="en-US" dirty="0"/>
              <a:t>年开始算起</a:t>
            </a:r>
            <a:endParaRPr lang="en-US" altLang="zh-CN" dirty="0"/>
          </a:p>
          <a:p>
            <a:r>
              <a:rPr lang="zh-CN" altLang="en-US" dirty="0"/>
              <a:t>所以，</a:t>
            </a:r>
            <a:r>
              <a:rPr lang="en-US" altLang="zh-CN" dirty="0" err="1"/>
              <a:t>npv</a:t>
            </a:r>
            <a:r>
              <a:rPr lang="zh-CN" altLang="en-US" dirty="0"/>
              <a:t>选中的数据一般得从第</a:t>
            </a:r>
            <a:r>
              <a:rPr lang="en-US" altLang="zh-CN" dirty="0"/>
              <a:t>1</a:t>
            </a:r>
            <a:r>
              <a:rPr lang="zh-CN" altLang="en-US" dirty="0"/>
              <a:t>年开始算起，不考虑第</a:t>
            </a:r>
            <a:r>
              <a:rPr lang="en-US" altLang="zh-CN" dirty="0"/>
              <a:t>0</a:t>
            </a:r>
            <a:r>
              <a:rPr lang="zh-CN" altLang="en-US" dirty="0"/>
              <a:t>年的投资</a:t>
            </a:r>
          </a:p>
        </p:txBody>
      </p:sp>
      <p:pic>
        <p:nvPicPr>
          <p:cNvPr id="5" name="图片 4">
            <a:extLst>
              <a:ext uri="{FF2B5EF4-FFF2-40B4-BE49-F238E27FC236}">
                <a16:creationId xmlns:a16="http://schemas.microsoft.com/office/drawing/2014/main" id="{B955ED91-3CB5-479D-925F-702CDF5B8B60}"/>
              </a:ext>
            </a:extLst>
          </p:cNvPr>
          <p:cNvPicPr>
            <a:picLocks noChangeAspect="1"/>
          </p:cNvPicPr>
          <p:nvPr/>
        </p:nvPicPr>
        <p:blipFill>
          <a:blip r:embed="rId2"/>
          <a:stretch>
            <a:fillRect/>
          </a:stretch>
        </p:blipFill>
        <p:spPr>
          <a:xfrm>
            <a:off x="365046" y="1447350"/>
            <a:ext cx="11219380" cy="3828086"/>
          </a:xfrm>
          <a:prstGeom prst="rect">
            <a:avLst/>
          </a:prstGeom>
        </p:spPr>
      </p:pic>
    </p:spTree>
    <p:extLst>
      <p:ext uri="{BB962C8B-B14F-4D97-AF65-F5344CB8AC3E}">
        <p14:creationId xmlns:p14="http://schemas.microsoft.com/office/powerpoint/2010/main" val="15109355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2683890" y="5322757"/>
            <a:ext cx="9449995" cy="646331"/>
          </a:xfrm>
          <a:prstGeom prst="rect">
            <a:avLst/>
          </a:prstGeom>
          <a:noFill/>
        </p:spPr>
        <p:txBody>
          <a:bodyPr wrap="square" rtlCol="0">
            <a:spAutoFit/>
          </a:bodyPr>
          <a:lstStyle/>
          <a:p>
            <a:r>
              <a:rPr lang="zh-CN" altLang="en-US" dirty="0"/>
              <a:t>注意，一般内部报酬率的计算，一般都是从第</a:t>
            </a:r>
            <a:r>
              <a:rPr lang="en-US" altLang="zh-CN" dirty="0"/>
              <a:t>0</a:t>
            </a:r>
            <a:r>
              <a:rPr lang="zh-CN" altLang="en-US" dirty="0"/>
              <a:t>年开始算起的</a:t>
            </a:r>
            <a:endParaRPr lang="en-US" altLang="zh-CN" dirty="0"/>
          </a:p>
          <a:p>
            <a:r>
              <a:rPr lang="zh-CN" altLang="en-US" dirty="0"/>
              <a:t>所以，</a:t>
            </a:r>
            <a:r>
              <a:rPr lang="en-US" altLang="zh-CN" dirty="0" err="1"/>
              <a:t>irr</a:t>
            </a:r>
            <a:r>
              <a:rPr lang="zh-CN" altLang="en-US" dirty="0"/>
              <a:t>选中的数据一般得从第</a:t>
            </a:r>
            <a:r>
              <a:rPr lang="en-US" altLang="zh-CN" dirty="0"/>
              <a:t>0</a:t>
            </a:r>
            <a:r>
              <a:rPr lang="zh-CN" altLang="en-US" dirty="0"/>
              <a:t>年开始算起</a:t>
            </a:r>
          </a:p>
        </p:txBody>
      </p:sp>
      <p:pic>
        <p:nvPicPr>
          <p:cNvPr id="6" name="图片 5">
            <a:extLst>
              <a:ext uri="{FF2B5EF4-FFF2-40B4-BE49-F238E27FC236}">
                <a16:creationId xmlns:a16="http://schemas.microsoft.com/office/drawing/2014/main" id="{6B405649-2BF0-40EE-A2E4-DB64BC058A3C}"/>
              </a:ext>
            </a:extLst>
          </p:cNvPr>
          <p:cNvPicPr>
            <a:picLocks noChangeAspect="1"/>
          </p:cNvPicPr>
          <p:nvPr/>
        </p:nvPicPr>
        <p:blipFill>
          <a:blip r:embed="rId2"/>
          <a:stretch>
            <a:fillRect/>
          </a:stretch>
        </p:blipFill>
        <p:spPr>
          <a:xfrm>
            <a:off x="1935938" y="1576380"/>
            <a:ext cx="7723433" cy="3276608"/>
          </a:xfrm>
          <a:prstGeom prst="rect">
            <a:avLst/>
          </a:prstGeom>
        </p:spPr>
      </p:pic>
    </p:spTree>
    <p:extLst>
      <p:ext uri="{BB962C8B-B14F-4D97-AF65-F5344CB8AC3E}">
        <p14:creationId xmlns:p14="http://schemas.microsoft.com/office/powerpoint/2010/main" val="42848036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2742005" y="5909336"/>
            <a:ext cx="9449995" cy="369332"/>
          </a:xfrm>
          <a:prstGeom prst="rect">
            <a:avLst/>
          </a:prstGeom>
          <a:noFill/>
        </p:spPr>
        <p:txBody>
          <a:bodyPr wrap="square" rtlCol="0">
            <a:spAutoFit/>
          </a:bodyPr>
          <a:lstStyle/>
          <a:p>
            <a:r>
              <a:rPr lang="zh-CN" altLang="en-US" dirty="0"/>
              <a:t>内部报酬率也可以用内插值法计算</a:t>
            </a:r>
          </a:p>
        </p:txBody>
      </p:sp>
      <p:pic>
        <p:nvPicPr>
          <p:cNvPr id="8" name="图片 7">
            <a:extLst>
              <a:ext uri="{FF2B5EF4-FFF2-40B4-BE49-F238E27FC236}">
                <a16:creationId xmlns:a16="http://schemas.microsoft.com/office/drawing/2014/main" id="{B0A3CE9F-14A7-42A7-AD1C-BD199565ABE5}"/>
              </a:ext>
            </a:extLst>
          </p:cNvPr>
          <p:cNvPicPr>
            <a:picLocks noChangeAspect="1"/>
          </p:cNvPicPr>
          <p:nvPr/>
        </p:nvPicPr>
        <p:blipFill>
          <a:blip r:embed="rId2"/>
          <a:stretch>
            <a:fillRect/>
          </a:stretch>
        </p:blipFill>
        <p:spPr>
          <a:xfrm>
            <a:off x="5507818" y="1588404"/>
            <a:ext cx="4126720" cy="3681191"/>
          </a:xfrm>
          <a:prstGeom prst="rect">
            <a:avLst/>
          </a:prstGeom>
        </p:spPr>
      </p:pic>
      <p:pic>
        <p:nvPicPr>
          <p:cNvPr id="10" name="图片 9">
            <a:extLst>
              <a:ext uri="{FF2B5EF4-FFF2-40B4-BE49-F238E27FC236}">
                <a16:creationId xmlns:a16="http://schemas.microsoft.com/office/drawing/2014/main" id="{870DFBC7-75FA-4165-BCFD-B9724C924F69}"/>
              </a:ext>
            </a:extLst>
          </p:cNvPr>
          <p:cNvPicPr>
            <a:picLocks noChangeAspect="1"/>
          </p:cNvPicPr>
          <p:nvPr/>
        </p:nvPicPr>
        <p:blipFill>
          <a:blip r:embed="rId3"/>
          <a:stretch>
            <a:fillRect/>
          </a:stretch>
        </p:blipFill>
        <p:spPr>
          <a:xfrm>
            <a:off x="1204901" y="2755100"/>
            <a:ext cx="3181373" cy="1519249"/>
          </a:xfrm>
          <a:prstGeom prst="rect">
            <a:avLst/>
          </a:prstGeom>
        </p:spPr>
      </p:pic>
    </p:spTree>
    <p:extLst>
      <p:ext uri="{BB962C8B-B14F-4D97-AF65-F5344CB8AC3E}">
        <p14:creationId xmlns:p14="http://schemas.microsoft.com/office/powerpoint/2010/main" val="34925810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312617-EA35-41D3-B6A0-39B63FE8E064}"/>
              </a:ext>
            </a:extLst>
          </p:cNvPr>
          <p:cNvSpPr txBox="1"/>
          <p:nvPr/>
        </p:nvSpPr>
        <p:spPr>
          <a:xfrm>
            <a:off x="1421827" y="5513257"/>
            <a:ext cx="9449995" cy="646331"/>
          </a:xfrm>
          <a:prstGeom prst="rect">
            <a:avLst/>
          </a:prstGeom>
          <a:noFill/>
        </p:spPr>
        <p:txBody>
          <a:bodyPr wrap="square" rtlCol="0">
            <a:spAutoFit/>
          </a:bodyPr>
          <a:lstStyle/>
          <a:p>
            <a:r>
              <a:rPr lang="zh-CN" altLang="en-US" dirty="0"/>
              <a:t>注意一道等本金偿还的例题，使用函数 </a:t>
            </a:r>
            <a:r>
              <a:rPr lang="en-US" altLang="zh-CN" dirty="0" err="1"/>
              <a:t>ispmt</a:t>
            </a:r>
            <a:r>
              <a:rPr lang="en-US" altLang="zh-CN" dirty="0"/>
              <a:t> </a:t>
            </a:r>
            <a:r>
              <a:rPr lang="zh-CN" altLang="en-US" dirty="0"/>
              <a:t>，注意 </a:t>
            </a:r>
            <a:r>
              <a:rPr lang="en-US" altLang="zh-CN" dirty="0"/>
              <a:t>per </a:t>
            </a:r>
            <a:r>
              <a:rPr lang="zh-CN" altLang="en-US" dirty="0"/>
              <a:t>处输入的时前一年本金剩余额，当期的利息计算方式是</a:t>
            </a:r>
            <a:r>
              <a:rPr lang="zh-CN" altLang="en-US" b="1" dirty="0"/>
              <a:t>前一年的本金剩余</a:t>
            </a:r>
            <a:r>
              <a:rPr lang="en-US" altLang="zh-CN" b="1" dirty="0"/>
              <a:t>*</a:t>
            </a:r>
            <a:r>
              <a:rPr lang="zh-CN" altLang="en-US" b="1" dirty="0"/>
              <a:t>贷款利率</a:t>
            </a:r>
          </a:p>
        </p:txBody>
      </p:sp>
      <p:pic>
        <p:nvPicPr>
          <p:cNvPr id="6" name="图片 5">
            <a:extLst>
              <a:ext uri="{FF2B5EF4-FFF2-40B4-BE49-F238E27FC236}">
                <a16:creationId xmlns:a16="http://schemas.microsoft.com/office/drawing/2014/main" id="{EAB96069-05B0-4204-B451-C51AE8C6AB65}"/>
              </a:ext>
            </a:extLst>
          </p:cNvPr>
          <p:cNvPicPr>
            <a:picLocks noChangeAspect="1"/>
          </p:cNvPicPr>
          <p:nvPr/>
        </p:nvPicPr>
        <p:blipFill>
          <a:blip r:embed="rId2"/>
          <a:stretch>
            <a:fillRect/>
          </a:stretch>
        </p:blipFill>
        <p:spPr>
          <a:xfrm>
            <a:off x="660089" y="1478460"/>
            <a:ext cx="10871822" cy="3765866"/>
          </a:xfrm>
          <a:prstGeom prst="rect">
            <a:avLst/>
          </a:prstGeom>
        </p:spPr>
      </p:pic>
      <p:sp>
        <p:nvSpPr>
          <p:cNvPr id="5" name="文本框 4">
            <a:extLst>
              <a:ext uri="{FF2B5EF4-FFF2-40B4-BE49-F238E27FC236}">
                <a16:creationId xmlns:a16="http://schemas.microsoft.com/office/drawing/2014/main" id="{0813DEFE-40B7-4A8B-B324-CEC743EBFB2C}"/>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3-5</a:t>
            </a:r>
            <a:r>
              <a:rPr lang="zh-CN" altLang="en-US" sz="3600" dirty="0">
                <a:latin typeface="宋体" pitchFamily="2" charset="-122"/>
                <a:ea typeface="宋体" pitchFamily="2" charset="-122"/>
              </a:rPr>
              <a:t>：方案一净现值计算</a:t>
            </a:r>
          </a:p>
        </p:txBody>
      </p:sp>
    </p:spTree>
    <p:extLst>
      <p:ext uri="{BB962C8B-B14F-4D97-AF65-F5344CB8AC3E}">
        <p14:creationId xmlns:p14="http://schemas.microsoft.com/office/powerpoint/2010/main" val="29434407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312617-EA35-41D3-B6A0-39B63FE8E064}"/>
              </a:ext>
            </a:extLst>
          </p:cNvPr>
          <p:cNvSpPr txBox="1"/>
          <p:nvPr/>
        </p:nvSpPr>
        <p:spPr>
          <a:xfrm>
            <a:off x="1298003" y="4836981"/>
            <a:ext cx="9449995" cy="1754326"/>
          </a:xfrm>
          <a:prstGeom prst="rect">
            <a:avLst/>
          </a:prstGeom>
          <a:noFill/>
        </p:spPr>
        <p:txBody>
          <a:bodyPr wrap="square" rtlCol="0">
            <a:spAutoFit/>
          </a:bodyPr>
          <a:lstStyle/>
          <a:p>
            <a:r>
              <a:rPr lang="zh-CN" altLang="en-US" b="1" dirty="0"/>
              <a:t>这里要注意，国债每年</a:t>
            </a:r>
            <a:r>
              <a:rPr lang="en-US" altLang="zh-CN" b="1" dirty="0"/>
              <a:t>7</a:t>
            </a:r>
            <a:r>
              <a:rPr lang="zh-CN" altLang="en-US" b="1" dirty="0"/>
              <a:t>月</a:t>
            </a:r>
            <a:r>
              <a:rPr lang="en-US" altLang="zh-CN" b="1" dirty="0"/>
              <a:t>1</a:t>
            </a:r>
            <a:r>
              <a:rPr lang="zh-CN" altLang="en-US" b="1" dirty="0"/>
              <a:t>日结算，也就是正好是一年的年中。所以，现金流收入要考虑的是第</a:t>
            </a:r>
            <a:r>
              <a:rPr lang="en-US" altLang="zh-CN" b="1" dirty="0"/>
              <a:t>1-5</a:t>
            </a:r>
            <a:r>
              <a:rPr lang="zh-CN" altLang="en-US" b="1" dirty="0"/>
              <a:t>年的年中，也就是第</a:t>
            </a:r>
            <a:r>
              <a:rPr lang="en-US" altLang="zh-CN" b="1" dirty="0"/>
              <a:t>0.5</a:t>
            </a:r>
            <a:r>
              <a:rPr lang="zh-CN" altLang="en-US" b="1" dirty="0"/>
              <a:t>、</a:t>
            </a:r>
            <a:r>
              <a:rPr lang="en-US" altLang="zh-CN" b="1" dirty="0"/>
              <a:t>1.5</a:t>
            </a:r>
            <a:r>
              <a:rPr lang="zh-CN" altLang="en-US" b="1" dirty="0"/>
              <a:t>、</a:t>
            </a:r>
            <a:r>
              <a:rPr lang="en-US" altLang="zh-CN" b="1" dirty="0"/>
              <a:t>2.5</a:t>
            </a:r>
            <a:r>
              <a:rPr lang="zh-CN" altLang="en-US" b="1" dirty="0"/>
              <a:t>、</a:t>
            </a:r>
            <a:r>
              <a:rPr lang="en-US" altLang="zh-CN" b="1" dirty="0"/>
              <a:t>3.5</a:t>
            </a:r>
            <a:r>
              <a:rPr lang="zh-CN" altLang="en-US" b="1" dirty="0"/>
              <a:t>、</a:t>
            </a:r>
            <a:r>
              <a:rPr lang="en-US" altLang="zh-CN" b="1" dirty="0"/>
              <a:t>4.5</a:t>
            </a:r>
            <a:r>
              <a:rPr lang="zh-CN" altLang="en-US" b="1" dirty="0"/>
              <a:t>年，还有第</a:t>
            </a:r>
            <a:r>
              <a:rPr lang="en-US" altLang="zh-CN" b="1" dirty="0"/>
              <a:t>5</a:t>
            </a:r>
            <a:r>
              <a:rPr lang="zh-CN" altLang="en-US" b="1" dirty="0"/>
              <a:t>年。第</a:t>
            </a:r>
            <a:r>
              <a:rPr lang="en-US" altLang="zh-CN" b="1" dirty="0"/>
              <a:t>0.5</a:t>
            </a:r>
            <a:r>
              <a:rPr lang="zh-CN" altLang="en-US" b="1" dirty="0"/>
              <a:t>、</a:t>
            </a:r>
            <a:r>
              <a:rPr lang="en-US" altLang="zh-CN" b="1" dirty="0"/>
              <a:t>1.5</a:t>
            </a:r>
            <a:r>
              <a:rPr lang="zh-CN" altLang="en-US" b="1" dirty="0"/>
              <a:t>、</a:t>
            </a:r>
            <a:r>
              <a:rPr lang="en-US" altLang="zh-CN" b="1" dirty="0"/>
              <a:t>2.5</a:t>
            </a:r>
            <a:r>
              <a:rPr lang="zh-CN" altLang="en-US" b="1" dirty="0"/>
              <a:t>、</a:t>
            </a:r>
            <a:r>
              <a:rPr lang="en-US" altLang="zh-CN" b="1" dirty="0"/>
              <a:t>3.5</a:t>
            </a:r>
            <a:r>
              <a:rPr lang="zh-CN" altLang="en-US" b="1" dirty="0"/>
              <a:t>、</a:t>
            </a:r>
            <a:r>
              <a:rPr lang="en-US" altLang="zh-CN" b="1" dirty="0"/>
              <a:t>4.5</a:t>
            </a:r>
            <a:r>
              <a:rPr lang="zh-CN" altLang="en-US" b="1" dirty="0"/>
              <a:t>年收获国债利息</a:t>
            </a:r>
            <a:r>
              <a:rPr lang="en-US" altLang="zh-CN" b="1" dirty="0"/>
              <a:t>=</a:t>
            </a:r>
            <a:r>
              <a:rPr lang="zh-CN" altLang="en-US" b="1" dirty="0"/>
              <a:t>买到多少张国债</a:t>
            </a:r>
            <a:r>
              <a:rPr lang="en-US" altLang="zh-CN" b="1" dirty="0"/>
              <a:t>*</a:t>
            </a:r>
            <a:r>
              <a:rPr lang="zh-CN" altLang="en-US" b="1" dirty="0"/>
              <a:t>国债利息，第</a:t>
            </a:r>
            <a:r>
              <a:rPr lang="en-US" altLang="zh-CN" b="1" dirty="0"/>
              <a:t>5</a:t>
            </a:r>
            <a:r>
              <a:rPr lang="zh-CN" altLang="en-US" b="1" dirty="0"/>
              <a:t>年以每张国债</a:t>
            </a:r>
            <a:r>
              <a:rPr lang="en-US" altLang="zh-CN" b="1" dirty="0"/>
              <a:t>105</a:t>
            </a:r>
            <a:r>
              <a:rPr lang="zh-CN" altLang="en-US" b="1" dirty="0"/>
              <a:t>元卖出</a:t>
            </a:r>
            <a:endParaRPr lang="en-US" altLang="zh-CN" b="1" dirty="0"/>
          </a:p>
          <a:p>
            <a:endParaRPr lang="en-US" altLang="zh-CN" b="1" dirty="0"/>
          </a:p>
          <a:p>
            <a:r>
              <a:rPr lang="zh-CN" altLang="en-US" b="1" dirty="0"/>
              <a:t>最后的净现值也不能使用</a:t>
            </a:r>
            <a:r>
              <a:rPr lang="en-US" altLang="zh-CN" b="1" dirty="0"/>
              <a:t>excel</a:t>
            </a:r>
            <a:r>
              <a:rPr lang="zh-CN" altLang="en-US" b="1" dirty="0"/>
              <a:t>的财务函数计算，要使用原始公式：</a:t>
            </a:r>
            <a:endParaRPr lang="en-US" altLang="zh-CN" b="1" dirty="0"/>
          </a:p>
          <a:p>
            <a:pPr algn="ctr"/>
            <a:r>
              <a:rPr lang="pt-BR" altLang="zh-CN" b="1" dirty="0"/>
              <a:t>=SUM(N10:N16/(1+C4)^M10:M16)</a:t>
            </a:r>
            <a:endParaRPr lang="en-US" altLang="zh-CN" b="1" dirty="0"/>
          </a:p>
        </p:txBody>
      </p:sp>
      <p:sp>
        <p:nvSpPr>
          <p:cNvPr id="5" name="文本框 4">
            <a:extLst>
              <a:ext uri="{FF2B5EF4-FFF2-40B4-BE49-F238E27FC236}">
                <a16:creationId xmlns:a16="http://schemas.microsoft.com/office/drawing/2014/main" id="{0813DEFE-40B7-4A8B-B324-CEC743EBFB2C}"/>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3-5</a:t>
            </a:r>
            <a:r>
              <a:rPr lang="zh-CN" altLang="en-US" sz="3600" dirty="0">
                <a:latin typeface="宋体" pitchFamily="2" charset="-122"/>
                <a:ea typeface="宋体" pitchFamily="2" charset="-122"/>
              </a:rPr>
              <a:t>：方案二现金流计算</a:t>
            </a:r>
          </a:p>
        </p:txBody>
      </p:sp>
      <p:pic>
        <p:nvPicPr>
          <p:cNvPr id="4" name="图片 3">
            <a:extLst>
              <a:ext uri="{FF2B5EF4-FFF2-40B4-BE49-F238E27FC236}">
                <a16:creationId xmlns:a16="http://schemas.microsoft.com/office/drawing/2014/main" id="{1E17BB27-0AE9-437F-AE0F-16A51F27CC44}"/>
              </a:ext>
            </a:extLst>
          </p:cNvPr>
          <p:cNvPicPr>
            <a:picLocks noChangeAspect="1"/>
          </p:cNvPicPr>
          <p:nvPr/>
        </p:nvPicPr>
        <p:blipFill>
          <a:blip r:embed="rId2"/>
          <a:stretch>
            <a:fillRect/>
          </a:stretch>
        </p:blipFill>
        <p:spPr>
          <a:xfrm>
            <a:off x="2276443" y="988961"/>
            <a:ext cx="7153307" cy="3724064"/>
          </a:xfrm>
          <a:prstGeom prst="rect">
            <a:avLst/>
          </a:prstGeom>
        </p:spPr>
      </p:pic>
      <p:pic>
        <p:nvPicPr>
          <p:cNvPr id="8" name="图片 7">
            <a:extLst>
              <a:ext uri="{FF2B5EF4-FFF2-40B4-BE49-F238E27FC236}">
                <a16:creationId xmlns:a16="http://schemas.microsoft.com/office/drawing/2014/main" id="{22C0FC97-D07A-4699-8552-40E971FF619E}"/>
              </a:ext>
            </a:extLst>
          </p:cNvPr>
          <p:cNvPicPr>
            <a:picLocks noChangeAspect="1"/>
          </p:cNvPicPr>
          <p:nvPr/>
        </p:nvPicPr>
        <p:blipFill>
          <a:blip r:embed="rId3"/>
          <a:stretch>
            <a:fillRect/>
          </a:stretch>
        </p:blipFill>
        <p:spPr>
          <a:xfrm>
            <a:off x="8408178" y="3692307"/>
            <a:ext cx="3460774" cy="1002511"/>
          </a:xfrm>
          <a:prstGeom prst="rect">
            <a:avLst/>
          </a:prstGeom>
        </p:spPr>
      </p:pic>
    </p:spTree>
    <p:extLst>
      <p:ext uri="{BB962C8B-B14F-4D97-AF65-F5344CB8AC3E}">
        <p14:creationId xmlns:p14="http://schemas.microsoft.com/office/powerpoint/2010/main" val="32679532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盈亏平衡贴现率</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6">
            <a:extLst>
              <a:ext uri="{FF2B5EF4-FFF2-40B4-BE49-F238E27FC236}">
                <a16:creationId xmlns:a16="http://schemas.microsoft.com/office/drawing/2014/main" id="{00000000-0008-0000-0100-000007000000}"/>
              </a:ext>
            </a:extLst>
          </p:cNvPr>
          <p:cNvSpPr txBox="1"/>
          <p:nvPr/>
        </p:nvSpPr>
        <p:spPr>
          <a:xfrm>
            <a:off x="1069867" y="2106334"/>
            <a:ext cx="9579769" cy="981075"/>
          </a:xfrm>
          <a:prstGeom prst="rect">
            <a:avLst/>
          </a:prstGeom>
          <a:solidFill>
            <a:schemeClr val="accent5">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-A0+A1/(1+r)^1+...+A5/(1+r)^5=-B0+B1/(1+r)^1+...+B5/(1+r)^5</a:t>
            </a:r>
          </a:p>
          <a:p>
            <a:r>
              <a:rPr lang="en-US" altLang="zh-CN" sz="3200"/>
              <a:t>-(A0-B0)+(A1-B1)/(1+</a:t>
            </a:r>
            <a:r>
              <a:rPr lang="en-US" altLang="zh-CN" sz="3200">
                <a:solidFill>
                  <a:srgbClr val="FF0000"/>
                </a:solidFill>
              </a:rPr>
              <a:t>r</a:t>
            </a:r>
            <a:r>
              <a:rPr lang="en-US" altLang="zh-CN" sz="3200"/>
              <a:t>)^1+...+(A5-B5)/(1+</a:t>
            </a:r>
            <a:r>
              <a:rPr lang="en-US" altLang="zh-CN" sz="3200">
                <a:solidFill>
                  <a:srgbClr val="FF0000"/>
                </a:solidFill>
              </a:rPr>
              <a:t>r</a:t>
            </a:r>
            <a:r>
              <a:rPr lang="en-US" altLang="zh-CN" sz="3200"/>
              <a:t>)^5=0</a:t>
            </a:r>
            <a:endParaRPr lang="zh-CN" altLang="en-US" sz="3200"/>
          </a:p>
        </p:txBody>
      </p:sp>
      <p:sp>
        <p:nvSpPr>
          <p:cNvPr id="4" name="文本框 3">
            <a:extLst>
              <a:ext uri="{FF2B5EF4-FFF2-40B4-BE49-F238E27FC236}">
                <a16:creationId xmlns:a16="http://schemas.microsoft.com/office/drawing/2014/main" id="{C39392BC-AED9-4DE2-90A7-D4CF2BF196A0}"/>
              </a:ext>
            </a:extLst>
          </p:cNvPr>
          <p:cNvSpPr txBox="1"/>
          <p:nvPr/>
        </p:nvSpPr>
        <p:spPr>
          <a:xfrm>
            <a:off x="1443038" y="1485900"/>
            <a:ext cx="8577989" cy="369332"/>
          </a:xfrm>
          <a:prstGeom prst="rect">
            <a:avLst/>
          </a:prstGeom>
          <a:noFill/>
        </p:spPr>
        <p:txBody>
          <a:bodyPr wrap="none" rtlCol="0">
            <a:spAutoFit/>
          </a:bodyPr>
          <a:lstStyle/>
          <a:p>
            <a:r>
              <a:rPr lang="zh-CN" altLang="en-US" dirty="0"/>
              <a:t>如果两个方案的现金流的</a:t>
            </a:r>
            <a:r>
              <a:rPr lang="en-US" altLang="zh-CN" dirty="0"/>
              <a:t>per</a:t>
            </a:r>
            <a:r>
              <a:rPr lang="zh-CN" altLang="en-US" dirty="0"/>
              <a:t>与</a:t>
            </a:r>
            <a:r>
              <a:rPr lang="en-US" altLang="zh-CN" dirty="0" err="1"/>
              <a:t>nper</a:t>
            </a:r>
            <a:r>
              <a:rPr lang="zh-CN" altLang="en-US" dirty="0"/>
              <a:t>完全一致，可以使用</a:t>
            </a:r>
            <a:r>
              <a:rPr lang="en-US" altLang="zh-CN" dirty="0" err="1"/>
              <a:t>irr</a:t>
            </a:r>
            <a:r>
              <a:rPr lang="zh-CN" altLang="en-US" dirty="0"/>
              <a:t>函数计算</a:t>
            </a:r>
            <a:r>
              <a:rPr lang="zh-CN" altLang="en-US" sz="1800" b="1" dirty="0">
                <a:solidFill>
                  <a:schemeClr val="tx2">
                    <a:lumMod val="75000"/>
                  </a:schemeClr>
                </a:solidFill>
                <a:latin typeface="宋体" panose="02010600030101010101" pitchFamily="2" charset="-122"/>
                <a:ea typeface="宋体" panose="02010600030101010101" pitchFamily="2" charset="-122"/>
              </a:rPr>
              <a:t>盈亏平衡贴现率</a:t>
            </a:r>
            <a:endParaRPr lang="zh-CN" altLang="en-US" dirty="0"/>
          </a:p>
        </p:txBody>
      </p:sp>
      <p:pic>
        <p:nvPicPr>
          <p:cNvPr id="7" name="图片 6">
            <a:extLst>
              <a:ext uri="{FF2B5EF4-FFF2-40B4-BE49-F238E27FC236}">
                <a16:creationId xmlns:a16="http://schemas.microsoft.com/office/drawing/2014/main" id="{44809F7D-355E-402D-9003-A230705E4160}"/>
              </a:ext>
            </a:extLst>
          </p:cNvPr>
          <p:cNvPicPr>
            <a:picLocks noChangeAspect="1"/>
          </p:cNvPicPr>
          <p:nvPr/>
        </p:nvPicPr>
        <p:blipFill>
          <a:blip r:embed="rId2"/>
          <a:stretch>
            <a:fillRect/>
          </a:stretch>
        </p:blipFill>
        <p:spPr>
          <a:xfrm>
            <a:off x="1107371" y="3338512"/>
            <a:ext cx="5271040" cy="2874183"/>
          </a:xfrm>
          <a:prstGeom prst="rect">
            <a:avLst/>
          </a:prstGeom>
        </p:spPr>
      </p:pic>
      <p:sp>
        <p:nvSpPr>
          <p:cNvPr id="11" name="文本框 10">
            <a:extLst>
              <a:ext uri="{FF2B5EF4-FFF2-40B4-BE49-F238E27FC236}">
                <a16:creationId xmlns:a16="http://schemas.microsoft.com/office/drawing/2014/main" id="{B397714D-38E6-48EB-96F2-A85B302E3AB2}"/>
              </a:ext>
            </a:extLst>
          </p:cNvPr>
          <p:cNvSpPr txBox="1"/>
          <p:nvPr/>
        </p:nvSpPr>
        <p:spPr>
          <a:xfrm>
            <a:off x="6815138" y="3410249"/>
            <a:ext cx="4129814" cy="1477328"/>
          </a:xfrm>
          <a:prstGeom prst="rect">
            <a:avLst/>
          </a:prstGeom>
          <a:noFill/>
        </p:spPr>
        <p:txBody>
          <a:bodyPr wrap="square" rtlCol="0">
            <a:spAutoFit/>
          </a:bodyPr>
          <a:lstStyle/>
          <a:p>
            <a:r>
              <a:rPr lang="zh-CN" altLang="en-US" sz="1800" dirty="0">
                <a:latin typeface="宋体" pitchFamily="2" charset="-122"/>
                <a:ea typeface="宋体" pitchFamily="2" charset="-122"/>
              </a:rPr>
              <a:t>模拟试卷</a:t>
            </a:r>
            <a:r>
              <a:rPr lang="en-US" altLang="zh-CN" sz="1800" dirty="0">
                <a:latin typeface="宋体" pitchFamily="2" charset="-122"/>
                <a:ea typeface="宋体" pitchFamily="2" charset="-122"/>
              </a:rPr>
              <a:t>3-5</a:t>
            </a:r>
            <a:r>
              <a:rPr lang="zh-CN" altLang="en-US" sz="1800" dirty="0">
                <a:latin typeface="宋体" pitchFamily="2" charset="-122"/>
                <a:ea typeface="宋体" pitchFamily="2" charset="-122"/>
              </a:rPr>
              <a:t>中，因为方案二的现金流的时间与期数与另外两个方案都不一致，所以只能使用查表加内插值的方法计算，但是方案一与方案三可以直接使用公式</a:t>
            </a:r>
            <a:r>
              <a:rPr lang="en-US" altLang="zh-CN" sz="1800" dirty="0" err="1">
                <a:latin typeface="宋体" pitchFamily="2" charset="-122"/>
                <a:ea typeface="宋体" pitchFamily="2" charset="-122"/>
              </a:rPr>
              <a:t>irr</a:t>
            </a:r>
            <a:r>
              <a:rPr lang="zh-CN" altLang="en-US" sz="1800" dirty="0">
                <a:latin typeface="宋体" pitchFamily="2" charset="-122"/>
                <a:ea typeface="宋体" pitchFamily="2" charset="-122"/>
              </a:rPr>
              <a:t>计算</a:t>
            </a:r>
            <a:endParaRPr lang="zh-CN" altLang="en-US" dirty="0"/>
          </a:p>
        </p:txBody>
      </p:sp>
    </p:spTree>
    <p:extLst>
      <p:ext uri="{BB962C8B-B14F-4D97-AF65-F5344CB8AC3E}">
        <p14:creationId xmlns:p14="http://schemas.microsoft.com/office/powerpoint/2010/main" val="23852510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4800" y="914093"/>
            <a:ext cx="12192000" cy="923330"/>
          </a:xfrm>
          <a:prstGeom prst="rect">
            <a:avLst/>
          </a:prstGeom>
          <a:noFill/>
        </p:spPr>
        <p:txBody>
          <a:bodyPr wrap="square" rtlCol="0">
            <a:spAutoFit/>
          </a:bodyPr>
          <a:lstStyle/>
          <a:p>
            <a:pPr algn="ctr"/>
            <a:r>
              <a:rPr lang="zh-CN" altLang="en-US" sz="5400" b="1" dirty="0">
                <a:solidFill>
                  <a:schemeClr val="tx2">
                    <a:lumMod val="75000"/>
                  </a:schemeClr>
                </a:solidFill>
                <a:latin typeface="宋体" pitchFamily="2" charset="-122"/>
                <a:ea typeface="宋体" pitchFamily="2" charset="-122"/>
              </a:rPr>
              <a:t> </a:t>
            </a:r>
            <a:r>
              <a:rPr lang="zh-CN" altLang="zh-CN" sz="5400" b="1" dirty="0">
                <a:solidFill>
                  <a:schemeClr val="tx2">
                    <a:lumMod val="75000"/>
                  </a:schemeClr>
                </a:solidFill>
                <a:latin typeface="宋体" pitchFamily="2" charset="-122"/>
                <a:ea typeface="宋体" pitchFamily="2" charset="-122"/>
              </a:rPr>
              <a:t>基于</a:t>
            </a:r>
            <a:r>
              <a:rPr lang="zh-CN" altLang="en-US" sz="5400" b="1" dirty="0">
                <a:solidFill>
                  <a:schemeClr val="tx2">
                    <a:lumMod val="75000"/>
                  </a:schemeClr>
                </a:solidFill>
                <a:latin typeface="宋体" pitchFamily="2" charset="-122"/>
                <a:ea typeface="宋体" pitchFamily="2" charset="-122"/>
              </a:rPr>
              <a:t>净现值</a:t>
            </a:r>
            <a:r>
              <a:rPr lang="zh-CN" altLang="zh-CN" sz="5400" b="1" dirty="0">
                <a:solidFill>
                  <a:schemeClr val="tx2">
                    <a:lumMod val="75000"/>
                  </a:schemeClr>
                </a:solidFill>
                <a:latin typeface="宋体" pitchFamily="2" charset="-122"/>
                <a:ea typeface="宋体" pitchFamily="2" charset="-122"/>
              </a:rPr>
              <a:t>的投资决策分析</a:t>
            </a:r>
            <a:endParaRPr lang="zh-CN" altLang="en-US" sz="5400" b="1" dirty="0">
              <a:solidFill>
                <a:schemeClr val="tx2">
                  <a:lumMod val="75000"/>
                </a:schemeClr>
              </a:solidFill>
              <a:latin typeface="宋体" pitchFamily="2" charset="-122"/>
              <a:ea typeface="宋体" pitchFamily="2" charset="-122"/>
            </a:endParaRPr>
          </a:p>
        </p:txBody>
      </p:sp>
      <p:sp>
        <p:nvSpPr>
          <p:cNvPr id="5" name="文本框 4">
            <a:extLst>
              <a:ext uri="{FF2B5EF4-FFF2-40B4-BE49-F238E27FC236}">
                <a16:creationId xmlns:a16="http://schemas.microsoft.com/office/drawing/2014/main" id="{3D486FB2-A28A-4476-9595-97213DD1AA66}"/>
              </a:ext>
            </a:extLst>
          </p:cNvPr>
          <p:cNvSpPr txBox="1"/>
          <p:nvPr/>
        </p:nvSpPr>
        <p:spPr>
          <a:xfrm>
            <a:off x="1279883" y="2551837"/>
            <a:ext cx="10018069" cy="1754326"/>
          </a:xfrm>
          <a:prstGeom prst="rect">
            <a:avLst/>
          </a:prstGeom>
          <a:noFill/>
        </p:spPr>
        <p:txBody>
          <a:bodyPr wrap="square" rtlCol="0">
            <a:spAutoFit/>
          </a:bodyPr>
          <a:lstStyle/>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基于净现值的投资决策模型（</a:t>
            </a:r>
            <a:r>
              <a:rPr lang="en-US" altLang="zh-CN" sz="3600" b="1" dirty="0" err="1">
                <a:solidFill>
                  <a:schemeClr val="tx2">
                    <a:lumMod val="75000"/>
                  </a:schemeClr>
                </a:solidFill>
                <a:latin typeface="宋体" panose="02010600030101010101" pitchFamily="2" charset="-122"/>
                <a:ea typeface="宋体" panose="02010600030101010101" pitchFamily="2" charset="-122"/>
              </a:rPr>
              <a:t>npv</a:t>
            </a:r>
            <a:r>
              <a:rPr lang="zh-CN" altLang="en-US" sz="3600" b="1" dirty="0">
                <a:solidFill>
                  <a:schemeClr val="tx2">
                    <a:lumMod val="75000"/>
                  </a:schemeClr>
                </a:solidFill>
                <a:latin typeface="宋体" panose="02010600030101010101" pitchFamily="2" charset="-122"/>
                <a:ea typeface="宋体" panose="02010600030101010101" pitchFamily="2" charset="-122"/>
              </a:rPr>
              <a:t>）</a:t>
            </a:r>
            <a:endParaRPr lang="en-US" altLang="zh-CN" sz="3600" b="1" dirty="0">
              <a:solidFill>
                <a:schemeClr val="tx2">
                  <a:lumMod val="75000"/>
                </a:schemeClr>
              </a:solidFill>
              <a:latin typeface="宋体" panose="02010600030101010101" pitchFamily="2" charset="-122"/>
              <a:ea typeface="宋体" panose="02010600030101010101" pitchFamily="2" charset="-122"/>
            </a:endParaRPr>
          </a:p>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基于回报率值的投资决策模型（</a:t>
            </a:r>
            <a:r>
              <a:rPr lang="en-US" altLang="zh-CN" sz="3600" b="1" dirty="0" err="1">
                <a:solidFill>
                  <a:schemeClr val="tx2">
                    <a:lumMod val="75000"/>
                  </a:schemeClr>
                </a:solidFill>
                <a:latin typeface="宋体" panose="02010600030101010101" pitchFamily="2" charset="-122"/>
                <a:ea typeface="宋体" panose="02010600030101010101" pitchFamily="2" charset="-122"/>
              </a:rPr>
              <a:t>irr</a:t>
            </a:r>
            <a:r>
              <a:rPr lang="zh-CN" altLang="en-US" sz="3600" b="1" dirty="0">
                <a:solidFill>
                  <a:schemeClr val="tx2">
                    <a:lumMod val="75000"/>
                  </a:schemeClr>
                </a:solidFill>
                <a:latin typeface="宋体" panose="02010600030101010101" pitchFamily="2" charset="-122"/>
                <a:ea typeface="宋体" panose="02010600030101010101" pitchFamily="2" charset="-122"/>
              </a:rPr>
              <a:t>）</a:t>
            </a:r>
            <a:endParaRPr lang="en-US" altLang="zh-CN" sz="3600" b="1" dirty="0">
              <a:solidFill>
                <a:schemeClr val="tx2">
                  <a:lumMod val="75000"/>
                </a:schemeClr>
              </a:solidFill>
              <a:latin typeface="宋体" panose="02010600030101010101" pitchFamily="2" charset="-122"/>
              <a:ea typeface="宋体" panose="02010600030101010101" pitchFamily="2" charset="-122"/>
            </a:endParaRPr>
          </a:p>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基于回收期的投资决策模型</a:t>
            </a:r>
            <a:r>
              <a:rPr lang="en-US" altLang="zh-CN" sz="3600" b="1" dirty="0">
                <a:solidFill>
                  <a:schemeClr val="tx2">
                    <a:lumMod val="75000"/>
                  </a:schemeClr>
                </a:solidFill>
                <a:latin typeface="宋体" panose="02010600030101010101" pitchFamily="2" charset="-122"/>
                <a:ea typeface="宋体" panose="02010600030101010101" pitchFamily="2" charset="-122"/>
              </a:rPr>
              <a:t>(</a:t>
            </a:r>
            <a:r>
              <a:rPr lang="en-US" altLang="zh-CN" sz="3600" b="1" dirty="0" err="1">
                <a:solidFill>
                  <a:schemeClr val="tx2">
                    <a:lumMod val="75000"/>
                  </a:schemeClr>
                </a:solidFill>
                <a:latin typeface="宋体" panose="02010600030101010101" pitchFamily="2" charset="-122"/>
                <a:ea typeface="宋体" panose="02010600030101010101" pitchFamily="2" charset="-122"/>
              </a:rPr>
              <a:t>nper</a:t>
            </a:r>
            <a:r>
              <a:rPr lang="en-US" altLang="zh-CN" sz="3600" b="1" dirty="0">
                <a:solidFill>
                  <a:schemeClr val="tx2">
                    <a:lumMod val="75000"/>
                  </a:schemeClr>
                </a:solidFill>
                <a:latin typeface="宋体" panose="02010600030101010101" pitchFamily="2" charset="-122"/>
                <a:ea typeface="宋体" panose="02010600030101010101" pitchFamily="2" charset="-122"/>
              </a:rPr>
              <a:t>)</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285132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783" y="690351"/>
            <a:ext cx="10018069" cy="646331"/>
          </a:xfrm>
          <a:prstGeom prst="rect">
            <a:avLst/>
          </a:prstGeom>
          <a:noFill/>
        </p:spPr>
        <p:txBody>
          <a:bodyPr wrap="square" rtlCol="0">
            <a:spAutoFit/>
          </a:bodyPr>
          <a:lstStyle/>
          <a:p>
            <a:pPr algn="ctr"/>
            <a:r>
              <a:rPr lang="zh-CN" altLang="en-US" sz="3600" b="1" dirty="0">
                <a:solidFill>
                  <a:schemeClr val="tx2">
                    <a:lumMod val="75000"/>
                  </a:schemeClr>
                </a:solidFill>
                <a:latin typeface="宋体" panose="02010600030101010101" pitchFamily="2" charset="-122"/>
                <a:ea typeface="宋体" panose="02010600030101010101" pitchFamily="2" charset="-122"/>
              </a:rPr>
              <a:t>基于净现值的投资决策模型的一般建模步骤</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646141" y="1423370"/>
            <a:ext cx="10789920" cy="5072864"/>
          </a:xfrm>
          <a:prstGeom prst="rect">
            <a:avLst/>
          </a:prstGeom>
          <a:noFill/>
        </p:spPr>
        <p:txBody>
          <a:bodyPr wrap="square" rtlCol="0">
            <a:spAutoFit/>
          </a:bodyPr>
          <a:lstStyle/>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第一步，</a:t>
            </a:r>
            <a:r>
              <a:rPr lang="zh-CN" altLang="en-US" sz="1900" dirty="0">
                <a:solidFill>
                  <a:schemeClr val="tx2">
                    <a:lumMod val="75000"/>
                  </a:schemeClr>
                </a:solidFill>
                <a:latin typeface="宋体" panose="02010600030101010101" pitchFamily="2" charset="-122"/>
                <a:ea typeface="宋体" panose="02010600030101010101" pitchFamily="2" charset="-122"/>
              </a:rPr>
              <a:t>整理问题涉及的已知数据，列出各期的净现金流。在整理现金流时要注意现金流的方向，一般假定现金收入是正的，现金支出是负的；</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第二步，</a:t>
            </a:r>
            <a:r>
              <a:rPr lang="zh-CN" altLang="en-US" sz="1900" dirty="0">
                <a:solidFill>
                  <a:schemeClr val="tx2">
                    <a:lumMod val="75000"/>
                  </a:schemeClr>
                </a:solidFill>
                <a:latin typeface="宋体" panose="02010600030101010101" pitchFamily="2" charset="-122"/>
                <a:ea typeface="宋体" panose="02010600030101010101" pitchFamily="2" charset="-122"/>
              </a:rPr>
              <a:t>建立投资评价模型框架，使决策者能清楚地看出哪些是已知参数，哪些是可变的决策变量，哪些是反映结果的目标变量；</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第三步，</a:t>
            </a:r>
            <a:r>
              <a:rPr lang="zh-CN" altLang="en-US" sz="1900" dirty="0">
                <a:solidFill>
                  <a:schemeClr val="tx2">
                    <a:lumMod val="75000"/>
                  </a:schemeClr>
                </a:solidFill>
                <a:latin typeface="宋体" panose="02010600030101010101" pitchFamily="2" charset="-122"/>
                <a:ea typeface="宋体" panose="02010600030101010101" pitchFamily="2" charset="-122"/>
              </a:rPr>
              <a:t>利用</a:t>
            </a:r>
            <a:r>
              <a:rPr lang="en-US" altLang="zh-CN" sz="1900" dirty="0">
                <a:solidFill>
                  <a:schemeClr val="tx2">
                    <a:lumMod val="75000"/>
                  </a:schemeClr>
                </a:solidFill>
                <a:latin typeface="宋体" panose="02010600030101010101" pitchFamily="2" charset="-122"/>
                <a:ea typeface="宋体" panose="02010600030101010101" pitchFamily="2" charset="-122"/>
              </a:rPr>
              <a:t>Excel</a:t>
            </a:r>
            <a:r>
              <a:rPr lang="zh-CN" altLang="en-US" sz="1900" dirty="0">
                <a:solidFill>
                  <a:schemeClr val="tx2">
                    <a:lumMod val="75000"/>
                  </a:schemeClr>
                </a:solidFill>
                <a:latin typeface="宋体" panose="02010600030101010101" pitchFamily="2" charset="-122"/>
                <a:ea typeface="宋体" panose="02010600030101010101" pitchFamily="2" charset="-122"/>
              </a:rPr>
              <a:t>内建函数或数学表达式，求出所有投资项目净现值；</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第四步，</a:t>
            </a:r>
            <a:r>
              <a:rPr lang="zh-CN" altLang="en-US" sz="1900" dirty="0">
                <a:solidFill>
                  <a:schemeClr val="tx2">
                    <a:lumMod val="75000"/>
                  </a:schemeClr>
                </a:solidFill>
                <a:latin typeface="宋体" panose="02010600030101010101" pitchFamily="2" charset="-122"/>
                <a:ea typeface="宋体" panose="02010600030101010101" pitchFamily="2" charset="-122"/>
              </a:rPr>
              <a:t>求出投资项目中最大的净现值，根据最大的净现值利用</a:t>
            </a:r>
            <a:r>
              <a:rPr lang="en-US" altLang="zh-CN" sz="1900" dirty="0">
                <a:solidFill>
                  <a:schemeClr val="tx2">
                    <a:lumMod val="75000"/>
                  </a:schemeClr>
                </a:solidFill>
                <a:latin typeface="宋体" panose="02010600030101010101" pitchFamily="2" charset="-122"/>
                <a:ea typeface="宋体" panose="02010600030101010101" pitchFamily="2" charset="-122"/>
              </a:rPr>
              <a:t>INDEX</a:t>
            </a:r>
            <a:r>
              <a:rPr lang="zh-CN" altLang="en-US" sz="1900" dirty="0">
                <a:solidFill>
                  <a:schemeClr val="tx2">
                    <a:lumMod val="75000"/>
                  </a:schemeClr>
                </a:solidFill>
                <a:latin typeface="宋体" panose="02010600030101010101" pitchFamily="2" charset="-122"/>
                <a:ea typeface="宋体" panose="02010600030101010101" pitchFamily="2" charset="-122"/>
              </a:rPr>
              <a:t>和</a:t>
            </a:r>
            <a:r>
              <a:rPr lang="en-US" altLang="zh-CN" sz="1900" dirty="0">
                <a:solidFill>
                  <a:schemeClr val="tx2">
                    <a:lumMod val="75000"/>
                  </a:schemeClr>
                </a:solidFill>
                <a:latin typeface="宋体" panose="02010600030101010101" pitchFamily="2" charset="-122"/>
                <a:ea typeface="宋体" panose="02010600030101010101" pitchFamily="2" charset="-122"/>
              </a:rPr>
              <a:t>MATCH</a:t>
            </a:r>
            <a:r>
              <a:rPr lang="zh-CN" altLang="en-US" sz="1900" dirty="0">
                <a:solidFill>
                  <a:schemeClr val="tx2">
                    <a:lumMod val="75000"/>
                  </a:schemeClr>
                </a:solidFill>
                <a:latin typeface="宋体" panose="02010600030101010101" pitchFamily="2" charset="-122"/>
                <a:ea typeface="宋体" panose="02010600030101010101" pitchFamily="2" charset="-122"/>
              </a:rPr>
              <a:t>函数找出最优投资项目名称；</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第五步，</a:t>
            </a:r>
            <a:r>
              <a:rPr lang="zh-CN" altLang="en-US" sz="1900" dirty="0">
                <a:solidFill>
                  <a:schemeClr val="tx2">
                    <a:lumMod val="75000"/>
                  </a:schemeClr>
                </a:solidFill>
                <a:latin typeface="宋体" panose="02010600030101010101" pitchFamily="2" charset="-122"/>
                <a:ea typeface="宋体" panose="02010600030101010101" pitchFamily="2" charset="-122"/>
              </a:rPr>
              <a:t>分别求出每个项目的内部报酬率，通过内部报酬率来分析项目的投资价值；</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第六步，</a:t>
            </a:r>
            <a:r>
              <a:rPr lang="zh-CN" altLang="en-US" sz="1900" dirty="0">
                <a:solidFill>
                  <a:schemeClr val="tx2">
                    <a:lumMod val="75000"/>
                  </a:schemeClr>
                </a:solidFill>
                <a:latin typeface="宋体" panose="02010600030101010101" pitchFamily="2" charset="-122"/>
                <a:ea typeface="宋体" panose="02010600030101010101" pitchFamily="2" charset="-122"/>
              </a:rPr>
              <a:t>建立不同投资项目的净现值随贴现率变化的模拟运算表，并画出各个投资项目净现值随贴现率变化的图形，可直观地观察贴现率的变化对项目净现值的影响；</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第七步，</a:t>
            </a:r>
            <a:r>
              <a:rPr lang="zh-CN" altLang="en-US" sz="1900" dirty="0">
                <a:solidFill>
                  <a:schemeClr val="tx2">
                    <a:lumMod val="75000"/>
                  </a:schemeClr>
                </a:solidFill>
                <a:latin typeface="宋体" panose="02010600030101010101" pitchFamily="2" charset="-122"/>
                <a:ea typeface="宋体" panose="02010600030101010101" pitchFamily="2" charset="-122"/>
              </a:rPr>
              <a:t>建立贴现率或其它参数的可调控件，根据动态可调图形的变化观察贴现率或其它参数的变化对决策的影响；</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第八步，</a:t>
            </a:r>
            <a:r>
              <a:rPr lang="zh-CN" altLang="en-US" sz="1900" dirty="0">
                <a:solidFill>
                  <a:schemeClr val="tx2">
                    <a:lumMod val="75000"/>
                  </a:schemeClr>
                </a:solidFill>
                <a:latin typeface="宋体" panose="02010600030101010101" pitchFamily="2" charset="-122"/>
                <a:ea typeface="宋体" panose="02010600030101010101" pitchFamily="2" charset="-122"/>
              </a:rPr>
              <a:t>利用</a:t>
            </a:r>
            <a:r>
              <a:rPr lang="en-US" altLang="zh-CN" sz="1900" dirty="0">
                <a:solidFill>
                  <a:schemeClr val="tx2">
                    <a:lumMod val="75000"/>
                  </a:schemeClr>
                </a:solidFill>
                <a:latin typeface="宋体" panose="02010600030101010101" pitchFamily="2" charset="-122"/>
                <a:ea typeface="宋体" panose="02010600030101010101" pitchFamily="2" charset="-122"/>
              </a:rPr>
              <a:t>IRR</a:t>
            </a:r>
            <a:r>
              <a:rPr lang="zh-CN" altLang="en-US" sz="1900" dirty="0">
                <a:solidFill>
                  <a:schemeClr val="tx2">
                    <a:lumMod val="75000"/>
                  </a:schemeClr>
                </a:solidFill>
                <a:latin typeface="宋体" panose="02010600030101010101" pitchFamily="2" charset="-122"/>
                <a:ea typeface="宋体" panose="02010600030101010101" pitchFamily="2" charset="-122"/>
              </a:rPr>
              <a:t>函数或查表加内插值等方法求出两个项目净现值相等的交点，画出交点垂直参考线，作为决策选择的依据。</a:t>
            </a:r>
          </a:p>
        </p:txBody>
      </p:sp>
    </p:spTree>
    <p:extLst>
      <p:ext uri="{BB962C8B-B14F-4D97-AF65-F5344CB8AC3E}">
        <p14:creationId xmlns:p14="http://schemas.microsoft.com/office/powerpoint/2010/main" val="28745764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7" y="221164"/>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应用举例</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034653" y="929050"/>
            <a:ext cx="10287579" cy="1938992"/>
          </a:xfrm>
          <a:prstGeom prst="rect">
            <a:avLst/>
          </a:prstGeom>
          <a:noFill/>
        </p:spPr>
        <p:txBody>
          <a:bodyPr wrap="square" rtlCol="0">
            <a:spAutoFit/>
          </a:bodyPr>
          <a:lstStyle/>
          <a:p>
            <a:pPr algn="just"/>
            <a:r>
              <a:rPr lang="zh-CN" altLang="zh-CN" sz="2000" dirty="0">
                <a:solidFill>
                  <a:schemeClr val="tx2">
                    <a:lumMod val="75000"/>
                  </a:schemeClr>
                </a:solidFill>
                <a:latin typeface="宋体" panose="02010600030101010101" pitchFamily="2" charset="-122"/>
                <a:ea typeface="宋体" panose="02010600030101010101" pitchFamily="2" charset="-122"/>
              </a:rPr>
              <a:t>【例</a:t>
            </a:r>
            <a:r>
              <a:rPr lang="en-US" altLang="zh-CN" sz="2000" dirty="0">
                <a:solidFill>
                  <a:schemeClr val="tx2">
                    <a:lumMod val="75000"/>
                  </a:schemeClr>
                </a:solidFill>
                <a:latin typeface="宋体" panose="02010600030101010101" pitchFamily="2" charset="-122"/>
                <a:ea typeface="宋体" panose="02010600030101010101" pitchFamily="2" charset="-122"/>
              </a:rPr>
              <a:t>9-5</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zh-CN" altLang="en-US" sz="2000" dirty="0">
                <a:solidFill>
                  <a:schemeClr val="tx2">
                    <a:lumMod val="75000"/>
                  </a:schemeClr>
                </a:solidFill>
                <a:latin typeface="宋体" panose="02010600030101010101" pitchFamily="2" charset="-122"/>
                <a:ea typeface="宋体" panose="02010600030101010101" pitchFamily="2" charset="-122"/>
              </a:rPr>
              <a:t>某投资者现有</a:t>
            </a:r>
            <a:r>
              <a:rPr lang="en-US" altLang="zh-CN" sz="2000" dirty="0">
                <a:solidFill>
                  <a:schemeClr val="tx2">
                    <a:lumMod val="75000"/>
                  </a:schemeClr>
                </a:solidFill>
                <a:latin typeface="宋体" panose="02010600030101010101" pitchFamily="2" charset="-122"/>
                <a:ea typeface="宋体" panose="02010600030101010101" pitchFamily="2" charset="-122"/>
              </a:rPr>
              <a:t>10</a:t>
            </a:r>
            <a:r>
              <a:rPr lang="zh-CN" altLang="en-US" sz="2000" dirty="0">
                <a:solidFill>
                  <a:schemeClr val="tx2">
                    <a:lumMod val="75000"/>
                  </a:schemeClr>
                </a:solidFill>
                <a:latin typeface="宋体" panose="02010600030101010101" pitchFamily="2" charset="-122"/>
                <a:ea typeface="宋体" panose="02010600030101010101" pitchFamily="2" charset="-122"/>
              </a:rPr>
              <a:t>万元准备进行债券投资，有三种债券可供选择。债券</a:t>
            </a:r>
            <a:r>
              <a:rPr lang="en-US" altLang="zh-CN" sz="2000" dirty="0">
                <a:solidFill>
                  <a:schemeClr val="tx2">
                    <a:lumMod val="75000"/>
                  </a:schemeClr>
                </a:solidFill>
                <a:latin typeface="宋体" panose="02010600030101010101" pitchFamily="2" charset="-122"/>
                <a:ea typeface="宋体" panose="02010600030101010101" pitchFamily="2" charset="-122"/>
              </a:rPr>
              <a:t>A</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元，售出价格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年，按固定利率计息，年利率为</a:t>
            </a:r>
            <a:r>
              <a:rPr lang="en-US" altLang="zh-CN" sz="2000" dirty="0">
                <a:solidFill>
                  <a:schemeClr val="tx2">
                    <a:lumMod val="75000"/>
                  </a:schemeClr>
                </a:solidFill>
                <a:latin typeface="宋体" panose="02010600030101010101" pitchFamily="2" charset="-122"/>
                <a:ea typeface="宋体" panose="02010600030101010101" pitchFamily="2" charset="-122"/>
              </a:rPr>
              <a:t>4.15%</a:t>
            </a:r>
            <a:r>
              <a:rPr lang="zh-CN" altLang="en-US" sz="2000" dirty="0">
                <a:solidFill>
                  <a:schemeClr val="tx2">
                    <a:lumMod val="75000"/>
                  </a:schemeClr>
                </a:solidFill>
                <a:latin typeface="宋体" panose="02010600030101010101" pitchFamily="2" charset="-122"/>
                <a:ea typeface="宋体" panose="02010600030101010101" pitchFamily="2" charset="-122"/>
              </a:rPr>
              <a:t>每年付息一次，最后按面值还本；债券</a:t>
            </a:r>
            <a:r>
              <a:rPr lang="en-US" altLang="zh-CN" sz="2000" dirty="0">
                <a:solidFill>
                  <a:schemeClr val="tx2">
                    <a:lumMod val="75000"/>
                  </a:schemeClr>
                </a:solidFill>
                <a:latin typeface="宋体" panose="02010600030101010101" pitchFamily="2" charset="-122"/>
                <a:ea typeface="宋体" panose="02010600030101010101" pitchFamily="2" charset="-122"/>
              </a:rPr>
              <a:t>B</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元，低于面值出售，售出价格</a:t>
            </a:r>
            <a:r>
              <a:rPr lang="en-US" altLang="zh-CN" sz="2000" dirty="0">
                <a:solidFill>
                  <a:schemeClr val="tx2">
                    <a:lumMod val="75000"/>
                  </a:schemeClr>
                </a:solidFill>
                <a:latin typeface="宋体" panose="02010600030101010101" pitchFamily="2" charset="-122"/>
                <a:ea typeface="宋体" panose="02010600030101010101" pitchFamily="2" charset="-122"/>
              </a:rPr>
              <a:t>82</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年不付息，最后按面值还本；债券</a:t>
            </a:r>
            <a:r>
              <a:rPr lang="en-US" altLang="zh-CN" sz="2000" dirty="0">
                <a:solidFill>
                  <a:schemeClr val="tx2">
                    <a:lumMod val="75000"/>
                  </a:schemeClr>
                </a:solidFill>
                <a:latin typeface="宋体" panose="02010600030101010101" pitchFamily="2" charset="-122"/>
                <a:ea typeface="宋体" panose="02010600030101010101" pitchFamily="2" charset="-122"/>
              </a:rPr>
              <a:t>C</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元，售出价格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年，按变动利率每年付息，各年的利率分别是：</a:t>
            </a:r>
            <a:r>
              <a:rPr lang="en-US" altLang="zh-CN" sz="2000" dirty="0">
                <a:solidFill>
                  <a:schemeClr val="tx2">
                    <a:lumMod val="75000"/>
                  </a:schemeClr>
                </a:solidFill>
                <a:latin typeface="宋体" panose="02010600030101010101" pitchFamily="2" charset="-122"/>
                <a:ea typeface="宋体" panose="02010600030101010101" pitchFamily="2" charset="-122"/>
              </a:rPr>
              <a:t>8%</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6%</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4%</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2%</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0%</a:t>
            </a:r>
            <a:r>
              <a:rPr lang="zh-CN" altLang="en-US" sz="2000" dirty="0">
                <a:solidFill>
                  <a:schemeClr val="tx2">
                    <a:lumMod val="75000"/>
                  </a:schemeClr>
                </a:solidFill>
                <a:latin typeface="宋体" panose="02010600030101010101" pitchFamily="2" charset="-122"/>
                <a:ea typeface="宋体" panose="02010600030101010101" pitchFamily="2" charset="-122"/>
              </a:rPr>
              <a:t>，最后按面值还本。建立一个投资决策分析模型，分析贴现率在</a:t>
            </a:r>
            <a:r>
              <a:rPr lang="en-US" altLang="zh-CN" sz="2000" dirty="0">
                <a:solidFill>
                  <a:schemeClr val="tx2">
                    <a:lumMod val="75000"/>
                  </a:schemeClr>
                </a:solidFill>
                <a:latin typeface="宋体" panose="02010600030101010101" pitchFamily="2" charset="-122"/>
                <a:ea typeface="宋体" panose="02010600030101010101" pitchFamily="2" charset="-122"/>
              </a:rPr>
              <a:t>1%-5</a:t>
            </a:r>
            <a:r>
              <a:rPr lang="zh-CN" altLang="en-US" sz="2000" dirty="0">
                <a:solidFill>
                  <a:schemeClr val="tx2">
                    <a:lumMod val="75000"/>
                  </a:schemeClr>
                </a:solidFill>
                <a:latin typeface="宋体" panose="02010600030101010101" pitchFamily="2" charset="-122"/>
                <a:ea typeface="宋体" panose="02010600030101010101" pitchFamily="2" charset="-122"/>
              </a:rPr>
              <a:t>％范围内，三种债券中最优的投资品种，帮助投资者进行决策选择。</a:t>
            </a: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C0766298-A72C-4EB0-A174-AF531E7F7BAE}"/>
              </a:ext>
            </a:extLst>
          </p:cNvPr>
          <p:cNvPicPr>
            <a:picLocks noChangeAspect="1"/>
          </p:cNvPicPr>
          <p:nvPr/>
        </p:nvPicPr>
        <p:blipFill>
          <a:blip r:embed="rId2"/>
          <a:stretch>
            <a:fillRect/>
          </a:stretch>
        </p:blipFill>
        <p:spPr>
          <a:xfrm>
            <a:off x="1234678" y="3033712"/>
            <a:ext cx="9380732" cy="3400426"/>
          </a:xfrm>
          <a:prstGeom prst="rect">
            <a:avLst/>
          </a:prstGeom>
        </p:spPr>
      </p:pic>
    </p:spTree>
    <p:extLst>
      <p:ext uri="{BB962C8B-B14F-4D97-AF65-F5344CB8AC3E}">
        <p14:creationId xmlns:p14="http://schemas.microsoft.com/office/powerpoint/2010/main" val="30936068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266509"/>
            <a:ext cx="7380968" cy="646331"/>
          </a:xfrm>
          <a:prstGeom prst="rect">
            <a:avLst/>
          </a:prstGeom>
          <a:noFill/>
        </p:spPr>
        <p:txBody>
          <a:bodyPr wrap="square" rtlCol="0">
            <a:spAutoFit/>
          </a:bodyPr>
          <a:lstStyle/>
          <a:p>
            <a:pPr algn="ctr"/>
            <a:r>
              <a:rPr lang="zh-CN" altLang="zh-CN" sz="3600" b="1" dirty="0">
                <a:solidFill>
                  <a:schemeClr val="tx2">
                    <a:lumMod val="75000"/>
                  </a:schemeClr>
                </a:solidFill>
                <a:latin typeface="宋体" panose="02010600030101010101" pitchFamily="2" charset="-122"/>
                <a:ea typeface="宋体" panose="02010600030101010101" pitchFamily="2" charset="-122"/>
              </a:rPr>
              <a:t>蒙特卡洛风险分析模拟模型</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pic>
        <p:nvPicPr>
          <p:cNvPr id="8" name="图片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585" y="1045029"/>
            <a:ext cx="6797701" cy="545036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115799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3-8</a:t>
            </a:r>
            <a:r>
              <a:rPr lang="zh-CN" altLang="en-US" sz="3600" dirty="0">
                <a:latin typeface="宋体" pitchFamily="2" charset="-122"/>
                <a:ea typeface="宋体" pitchFamily="2" charset="-122"/>
              </a:rPr>
              <a:t>：蒙特卡洛模拟</a:t>
            </a:r>
          </a:p>
        </p:txBody>
      </p:sp>
      <p:pic>
        <p:nvPicPr>
          <p:cNvPr id="5" name="图片 4">
            <a:extLst>
              <a:ext uri="{FF2B5EF4-FFF2-40B4-BE49-F238E27FC236}">
                <a16:creationId xmlns:a16="http://schemas.microsoft.com/office/drawing/2014/main" id="{AC7491F4-315B-4867-A7E6-9EDE0144414D}"/>
              </a:ext>
            </a:extLst>
          </p:cNvPr>
          <p:cNvPicPr>
            <a:picLocks noChangeAspect="1"/>
          </p:cNvPicPr>
          <p:nvPr/>
        </p:nvPicPr>
        <p:blipFill>
          <a:blip r:embed="rId2"/>
          <a:stretch>
            <a:fillRect/>
          </a:stretch>
        </p:blipFill>
        <p:spPr>
          <a:xfrm>
            <a:off x="0" y="955781"/>
            <a:ext cx="12192000" cy="4527337"/>
          </a:xfrm>
          <a:prstGeom prst="rect">
            <a:avLst/>
          </a:prstGeom>
        </p:spPr>
      </p:pic>
    </p:spTree>
    <p:extLst>
      <p:ext uri="{BB962C8B-B14F-4D97-AF65-F5344CB8AC3E}">
        <p14:creationId xmlns:p14="http://schemas.microsoft.com/office/powerpoint/2010/main" val="18657460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1200329"/>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Frequency</a:t>
            </a:r>
            <a:r>
              <a:rPr lang="zh-CN" altLang="en-US" sz="3600" dirty="0">
                <a:latin typeface="宋体" pitchFamily="2" charset="-122"/>
                <a:ea typeface="宋体" pitchFamily="2" charset="-122"/>
              </a:rPr>
              <a:t>函数</a:t>
            </a:r>
            <a:endParaRPr lang="en-US" altLang="zh-CN" sz="3600" dirty="0">
              <a:latin typeface="宋体" pitchFamily="2" charset="-122"/>
              <a:ea typeface="宋体" pitchFamily="2" charset="-122"/>
            </a:endParaRPr>
          </a:p>
          <a:p>
            <a:pPr algn="l"/>
            <a:endParaRPr lang="zh-CN" altLang="en-US" sz="3600" dirty="0">
              <a:latin typeface="宋体" pitchFamily="2" charset="-122"/>
              <a:ea typeface="宋体" pitchFamily="2" charset="-122"/>
            </a:endParaRPr>
          </a:p>
        </p:txBody>
      </p:sp>
      <p:pic>
        <p:nvPicPr>
          <p:cNvPr id="3" name="图片 2">
            <a:extLst>
              <a:ext uri="{FF2B5EF4-FFF2-40B4-BE49-F238E27FC236}">
                <a16:creationId xmlns:a16="http://schemas.microsoft.com/office/drawing/2014/main" id="{545F7241-3C4F-43B6-8203-76FCFE58F39D}"/>
              </a:ext>
            </a:extLst>
          </p:cNvPr>
          <p:cNvPicPr>
            <a:picLocks noChangeAspect="1"/>
          </p:cNvPicPr>
          <p:nvPr/>
        </p:nvPicPr>
        <p:blipFill>
          <a:blip r:embed="rId2"/>
          <a:stretch>
            <a:fillRect/>
          </a:stretch>
        </p:blipFill>
        <p:spPr>
          <a:xfrm>
            <a:off x="2149366" y="1062037"/>
            <a:ext cx="7893268" cy="3576637"/>
          </a:xfrm>
          <a:prstGeom prst="rect">
            <a:avLst/>
          </a:prstGeom>
        </p:spPr>
      </p:pic>
      <p:sp>
        <p:nvSpPr>
          <p:cNvPr id="6" name="文本框 5">
            <a:extLst>
              <a:ext uri="{FF2B5EF4-FFF2-40B4-BE49-F238E27FC236}">
                <a16:creationId xmlns:a16="http://schemas.microsoft.com/office/drawing/2014/main" id="{F328B2AE-8F52-41A9-AD12-1548F0EF4B55}"/>
              </a:ext>
            </a:extLst>
          </p:cNvPr>
          <p:cNvSpPr txBox="1"/>
          <p:nvPr/>
        </p:nvSpPr>
        <p:spPr>
          <a:xfrm>
            <a:off x="1298003" y="4836981"/>
            <a:ext cx="9449995" cy="1477328"/>
          </a:xfrm>
          <a:prstGeom prst="rect">
            <a:avLst/>
          </a:prstGeom>
          <a:noFill/>
        </p:spPr>
        <p:txBody>
          <a:bodyPr wrap="square" rtlCol="0">
            <a:spAutoFit/>
          </a:bodyPr>
          <a:lstStyle/>
          <a:p>
            <a:r>
              <a:rPr lang="zh-CN" altLang="en-US" b="1" dirty="0"/>
              <a:t>在图形区，我们需要计算每个区间的频数，最方便的方法是使用</a:t>
            </a:r>
            <a:r>
              <a:rPr lang="en-US" altLang="zh-CN" b="1" dirty="0"/>
              <a:t>frequency</a:t>
            </a:r>
            <a:r>
              <a:rPr lang="zh-CN" altLang="en-US" b="1" dirty="0"/>
              <a:t>函数</a:t>
            </a:r>
            <a:endParaRPr lang="en-US" altLang="zh-CN" b="1" dirty="0"/>
          </a:p>
          <a:p>
            <a:r>
              <a:rPr lang="en-US" altLang="zh-CN" b="1" dirty="0"/>
              <a:t>Frequency(</a:t>
            </a:r>
            <a:r>
              <a:rPr lang="en-US" altLang="zh-CN" b="1" dirty="0" err="1"/>
              <a:t>data_array</a:t>
            </a:r>
            <a:r>
              <a:rPr lang="en-US" altLang="zh-CN" b="1" dirty="0"/>
              <a:t>, </a:t>
            </a:r>
            <a:r>
              <a:rPr lang="en-US" altLang="zh-CN" b="1" dirty="0" err="1"/>
              <a:t>bin_array</a:t>
            </a:r>
            <a:r>
              <a:rPr lang="en-US" altLang="zh-CN" b="1" dirty="0"/>
              <a:t>)</a:t>
            </a:r>
          </a:p>
          <a:p>
            <a:endParaRPr lang="en-US" altLang="zh-CN" b="1" dirty="0"/>
          </a:p>
          <a:p>
            <a:r>
              <a:rPr lang="zh-CN" altLang="en-US" b="1" dirty="0"/>
              <a:t>在这里我们先选中 </a:t>
            </a:r>
            <a:r>
              <a:rPr lang="en-US" altLang="zh-CN" b="1" dirty="0"/>
              <a:t>M16:M46 </a:t>
            </a:r>
            <a:r>
              <a:rPr lang="zh-CN" altLang="en-US" b="1" dirty="0"/>
              <a:t>，之后输入</a:t>
            </a:r>
            <a:r>
              <a:rPr lang="en-US" altLang="zh-CN" b="1" dirty="0"/>
              <a:t>=FREQUENCY(I3:I502, L16:L46)</a:t>
            </a:r>
            <a:r>
              <a:rPr lang="zh-CN" altLang="en-US" b="1" dirty="0"/>
              <a:t>，按下</a:t>
            </a:r>
            <a:r>
              <a:rPr lang="en-US" altLang="zh-CN" b="1" dirty="0" err="1"/>
              <a:t>ctri+shift+enter</a:t>
            </a:r>
            <a:r>
              <a:rPr lang="zh-CN" altLang="en-US" b="1" dirty="0"/>
              <a:t>就完成了频数统计</a:t>
            </a:r>
            <a:endParaRPr lang="en-US" altLang="zh-CN" b="1" dirty="0"/>
          </a:p>
        </p:txBody>
      </p:sp>
    </p:spTree>
    <p:extLst>
      <p:ext uri="{BB962C8B-B14F-4D97-AF65-F5344CB8AC3E}">
        <p14:creationId xmlns:p14="http://schemas.microsoft.com/office/powerpoint/2010/main" val="288195626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净现值曲线与投资风险曲线</a:t>
            </a:r>
          </a:p>
        </p:txBody>
      </p:sp>
      <p:pic>
        <p:nvPicPr>
          <p:cNvPr id="5" name="图片 4">
            <a:extLst>
              <a:ext uri="{FF2B5EF4-FFF2-40B4-BE49-F238E27FC236}">
                <a16:creationId xmlns:a16="http://schemas.microsoft.com/office/drawing/2014/main" id="{05A8BD7A-CF02-4168-BE54-ED35C327F6D3}"/>
              </a:ext>
            </a:extLst>
          </p:cNvPr>
          <p:cNvPicPr>
            <a:picLocks noChangeAspect="1"/>
          </p:cNvPicPr>
          <p:nvPr/>
        </p:nvPicPr>
        <p:blipFill>
          <a:blip r:embed="rId2"/>
          <a:stretch>
            <a:fillRect/>
          </a:stretch>
        </p:blipFill>
        <p:spPr>
          <a:xfrm>
            <a:off x="183328" y="942958"/>
            <a:ext cx="6305580" cy="3695718"/>
          </a:xfrm>
          <a:prstGeom prst="rect">
            <a:avLst/>
          </a:prstGeom>
        </p:spPr>
      </p:pic>
      <p:pic>
        <p:nvPicPr>
          <p:cNvPr id="8" name="图片 7">
            <a:extLst>
              <a:ext uri="{FF2B5EF4-FFF2-40B4-BE49-F238E27FC236}">
                <a16:creationId xmlns:a16="http://schemas.microsoft.com/office/drawing/2014/main" id="{2D1C6B7C-0A0A-4FF2-8A09-CF127A2E5B1A}"/>
              </a:ext>
            </a:extLst>
          </p:cNvPr>
          <p:cNvPicPr>
            <a:picLocks noChangeAspect="1"/>
          </p:cNvPicPr>
          <p:nvPr/>
        </p:nvPicPr>
        <p:blipFill>
          <a:blip r:embed="rId3"/>
          <a:stretch>
            <a:fillRect/>
          </a:stretch>
        </p:blipFill>
        <p:spPr>
          <a:xfrm>
            <a:off x="6857988" y="1004812"/>
            <a:ext cx="2638437" cy="3724353"/>
          </a:xfrm>
          <a:prstGeom prst="rect">
            <a:avLst/>
          </a:prstGeom>
        </p:spPr>
      </p:pic>
      <p:sp>
        <p:nvSpPr>
          <p:cNvPr id="9" name="文本框 8">
            <a:extLst>
              <a:ext uri="{FF2B5EF4-FFF2-40B4-BE49-F238E27FC236}">
                <a16:creationId xmlns:a16="http://schemas.microsoft.com/office/drawing/2014/main" id="{90F69A02-3D1F-4D06-9795-35C8CE103F3C}"/>
              </a:ext>
            </a:extLst>
          </p:cNvPr>
          <p:cNvSpPr txBox="1"/>
          <p:nvPr/>
        </p:nvSpPr>
        <p:spPr>
          <a:xfrm>
            <a:off x="7462106" y="4688828"/>
            <a:ext cx="1430200" cy="369332"/>
          </a:xfrm>
          <a:prstGeom prst="rect">
            <a:avLst/>
          </a:prstGeom>
          <a:noFill/>
        </p:spPr>
        <p:txBody>
          <a:bodyPr wrap="none" rtlCol="0">
            <a:spAutoFit/>
          </a:bodyPr>
          <a:lstStyle/>
          <a:p>
            <a:r>
              <a:rPr lang="zh-CN" altLang="en-US" dirty="0"/>
              <a:t>净现值 “</a:t>
            </a:r>
            <a:r>
              <a:rPr lang="en-US" altLang="zh-CN" dirty="0"/>
              <a:t>&gt;</a:t>
            </a:r>
            <a:r>
              <a:rPr lang="zh-CN" altLang="en-US" dirty="0"/>
              <a:t>”</a:t>
            </a:r>
            <a:r>
              <a:rPr lang="en-US" altLang="zh-CN" dirty="0"/>
              <a:t>&amp;</a:t>
            </a:r>
            <a:endParaRPr lang="zh-CN" altLang="en-US" dirty="0"/>
          </a:p>
        </p:txBody>
      </p:sp>
      <p:pic>
        <p:nvPicPr>
          <p:cNvPr id="11" name="图片 10">
            <a:extLst>
              <a:ext uri="{FF2B5EF4-FFF2-40B4-BE49-F238E27FC236}">
                <a16:creationId xmlns:a16="http://schemas.microsoft.com/office/drawing/2014/main" id="{6340579C-883B-4249-8564-9D68E23C70D7}"/>
              </a:ext>
            </a:extLst>
          </p:cNvPr>
          <p:cNvPicPr>
            <a:picLocks noChangeAspect="1"/>
          </p:cNvPicPr>
          <p:nvPr/>
        </p:nvPicPr>
        <p:blipFill>
          <a:blip r:embed="rId4"/>
          <a:stretch>
            <a:fillRect/>
          </a:stretch>
        </p:blipFill>
        <p:spPr>
          <a:xfrm>
            <a:off x="9567853" y="1004812"/>
            <a:ext cx="2571769" cy="3286149"/>
          </a:xfrm>
          <a:prstGeom prst="rect">
            <a:avLst/>
          </a:prstGeom>
        </p:spPr>
      </p:pic>
      <p:sp>
        <p:nvSpPr>
          <p:cNvPr id="12" name="文本框 11">
            <a:extLst>
              <a:ext uri="{FF2B5EF4-FFF2-40B4-BE49-F238E27FC236}">
                <a16:creationId xmlns:a16="http://schemas.microsoft.com/office/drawing/2014/main" id="{4460765D-66B5-4810-9394-DCABF735FF04}"/>
              </a:ext>
            </a:extLst>
          </p:cNvPr>
          <p:cNvSpPr txBox="1"/>
          <p:nvPr/>
        </p:nvSpPr>
        <p:spPr>
          <a:xfrm>
            <a:off x="10100543" y="4638676"/>
            <a:ext cx="1661032" cy="646331"/>
          </a:xfrm>
          <a:prstGeom prst="rect">
            <a:avLst/>
          </a:prstGeom>
          <a:noFill/>
        </p:spPr>
        <p:txBody>
          <a:bodyPr wrap="none" rtlCol="0">
            <a:spAutoFit/>
          </a:bodyPr>
          <a:lstStyle/>
          <a:p>
            <a:r>
              <a:rPr lang="zh-CN" altLang="en-US" dirty="0"/>
              <a:t>投资风险 “</a:t>
            </a:r>
            <a:r>
              <a:rPr lang="en-US" altLang="zh-CN" dirty="0"/>
              <a:t>&lt;</a:t>
            </a:r>
            <a:r>
              <a:rPr lang="zh-CN" altLang="en-US" dirty="0"/>
              <a:t>”</a:t>
            </a:r>
            <a:r>
              <a:rPr lang="en-US" altLang="zh-CN" dirty="0"/>
              <a:t>&amp;</a:t>
            </a:r>
          </a:p>
          <a:p>
            <a:pPr algn="ctr"/>
            <a:r>
              <a:rPr lang="en-US" altLang="zh-CN" dirty="0"/>
              <a:t>1-</a:t>
            </a:r>
            <a:r>
              <a:rPr lang="zh-CN" altLang="en-US" dirty="0"/>
              <a:t>达到</a:t>
            </a:r>
          </a:p>
        </p:txBody>
      </p:sp>
      <p:pic>
        <p:nvPicPr>
          <p:cNvPr id="14" name="图片 13">
            <a:extLst>
              <a:ext uri="{FF2B5EF4-FFF2-40B4-BE49-F238E27FC236}">
                <a16:creationId xmlns:a16="http://schemas.microsoft.com/office/drawing/2014/main" id="{E1A6C6D2-B3DB-49E6-B1B8-97CC2194DECF}"/>
              </a:ext>
            </a:extLst>
          </p:cNvPr>
          <p:cNvPicPr>
            <a:picLocks noChangeAspect="1"/>
          </p:cNvPicPr>
          <p:nvPr/>
        </p:nvPicPr>
        <p:blipFill>
          <a:blip r:embed="rId5"/>
          <a:stretch>
            <a:fillRect/>
          </a:stretch>
        </p:blipFill>
        <p:spPr>
          <a:xfrm>
            <a:off x="366705" y="3373535"/>
            <a:ext cx="1778274" cy="3041553"/>
          </a:xfrm>
          <a:prstGeom prst="rect">
            <a:avLst/>
          </a:prstGeom>
        </p:spPr>
      </p:pic>
      <p:pic>
        <p:nvPicPr>
          <p:cNvPr id="16" name="图片 15">
            <a:extLst>
              <a:ext uri="{FF2B5EF4-FFF2-40B4-BE49-F238E27FC236}">
                <a16:creationId xmlns:a16="http://schemas.microsoft.com/office/drawing/2014/main" id="{7F20B817-F0F4-40CB-977A-6A01FADB47C8}"/>
              </a:ext>
            </a:extLst>
          </p:cNvPr>
          <p:cNvPicPr>
            <a:picLocks noChangeAspect="1"/>
          </p:cNvPicPr>
          <p:nvPr/>
        </p:nvPicPr>
        <p:blipFill>
          <a:blip r:embed="rId6"/>
          <a:stretch>
            <a:fillRect/>
          </a:stretch>
        </p:blipFill>
        <p:spPr>
          <a:xfrm>
            <a:off x="2259712" y="3373535"/>
            <a:ext cx="1782979" cy="3041553"/>
          </a:xfrm>
          <a:prstGeom prst="rect">
            <a:avLst/>
          </a:prstGeom>
        </p:spPr>
      </p:pic>
      <p:sp>
        <p:nvSpPr>
          <p:cNvPr id="17" name="文本框 16">
            <a:extLst>
              <a:ext uri="{FF2B5EF4-FFF2-40B4-BE49-F238E27FC236}">
                <a16:creationId xmlns:a16="http://schemas.microsoft.com/office/drawing/2014/main" id="{E96B4778-7EDE-43EB-A11C-A1A0DA6D5D97}"/>
              </a:ext>
            </a:extLst>
          </p:cNvPr>
          <p:cNvSpPr txBox="1"/>
          <p:nvPr/>
        </p:nvSpPr>
        <p:spPr>
          <a:xfrm>
            <a:off x="633413" y="6415088"/>
            <a:ext cx="1409360" cy="369332"/>
          </a:xfrm>
          <a:prstGeom prst="rect">
            <a:avLst/>
          </a:prstGeom>
          <a:noFill/>
        </p:spPr>
        <p:txBody>
          <a:bodyPr wrap="none" rtlCol="0">
            <a:spAutoFit/>
          </a:bodyPr>
          <a:lstStyle/>
          <a:p>
            <a:r>
              <a:rPr lang="zh-CN" altLang="en-US" dirty="0"/>
              <a:t>最小值</a:t>
            </a:r>
            <a:r>
              <a:rPr lang="en-US" altLang="zh-CN" dirty="0"/>
              <a:t>-0.01</a:t>
            </a:r>
            <a:endParaRPr lang="zh-CN" altLang="en-US" dirty="0"/>
          </a:p>
        </p:txBody>
      </p:sp>
      <p:sp>
        <p:nvSpPr>
          <p:cNvPr id="18" name="文本框 17">
            <a:extLst>
              <a:ext uri="{FF2B5EF4-FFF2-40B4-BE49-F238E27FC236}">
                <a16:creationId xmlns:a16="http://schemas.microsoft.com/office/drawing/2014/main" id="{406B6167-A952-43F8-9195-A723D6444B96}"/>
              </a:ext>
            </a:extLst>
          </p:cNvPr>
          <p:cNvSpPr txBox="1"/>
          <p:nvPr/>
        </p:nvSpPr>
        <p:spPr>
          <a:xfrm>
            <a:off x="2411687" y="6415088"/>
            <a:ext cx="1447832" cy="369332"/>
          </a:xfrm>
          <a:prstGeom prst="rect">
            <a:avLst/>
          </a:prstGeom>
          <a:noFill/>
        </p:spPr>
        <p:txBody>
          <a:bodyPr wrap="none" rtlCol="0">
            <a:spAutoFit/>
          </a:bodyPr>
          <a:lstStyle/>
          <a:p>
            <a:r>
              <a:rPr lang="zh-CN" altLang="en-US" dirty="0"/>
              <a:t>最大值</a:t>
            </a:r>
            <a:r>
              <a:rPr lang="en-US" altLang="zh-CN" dirty="0"/>
              <a:t>+0.01</a:t>
            </a:r>
            <a:endParaRPr lang="zh-CN" altLang="en-US" dirty="0"/>
          </a:p>
        </p:txBody>
      </p:sp>
    </p:spTree>
    <p:extLst>
      <p:ext uri="{BB962C8B-B14F-4D97-AF65-F5344CB8AC3E}">
        <p14:creationId xmlns:p14="http://schemas.microsoft.com/office/powerpoint/2010/main" val="10509081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Part9</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最优化决策模型</a:t>
            </a:r>
          </a:p>
        </p:txBody>
      </p:sp>
    </p:spTree>
    <p:extLst>
      <p:ext uri="{BB962C8B-B14F-4D97-AF65-F5344CB8AC3E}">
        <p14:creationId xmlns:p14="http://schemas.microsoft.com/office/powerpoint/2010/main" val="38487234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3371B58-62F0-4F74-B5D2-33A2C9D31209}"/>
              </a:ext>
            </a:extLst>
          </p:cNvPr>
          <p:cNvPicPr>
            <a:picLocks noChangeAspect="1"/>
          </p:cNvPicPr>
          <p:nvPr/>
        </p:nvPicPr>
        <p:blipFill>
          <a:blip r:embed="rId2"/>
          <a:stretch>
            <a:fillRect/>
          </a:stretch>
        </p:blipFill>
        <p:spPr>
          <a:xfrm>
            <a:off x="852449" y="1066780"/>
            <a:ext cx="10487102" cy="5334039"/>
          </a:xfrm>
          <a:prstGeom prst="rect">
            <a:avLst/>
          </a:prstGeom>
        </p:spPr>
      </p:pic>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Step1</a:t>
            </a:r>
            <a:r>
              <a:rPr lang="zh-CN" altLang="en-US" sz="3600" dirty="0">
                <a:latin typeface="宋体" pitchFamily="2" charset="-122"/>
                <a:ea typeface="宋体" pitchFamily="2" charset="-122"/>
              </a:rPr>
              <a:t>：找到决策变量（</a:t>
            </a:r>
            <a:r>
              <a:rPr lang="en-US" altLang="zh-CN" sz="3600" dirty="0">
                <a:latin typeface="宋体" pitchFamily="2" charset="-122"/>
                <a:ea typeface="宋体" pitchFamily="2" charset="-122"/>
              </a:rPr>
              <a:t>0-1</a:t>
            </a:r>
            <a:r>
              <a:rPr lang="zh-CN" altLang="en-US" sz="3600" dirty="0">
                <a:latin typeface="宋体" pitchFamily="2" charset="-122"/>
                <a:ea typeface="宋体" pitchFamily="2" charset="-122"/>
              </a:rPr>
              <a:t>变量）</a:t>
            </a:r>
          </a:p>
        </p:txBody>
      </p:sp>
    </p:spTree>
    <p:extLst>
      <p:ext uri="{BB962C8B-B14F-4D97-AF65-F5344CB8AC3E}">
        <p14:creationId xmlns:p14="http://schemas.microsoft.com/office/powerpoint/2010/main" val="20069110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318839"/>
            <a:ext cx="12191999" cy="646331"/>
          </a:xfrm>
          <a:prstGeom prst="rect">
            <a:avLst/>
          </a:prstGeom>
          <a:noFill/>
        </p:spPr>
        <p:txBody>
          <a:bodyPr wrap="square" rtlCol="0">
            <a:spAutoFit/>
          </a:bodyPr>
          <a:lstStyle/>
          <a:p>
            <a:pPr algn="ctr"/>
            <a:r>
              <a:rPr lang="en-US" altLang="zh-CN" sz="3600" b="1" dirty="0">
                <a:solidFill>
                  <a:schemeClr val="tx2">
                    <a:lumMod val="75000"/>
                  </a:schemeClr>
                </a:solidFill>
                <a:latin typeface="宋体" panose="02010600030101010101" pitchFamily="2" charset="-122"/>
                <a:ea typeface="宋体" panose="02010600030101010101" pitchFamily="2" charset="-122"/>
              </a:rPr>
              <a:t>Example</a:t>
            </a:r>
            <a:r>
              <a:rPr lang="zh-CN" altLang="en-US" sz="3600" b="1" dirty="0">
                <a:solidFill>
                  <a:schemeClr val="tx2">
                    <a:lumMod val="75000"/>
                  </a:schemeClr>
                </a:solidFill>
                <a:latin typeface="宋体" panose="02010600030101010101" pitchFamily="2" charset="-122"/>
                <a:ea typeface="宋体" panose="02010600030101010101" pitchFamily="2" charset="-122"/>
              </a:rPr>
              <a:t>：选址问题</a:t>
            </a:r>
          </a:p>
        </p:txBody>
      </p:sp>
      <p:sp>
        <p:nvSpPr>
          <p:cNvPr id="3" name="矩形 2">
            <a:extLst>
              <a:ext uri="{FF2B5EF4-FFF2-40B4-BE49-F238E27FC236}">
                <a16:creationId xmlns:a16="http://schemas.microsoft.com/office/drawing/2014/main" id="{5255A097-55CC-4ECB-B3D7-C63BC3CEBE2B}"/>
              </a:ext>
            </a:extLst>
          </p:cNvPr>
          <p:cNvSpPr/>
          <p:nvPr/>
        </p:nvSpPr>
        <p:spPr>
          <a:xfrm>
            <a:off x="573155" y="1141129"/>
            <a:ext cx="11045687" cy="1323439"/>
          </a:xfrm>
          <a:prstGeom prst="rect">
            <a:avLst/>
          </a:prstGeom>
        </p:spPr>
        <p:txBody>
          <a:bodyPr wrap="square">
            <a:spAutoFit/>
          </a:bodyPr>
          <a:lstStyle/>
          <a:p>
            <a:r>
              <a:rPr lang="zh-CN"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【例</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10-3 </a:t>
            </a:r>
            <a:r>
              <a:rPr lang="zh-CN"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一家生鲜配送型连锁店准备在十六个城市栅格中挑选</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2</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个建立门店的位置，以便覆盖城市</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CBD</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地区</a:t>
            </a:r>
            <a:r>
              <a:rPr lang="en-US" altLang="zh-CN" sz="2000" dirty="0" err="1">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1km</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范围内的四个区域。这十六个栅格对于城市</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CBD</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四个区域的覆盖与开设店铺的成本费用如表</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10-2</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所示。在一个栅格所在列与一个地区所在行的交叉点处有数字“</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表明在该位置开设店铺时可以覆盖到该地区。我们需要构造一个规划模型，用于确定最优的门店建设方案。</a:t>
            </a:r>
            <a:endParaRPr lang="zh-CN" altLang="en-US" sz="2000" dirty="0">
              <a:solidFill>
                <a:schemeClr val="tx2">
                  <a:lumMod val="75000"/>
                </a:schemeClr>
              </a:solidFill>
            </a:endParaRPr>
          </a:p>
        </p:txBody>
      </p:sp>
      <p:pic>
        <p:nvPicPr>
          <p:cNvPr id="5" name="图片 4">
            <a:extLst>
              <a:ext uri="{FF2B5EF4-FFF2-40B4-BE49-F238E27FC236}">
                <a16:creationId xmlns:a16="http://schemas.microsoft.com/office/drawing/2014/main" id="{86C30B40-C17C-9379-6278-AC0B7EC399AD}"/>
              </a:ext>
            </a:extLst>
          </p:cNvPr>
          <p:cNvPicPr>
            <a:picLocks/>
          </p:cNvPicPr>
          <p:nvPr/>
        </p:nvPicPr>
        <p:blipFill>
          <a:blip r:embed="rId2" cstate="print"/>
          <a:srcRect/>
          <a:stretch/>
        </p:blipFill>
        <p:spPr>
          <a:xfrm>
            <a:off x="1719050" y="2907553"/>
            <a:ext cx="9320425" cy="1116547"/>
          </a:xfrm>
          <a:prstGeom prst="rect">
            <a:avLst/>
          </a:prstGeom>
          <a:ln>
            <a:noFill/>
          </a:ln>
        </p:spPr>
      </p:pic>
      <p:sp>
        <p:nvSpPr>
          <p:cNvPr id="9" name="文本框 8">
            <a:extLst>
              <a:ext uri="{FF2B5EF4-FFF2-40B4-BE49-F238E27FC236}">
                <a16:creationId xmlns:a16="http://schemas.microsoft.com/office/drawing/2014/main" id="{53D60B56-A8B0-CAA6-08C2-CDC1A5A966A2}"/>
              </a:ext>
            </a:extLst>
          </p:cNvPr>
          <p:cNvSpPr txBox="1"/>
          <p:nvPr/>
        </p:nvSpPr>
        <p:spPr>
          <a:xfrm>
            <a:off x="4491009" y="2464568"/>
            <a:ext cx="5176581" cy="369332"/>
          </a:xfrm>
          <a:prstGeom prst="rect">
            <a:avLst/>
          </a:prstGeom>
          <a:noFill/>
        </p:spPr>
        <p:txBody>
          <a:bodyPr wrap="square">
            <a:spAutoFit/>
          </a:bodyPr>
          <a:lstStyle/>
          <a:p>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表</a:t>
            </a:r>
            <a:r>
              <a:rPr lang="en-US" altLang="zh-CN" sz="1800" dirty="0">
                <a:effectLst/>
                <a:latin typeface="宋体" panose="02010600030101010101" pitchFamily="2" charset="-122"/>
                <a:ea typeface="宋体" panose="02010600030101010101" pitchFamily="2" charset="-122"/>
              </a:rPr>
              <a:t>10-2 </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开店位置</a:t>
            </a:r>
            <a:r>
              <a:rPr lang="en-US" altLang="zh-CN" sz="1800" dirty="0">
                <a:effectLst/>
                <a:latin typeface="宋体" panose="02010600030101010101" pitchFamily="2" charset="-122"/>
                <a:ea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覆盖范围</a:t>
            </a:r>
            <a:r>
              <a:rPr lang="en-US" altLang="zh-CN" sz="1800" dirty="0">
                <a:effectLst/>
                <a:latin typeface="宋体" panose="02010600030101010101" pitchFamily="2" charset="-122"/>
                <a:ea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费用</a:t>
            </a:r>
            <a:r>
              <a:rPr lang="zh-CN" altLang="en-US" sz="1800" dirty="0">
                <a:effectLst/>
                <a:latin typeface="宋体" panose="02010600030101010101" pitchFamily="2" charset="-122"/>
                <a:ea typeface="宋体" panose="02010600030101010101" pitchFamily="2" charset="-122"/>
                <a:cs typeface="Times New Roman" panose="02020603050405020304" pitchFamily="18" charset="0"/>
              </a:rPr>
              <a:t>表</a:t>
            </a:r>
            <a:endParaRPr lang="zh-CN" altLang="en-US" dirty="0">
              <a:latin typeface="宋体" panose="02010600030101010101" pitchFamily="2" charset="-122"/>
              <a:ea typeface="宋体" panose="02010600030101010101" pitchFamily="2" charset="-122"/>
            </a:endParaRPr>
          </a:p>
        </p:txBody>
      </p:sp>
      <p:sp>
        <p:nvSpPr>
          <p:cNvPr id="10" name="灯片编号占位符 9">
            <a:extLst>
              <a:ext uri="{FF2B5EF4-FFF2-40B4-BE49-F238E27FC236}">
                <a16:creationId xmlns:a16="http://schemas.microsoft.com/office/drawing/2014/main" id="{8623B1CA-B8EF-ADA7-471B-06BC3C7F920F}"/>
              </a:ext>
            </a:extLst>
          </p:cNvPr>
          <p:cNvSpPr>
            <a:spLocks noGrp="1"/>
          </p:cNvSpPr>
          <p:nvPr>
            <p:ph type="sldNum" sz="quarter" idx="12"/>
          </p:nvPr>
        </p:nvSpPr>
        <p:spPr/>
        <p:txBody>
          <a:bodyPr/>
          <a:lstStyle/>
          <a:p>
            <a:fld id="{D4987A84-499B-4CAF-9D16-379BAF2795DA}" type="slidenum">
              <a:rPr lang="zh-CN" altLang="en-US" smtClean="0"/>
              <a:t>107</a:t>
            </a:fld>
            <a:endParaRPr lang="zh-CN" altLang="en-US"/>
          </a:p>
        </p:txBody>
      </p:sp>
      <p:sp>
        <p:nvSpPr>
          <p:cNvPr id="4" name="文本框 3">
            <a:extLst>
              <a:ext uri="{FF2B5EF4-FFF2-40B4-BE49-F238E27FC236}">
                <a16:creationId xmlns:a16="http://schemas.microsoft.com/office/drawing/2014/main" id="{AF3FFF1B-6F86-4B3A-BA7B-7D07A6F9EC9E}"/>
              </a:ext>
            </a:extLst>
          </p:cNvPr>
          <p:cNvSpPr txBox="1"/>
          <p:nvPr/>
        </p:nvSpPr>
        <p:spPr>
          <a:xfrm>
            <a:off x="4183837" y="5892830"/>
            <a:ext cx="4006225" cy="369332"/>
          </a:xfrm>
          <a:prstGeom prst="rect">
            <a:avLst/>
          </a:prstGeom>
          <a:noFill/>
        </p:spPr>
        <p:txBody>
          <a:bodyPr wrap="none" rtlCol="0">
            <a:spAutoFit/>
          </a:bodyPr>
          <a:lstStyle/>
          <a:p>
            <a:r>
              <a:rPr lang="zh-CN" altLang="en-US" dirty="0"/>
              <a:t>每个栅格选或者不选就是一个</a:t>
            </a:r>
            <a:r>
              <a:rPr lang="en-US" altLang="zh-CN" dirty="0"/>
              <a:t>0-1</a:t>
            </a:r>
            <a:r>
              <a:rPr lang="zh-CN" altLang="en-US" dirty="0"/>
              <a:t>变量</a:t>
            </a:r>
          </a:p>
        </p:txBody>
      </p:sp>
      <p:pic>
        <p:nvPicPr>
          <p:cNvPr id="8" name="图片 7">
            <a:extLst>
              <a:ext uri="{FF2B5EF4-FFF2-40B4-BE49-F238E27FC236}">
                <a16:creationId xmlns:a16="http://schemas.microsoft.com/office/drawing/2014/main" id="{3A8BCD26-B6CE-4504-9C13-B1A8BE2EFD6F}"/>
              </a:ext>
            </a:extLst>
          </p:cNvPr>
          <p:cNvPicPr>
            <a:picLocks/>
          </p:cNvPicPr>
          <p:nvPr/>
        </p:nvPicPr>
        <p:blipFill>
          <a:blip r:embed="rId3" cstate="print"/>
          <a:srcRect/>
          <a:stretch/>
        </p:blipFill>
        <p:spPr>
          <a:xfrm>
            <a:off x="3629025" y="4281488"/>
            <a:ext cx="5222856" cy="1398946"/>
          </a:xfrm>
          <a:prstGeom prst="rect">
            <a:avLst/>
          </a:prstGeom>
          <a:ln>
            <a:solidFill>
              <a:schemeClr val="tx1"/>
            </a:solidFill>
          </a:ln>
          <a:effectLst/>
        </p:spPr>
      </p:pic>
      <p:sp>
        <p:nvSpPr>
          <p:cNvPr id="11" name="文本框 10">
            <a:extLst>
              <a:ext uri="{FF2B5EF4-FFF2-40B4-BE49-F238E27FC236}">
                <a16:creationId xmlns:a16="http://schemas.microsoft.com/office/drawing/2014/main" id="{F978EFD4-7421-4EF2-87F7-88D225E0FD10}"/>
              </a:ext>
            </a:extLst>
          </p:cNvPr>
          <p:cNvSpPr txBox="1"/>
          <p:nvPr/>
        </p:nvSpPr>
        <p:spPr>
          <a:xfrm>
            <a:off x="4237340" y="6289892"/>
            <a:ext cx="4083169" cy="369332"/>
          </a:xfrm>
          <a:prstGeom prst="rect">
            <a:avLst/>
          </a:prstGeom>
          <a:noFill/>
        </p:spPr>
        <p:txBody>
          <a:bodyPr wrap="none" rtlCol="0">
            <a:spAutoFit/>
          </a:bodyPr>
          <a:lstStyle/>
          <a:p>
            <a:r>
              <a:rPr lang="zh-CN" altLang="en-US" dirty="0"/>
              <a:t>注意在规划求解的时候要添加 </a:t>
            </a:r>
            <a:r>
              <a:rPr lang="en-US" altLang="zh-CN" dirty="0"/>
              <a:t>bin </a:t>
            </a:r>
            <a:r>
              <a:rPr lang="zh-CN" altLang="en-US" dirty="0"/>
              <a:t>约束</a:t>
            </a:r>
          </a:p>
        </p:txBody>
      </p:sp>
    </p:spTree>
    <p:extLst>
      <p:ext uri="{BB962C8B-B14F-4D97-AF65-F5344CB8AC3E}">
        <p14:creationId xmlns:p14="http://schemas.microsoft.com/office/powerpoint/2010/main" val="28269163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97DE00F-FA5C-4E3E-8077-72C7A8DCF273}"/>
              </a:ext>
            </a:extLst>
          </p:cNvPr>
          <p:cNvSpPr/>
          <p:nvPr/>
        </p:nvSpPr>
        <p:spPr>
          <a:xfrm>
            <a:off x="765658" y="921079"/>
            <a:ext cx="10588142" cy="2169825"/>
          </a:xfrm>
          <a:prstGeom prst="rect">
            <a:avLst/>
          </a:prstGeom>
        </p:spPr>
        <p:txBody>
          <a:bodyPr wrap="square">
            <a:spAutoFit/>
          </a:bodyPr>
          <a:lstStyle/>
          <a:p>
            <a:pPr algn="just">
              <a:spcAft>
                <a:spcPts val="0"/>
              </a:spcAft>
            </a:pPr>
            <a:r>
              <a:rPr lang="zh-CN" altLang="zh-CN" sz="1400" dirty="0">
                <a:latin typeface="Times New Roman" panose="02020603050405020304" pitchFamily="18" charset="0"/>
                <a:ea typeface="宋体" panose="02010600030101010101" pitchFamily="2" charset="-122"/>
              </a:rPr>
              <a:t>【例</a:t>
            </a:r>
            <a:r>
              <a:rPr lang="en-US" altLang="zh-CN" sz="1400" dirty="0">
                <a:latin typeface="Times New Roman" panose="02020603050405020304" pitchFamily="18" charset="0"/>
                <a:ea typeface="宋体" panose="02010600030101010101" pitchFamily="2" charset="-122"/>
              </a:rPr>
              <a:t>10-4</a:t>
            </a:r>
            <a:r>
              <a:rPr lang="zh-CN" altLang="zh-CN" sz="14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生鲜新零售连锁店的猪肉在市内有三个供应商甲、乙、丙，分别向</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四个销地提供产品，供应商每日最大产能分别是</a:t>
            </a:r>
            <a:r>
              <a:rPr lang="en-US" altLang="zh-CN" sz="1400" dirty="0">
                <a:latin typeface="Times New Roman" panose="02020603050405020304" pitchFamily="18" charset="0"/>
                <a:ea typeface="宋体" panose="02010600030101010101" pitchFamily="2" charset="-122"/>
              </a:rPr>
              <a:t>150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200</a:t>
            </a:r>
            <a:r>
              <a:rPr lang="zh-CN" altLang="en-US" sz="1400" dirty="0">
                <a:latin typeface="Times New Roman" panose="02020603050405020304" pitchFamily="18" charset="0"/>
                <a:ea typeface="宋体" panose="02010600030101010101" pitchFamily="2" charset="-122"/>
              </a:rPr>
              <a:t>千克和</a:t>
            </a:r>
            <a:r>
              <a:rPr lang="en-US" altLang="zh-CN" sz="1400" dirty="0">
                <a:latin typeface="Times New Roman" panose="02020603050405020304" pitchFamily="18" charset="0"/>
                <a:ea typeface="宋体" panose="02010600030101010101" pitchFamily="2" charset="-122"/>
              </a:rPr>
              <a:t>100</a:t>
            </a:r>
            <a:r>
              <a:rPr lang="zh-CN" altLang="en-US" sz="1400" dirty="0">
                <a:latin typeface="Times New Roman" panose="02020603050405020304" pitchFamily="18" charset="0"/>
                <a:ea typeface="宋体" panose="02010600030101010101" pitchFamily="2" charset="-122"/>
              </a:rPr>
              <a:t>千克。每天要向市内</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和</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四个门店供货，四个门店的日需要量分别是</a:t>
            </a:r>
            <a:r>
              <a:rPr lang="en-US" altLang="zh-CN" sz="1400" dirty="0">
                <a:latin typeface="Times New Roman" panose="02020603050405020304" pitchFamily="18" charset="0"/>
                <a:ea typeface="宋体" panose="02010600030101010101" pitchFamily="2" charset="-122"/>
              </a:rPr>
              <a:t>120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150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100</a:t>
            </a:r>
            <a:r>
              <a:rPr lang="zh-CN" altLang="en-US" sz="1400" dirty="0">
                <a:latin typeface="Times New Roman" panose="02020603050405020304" pitchFamily="18" charset="0"/>
                <a:ea typeface="宋体" panose="02010600030101010101" pitchFamily="2" charset="-122"/>
              </a:rPr>
              <a:t>千克和</a:t>
            </a:r>
            <a:r>
              <a:rPr lang="en-US" altLang="zh-CN" sz="1400" dirty="0">
                <a:latin typeface="Times New Roman" panose="02020603050405020304" pitchFamily="18" charset="0"/>
                <a:ea typeface="宋体" panose="02010600030101010101" pitchFamily="2" charset="-122"/>
              </a:rPr>
              <a:t>80</a:t>
            </a:r>
            <a:r>
              <a:rPr lang="zh-CN" altLang="en-US" sz="1400" dirty="0">
                <a:latin typeface="Times New Roman" panose="02020603050405020304" pitchFamily="18" charset="0"/>
                <a:ea typeface="宋体" panose="02010600030101010101" pitchFamily="2" charset="-122"/>
              </a:rPr>
              <a:t>千克。供应商仓库到门店的运费（单位：元</a:t>
            </a:r>
            <a:r>
              <a:rPr lang="en-US" altLang="zh-CN" sz="14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千克）如表</a:t>
            </a:r>
            <a:r>
              <a:rPr lang="en-US" altLang="zh-CN" sz="1400" dirty="0">
                <a:latin typeface="Times New Roman" panose="02020603050405020304" pitchFamily="18" charset="0"/>
                <a:ea typeface="宋体" panose="02010600030101010101" pitchFamily="2" charset="-122"/>
              </a:rPr>
              <a:t>10-3</a:t>
            </a:r>
            <a:r>
              <a:rPr lang="zh-CN" altLang="en-US" sz="1400" dirty="0">
                <a:latin typeface="Times New Roman" panose="02020603050405020304" pitchFamily="18" charset="0"/>
                <a:ea typeface="宋体" panose="02010600030101010101" pitchFamily="2" charset="-122"/>
              </a:rPr>
              <a:t>所示。请根据以上信息完成下列问题。</a:t>
            </a:r>
            <a:endParaRPr lang="en-US" altLang="zh-CN" sz="1400" dirty="0">
              <a:latin typeface="Times New Roman" panose="02020603050405020304" pitchFamily="18" charset="0"/>
              <a:ea typeface="宋体" panose="02010600030101010101" pitchFamily="2" charset="-122"/>
            </a:endParaRPr>
          </a:p>
          <a:p>
            <a:pPr algn="just">
              <a:spcBef>
                <a:spcPts val="600"/>
              </a:spcBef>
              <a:spcAft>
                <a:spcPts val="0"/>
              </a:spcAft>
            </a:pPr>
            <a:r>
              <a:rPr lang="en-US" altLang="zh-CN" sz="1400" dirty="0">
                <a:latin typeface="Times New Roman" panose="02020603050405020304" pitchFamily="18" charset="0"/>
                <a:ea typeface="宋体" panose="02010600030101010101" pitchFamily="2" charset="-122"/>
              </a:rPr>
              <a:t>(1) </a:t>
            </a:r>
            <a:r>
              <a:rPr lang="zh-CN" altLang="en-US" sz="1400" dirty="0">
                <a:latin typeface="Times New Roman" panose="02020603050405020304" pitchFamily="18" charset="0"/>
                <a:ea typeface="宋体" panose="02010600030101010101" pitchFamily="2" charset="-122"/>
              </a:rPr>
              <a:t>该连锁店怎样安排运输，能够使总费用最小，要求每个供应商的实际供应量不能超过其最大产能，同时又要满足各门店的需求量。</a:t>
            </a:r>
          </a:p>
          <a:p>
            <a:pPr algn="just">
              <a:spcAft>
                <a:spcPts val="0"/>
              </a:spcAft>
            </a:pPr>
            <a:r>
              <a:rPr lang="en-US" altLang="zh-CN" sz="1400" dirty="0">
                <a:latin typeface="Times New Roman" panose="02020603050405020304" pitchFamily="18" charset="0"/>
                <a:ea typeface="宋体" panose="02010600030101010101" pitchFamily="2" charset="-122"/>
              </a:rPr>
              <a:t>(2) </a:t>
            </a:r>
            <a:r>
              <a:rPr lang="zh-CN" altLang="en-US" sz="1400" dirty="0">
                <a:latin typeface="Times New Roman" panose="02020603050405020304" pitchFamily="18" charset="0"/>
                <a:ea typeface="宋体" panose="02010600030101010101" pitchFamily="2" charset="-122"/>
              </a:rPr>
              <a:t>由于推广活动，门店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的猪肉需求量上升到</a:t>
            </a:r>
            <a:r>
              <a:rPr lang="en-US" altLang="zh-CN" sz="1400" dirty="0">
                <a:latin typeface="Times New Roman" panose="02020603050405020304" pitchFamily="18" charset="0"/>
                <a:ea typeface="宋体" panose="02010600030101010101" pitchFamily="2" charset="-122"/>
              </a:rPr>
              <a:t>200</a:t>
            </a:r>
            <a:r>
              <a:rPr lang="zh-CN" altLang="en-US" sz="1400" dirty="0">
                <a:latin typeface="Times New Roman" panose="02020603050405020304" pitchFamily="18" charset="0"/>
                <a:ea typeface="宋体" panose="02010600030101010101" pitchFamily="2" charset="-122"/>
              </a:rPr>
              <a:t>千克，但供应商的产量并未发生变化，试问此时连锁店怎样安排运输，能够使总费用最小。 </a:t>
            </a:r>
          </a:p>
          <a:p>
            <a:pPr algn="just">
              <a:spcAft>
                <a:spcPts val="0"/>
              </a:spcAft>
            </a:pPr>
            <a:r>
              <a:rPr lang="en-US" altLang="zh-CN" sz="1400" dirty="0">
                <a:latin typeface="Times New Roman" panose="02020603050405020304" pitchFamily="18" charset="0"/>
                <a:ea typeface="宋体" panose="02010600030101010101" pitchFamily="2" charset="-122"/>
              </a:rPr>
              <a:t>(3) </a:t>
            </a:r>
            <a:r>
              <a:rPr lang="zh-CN" altLang="en-US" sz="1400" dirty="0">
                <a:latin typeface="Times New Roman" panose="02020603050405020304" pitchFamily="18" charset="0"/>
                <a:ea typeface="宋体" panose="02010600030101010101" pitchFamily="2" charset="-122"/>
              </a:rPr>
              <a:t>在问题（</a:t>
            </a:r>
            <a:r>
              <a:rPr lang="en-US" altLang="zh-CN" sz="1400" dirty="0">
                <a:latin typeface="Times New Roman" panose="02020603050405020304" pitchFamily="18" charset="0"/>
                <a:ea typeface="宋体" panose="02010600030101010101" pitchFamily="2" charset="-122"/>
              </a:rPr>
              <a:t>2</a:t>
            </a:r>
            <a:r>
              <a:rPr lang="zh-CN" altLang="en-US" sz="1400" dirty="0">
                <a:latin typeface="Times New Roman" panose="02020603050405020304" pitchFamily="18" charset="0"/>
                <a:ea typeface="宋体" panose="02010600030101010101" pitchFamily="2" charset="-122"/>
              </a:rPr>
              <a:t>）的基础上，考虑到门店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位于黄金地段，是生鲜新零售连锁店的重要门店，所以要满足门店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的全部需求，门店</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与</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拥有较稳定的客源，至少要满足他们订单的</a:t>
            </a:r>
            <a:r>
              <a:rPr lang="en-US" altLang="zh-CN" sz="1400" dirty="0">
                <a:latin typeface="Times New Roman" panose="02020603050405020304" pitchFamily="18" charset="0"/>
                <a:ea typeface="宋体" panose="02010600030101010101" pitchFamily="2" charset="-122"/>
              </a:rPr>
              <a:t>1/2</a:t>
            </a:r>
            <a:r>
              <a:rPr lang="zh-CN" altLang="en-US" sz="1400" dirty="0">
                <a:latin typeface="Times New Roman" panose="02020603050405020304" pitchFamily="18" charset="0"/>
                <a:ea typeface="宋体" panose="02010600030101010101" pitchFamily="2" charset="-122"/>
              </a:rPr>
              <a:t>，门店</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满足不满足订单均可。试问此时连锁店怎样安排运输，能够使总费用最小。</a:t>
            </a:r>
          </a:p>
          <a:p>
            <a:pPr algn="just">
              <a:spcAft>
                <a:spcPts val="0"/>
              </a:spcAft>
            </a:pPr>
            <a:endParaRPr lang="zh-CN" altLang="zh-CN" sz="1600" dirty="0">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FF395ACB-075C-29F1-C91B-6846F562513C}"/>
              </a:ext>
            </a:extLst>
          </p:cNvPr>
          <p:cNvSpPr txBox="1"/>
          <p:nvPr/>
        </p:nvSpPr>
        <p:spPr>
          <a:xfrm>
            <a:off x="-442276" y="2974249"/>
            <a:ext cx="6095064" cy="338554"/>
          </a:xfrm>
          <a:prstGeom prst="rect">
            <a:avLst/>
          </a:prstGeom>
          <a:noFill/>
        </p:spPr>
        <p:txBody>
          <a:bodyPr wrap="square">
            <a:spAutoFit/>
          </a:bodyPr>
          <a:lstStyle/>
          <a:p>
            <a:pPr indent="270510" algn="ctr">
              <a:spcBef>
                <a:spcPts val="600"/>
              </a:spcBef>
              <a:spcAft>
                <a:spcPts val="600"/>
              </a:spcAft>
            </a:pPr>
            <a:r>
              <a:rPr lang="zh-CN" altLang="zh-CN" sz="1600" kern="100" dirty="0">
                <a:effectLst/>
                <a:latin typeface="宋体" panose="02010600030101010101" pitchFamily="2" charset="-122"/>
                <a:ea typeface="宋体" panose="02010600030101010101" pitchFamily="2" charset="-122"/>
                <a:cs typeface="Times New Roman" panose="02020603050405020304" pitchFamily="18" charset="0"/>
              </a:rPr>
              <a:t>表</a:t>
            </a:r>
            <a:r>
              <a:rPr lang="en-US" altLang="zh-CN" sz="1600" kern="100" dirty="0">
                <a:effectLst/>
                <a:latin typeface="宋体" panose="02010600030101010101" pitchFamily="2" charset="-122"/>
                <a:ea typeface="宋体" panose="02010600030101010101" pitchFamily="2" charset="-122"/>
                <a:cs typeface="Times New Roman" panose="02020603050405020304" pitchFamily="18" charset="0"/>
              </a:rPr>
              <a:t>10-3 </a:t>
            </a:r>
            <a:r>
              <a:rPr lang="zh-CN" altLang="zh-CN" sz="1600" kern="100" dirty="0">
                <a:effectLst/>
                <a:latin typeface="宋体" panose="02010600030101010101" pitchFamily="2" charset="-122"/>
                <a:ea typeface="宋体" panose="02010600030101010101" pitchFamily="2" charset="-122"/>
                <a:cs typeface="Times New Roman" panose="02020603050405020304" pitchFamily="18" charset="0"/>
              </a:rPr>
              <a:t>供应商仓库到门店的运费表</a:t>
            </a:r>
          </a:p>
        </p:txBody>
      </p:sp>
      <p:pic>
        <p:nvPicPr>
          <p:cNvPr id="10" name="图片 9">
            <a:extLst>
              <a:ext uri="{FF2B5EF4-FFF2-40B4-BE49-F238E27FC236}">
                <a16:creationId xmlns:a16="http://schemas.microsoft.com/office/drawing/2014/main" id="{A99344E1-4B22-6C7E-9146-7601D8171258}"/>
              </a:ext>
            </a:extLst>
          </p:cNvPr>
          <p:cNvPicPr>
            <a:picLocks/>
          </p:cNvPicPr>
          <p:nvPr/>
        </p:nvPicPr>
        <p:blipFill>
          <a:blip r:embed="rId2" cstate="print"/>
          <a:srcRect/>
          <a:stretch/>
        </p:blipFill>
        <p:spPr>
          <a:xfrm>
            <a:off x="887304" y="3461568"/>
            <a:ext cx="4110254" cy="1237377"/>
          </a:xfrm>
          <a:prstGeom prst="rect">
            <a:avLst/>
          </a:prstGeom>
          <a:ln>
            <a:noFill/>
          </a:ln>
        </p:spPr>
      </p:pic>
      <p:sp>
        <p:nvSpPr>
          <p:cNvPr id="11" name="灯片编号占位符 10">
            <a:extLst>
              <a:ext uri="{FF2B5EF4-FFF2-40B4-BE49-F238E27FC236}">
                <a16:creationId xmlns:a16="http://schemas.microsoft.com/office/drawing/2014/main" id="{F49A62C3-AAEF-47F0-BDCB-87A61166BDA5}"/>
              </a:ext>
            </a:extLst>
          </p:cNvPr>
          <p:cNvSpPr>
            <a:spLocks noGrp="1"/>
          </p:cNvSpPr>
          <p:nvPr>
            <p:ph type="sldNum" sz="quarter" idx="12"/>
          </p:nvPr>
        </p:nvSpPr>
        <p:spPr/>
        <p:txBody>
          <a:bodyPr/>
          <a:lstStyle/>
          <a:p>
            <a:fld id="{D4987A84-499B-4CAF-9D16-379BAF2795DA}" type="slidenum">
              <a:rPr lang="zh-CN" altLang="en-US" smtClean="0"/>
              <a:t>108</a:t>
            </a:fld>
            <a:endParaRPr lang="zh-CN" altLang="en-US"/>
          </a:p>
        </p:txBody>
      </p:sp>
      <p:sp>
        <p:nvSpPr>
          <p:cNvPr id="7" name="文本框 6">
            <a:extLst>
              <a:ext uri="{FF2B5EF4-FFF2-40B4-BE49-F238E27FC236}">
                <a16:creationId xmlns:a16="http://schemas.microsoft.com/office/drawing/2014/main" id="{7DA6BFF9-4422-481E-B9E8-02D398DE2ED9}"/>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Step1</a:t>
            </a:r>
            <a:r>
              <a:rPr lang="zh-CN" altLang="en-US" sz="3600" dirty="0">
                <a:latin typeface="宋体" pitchFamily="2" charset="-122"/>
                <a:ea typeface="宋体" pitchFamily="2" charset="-122"/>
              </a:rPr>
              <a:t>：找到决策变量（整数变量）</a:t>
            </a:r>
          </a:p>
        </p:txBody>
      </p:sp>
      <p:sp>
        <p:nvSpPr>
          <p:cNvPr id="8" name="文本框 7">
            <a:extLst>
              <a:ext uri="{FF2B5EF4-FFF2-40B4-BE49-F238E27FC236}">
                <a16:creationId xmlns:a16="http://schemas.microsoft.com/office/drawing/2014/main" id="{00B5E587-2E57-4757-A0A0-CF8F4104BCD2}"/>
              </a:ext>
            </a:extLst>
          </p:cNvPr>
          <p:cNvSpPr txBox="1"/>
          <p:nvPr/>
        </p:nvSpPr>
        <p:spPr>
          <a:xfrm>
            <a:off x="5491163" y="3061171"/>
            <a:ext cx="3063311" cy="1843903"/>
          </a:xfrm>
          <a:prstGeom prst="rect">
            <a:avLst/>
          </a:prstGeom>
          <a:noFill/>
        </p:spPr>
        <p:txBody>
          <a:bodyPr wrap="square">
            <a:spAutoFit/>
          </a:bodyPr>
          <a:lstStyle/>
          <a:p>
            <a:pPr algn="just">
              <a:lnSpc>
                <a:spcPct val="150000"/>
              </a:lnSpc>
            </a:pPr>
            <a:r>
              <a:rPr lang="zh-CN" altLang="en-US" sz="1100" b="1" dirty="0">
                <a:latin typeface="+mn-ea"/>
              </a:rPr>
              <a:t>解题步骤：</a:t>
            </a:r>
            <a:endParaRPr lang="en-US" altLang="zh-CN" sz="1100" b="1" dirty="0">
              <a:latin typeface="+mn-ea"/>
            </a:endParaRPr>
          </a:p>
          <a:p>
            <a:pPr algn="just">
              <a:lnSpc>
                <a:spcPct val="150000"/>
              </a:lnSpc>
            </a:pPr>
            <a:r>
              <a:rPr lang="zh-CN" altLang="en-US" sz="1100" b="1" dirty="0">
                <a:latin typeface="+mn-ea"/>
              </a:rPr>
              <a:t>问题</a:t>
            </a:r>
            <a:r>
              <a:rPr lang="en-US" altLang="zh-CN" sz="1100" b="1" dirty="0">
                <a:latin typeface="+mn-ea"/>
              </a:rPr>
              <a:t>(1):  </a:t>
            </a:r>
            <a:r>
              <a:rPr lang="zh-CN" altLang="en-US" sz="1100" dirty="0">
                <a:latin typeface="+mn-ea"/>
              </a:rPr>
              <a:t>建立各供应商向各门店运输猪肉的运输规划模型。</a:t>
            </a:r>
          </a:p>
          <a:p>
            <a:pPr algn="just">
              <a:lnSpc>
                <a:spcPct val="150000"/>
              </a:lnSpc>
            </a:pPr>
            <a:r>
              <a:rPr lang="zh-CN" altLang="en-US" sz="1100" b="1" dirty="0">
                <a:latin typeface="+mn-ea"/>
              </a:rPr>
              <a:t>第一步，</a:t>
            </a:r>
            <a:r>
              <a:rPr lang="zh-CN" altLang="en-US" sz="1100" dirty="0">
                <a:latin typeface="+mn-ea"/>
              </a:rPr>
              <a:t>建立运输规划模型。</a:t>
            </a:r>
            <a:endParaRPr lang="en-US" altLang="zh-CN" sz="1100" dirty="0">
              <a:latin typeface="+mn-ea"/>
            </a:endParaRPr>
          </a:p>
          <a:p>
            <a:pPr algn="just">
              <a:lnSpc>
                <a:spcPct val="150000"/>
              </a:lnSpc>
            </a:pPr>
            <a:endParaRPr lang="en-US" altLang="zh-CN" sz="1100" dirty="0">
              <a:latin typeface="+mn-ea"/>
            </a:endParaRPr>
          </a:p>
          <a:p>
            <a:pPr algn="just">
              <a:lnSpc>
                <a:spcPct val="150000"/>
              </a:lnSpc>
            </a:pPr>
            <a:endParaRPr lang="en-US" altLang="zh-CN" sz="1100" dirty="0">
              <a:latin typeface="+mn-ea"/>
            </a:endParaRPr>
          </a:p>
          <a:p>
            <a:pPr algn="just">
              <a:lnSpc>
                <a:spcPct val="150000"/>
              </a:lnSpc>
            </a:pPr>
            <a:endParaRPr lang="en-US" altLang="zh-CN" sz="1100" dirty="0"/>
          </a:p>
        </p:txBody>
      </p:sp>
      <p:pic>
        <p:nvPicPr>
          <p:cNvPr id="12" name="图片 11">
            <a:extLst>
              <a:ext uri="{FF2B5EF4-FFF2-40B4-BE49-F238E27FC236}">
                <a16:creationId xmlns:a16="http://schemas.microsoft.com/office/drawing/2014/main" id="{21958FC7-9716-49F3-9C85-DDF92FCBD5D6}"/>
              </a:ext>
            </a:extLst>
          </p:cNvPr>
          <p:cNvPicPr>
            <a:picLocks/>
          </p:cNvPicPr>
          <p:nvPr/>
        </p:nvPicPr>
        <p:blipFill>
          <a:blip r:embed="rId3" cstate="print"/>
          <a:srcRect/>
          <a:stretch/>
        </p:blipFill>
        <p:spPr>
          <a:xfrm>
            <a:off x="6059729" y="4391943"/>
            <a:ext cx="4863574" cy="1883083"/>
          </a:xfrm>
          <a:prstGeom prst="rect">
            <a:avLst/>
          </a:prstGeom>
          <a:ln>
            <a:solidFill>
              <a:schemeClr val="tx1"/>
            </a:solidFill>
          </a:ln>
        </p:spPr>
      </p:pic>
      <p:sp>
        <p:nvSpPr>
          <p:cNvPr id="14" name="矩形 13">
            <a:extLst>
              <a:ext uri="{FF2B5EF4-FFF2-40B4-BE49-F238E27FC236}">
                <a16:creationId xmlns:a16="http://schemas.microsoft.com/office/drawing/2014/main" id="{FD5ECBE6-0842-4521-BDC7-D7263367E7FE}"/>
              </a:ext>
            </a:extLst>
          </p:cNvPr>
          <p:cNvSpPr/>
          <p:nvPr/>
        </p:nvSpPr>
        <p:spPr>
          <a:xfrm>
            <a:off x="6713676" y="5534017"/>
            <a:ext cx="2554149" cy="452446"/>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4B8594EB-2729-4ABA-AB16-D41CB83C522F}"/>
              </a:ext>
            </a:extLst>
          </p:cNvPr>
          <p:cNvSpPr txBox="1"/>
          <p:nvPr/>
        </p:nvSpPr>
        <p:spPr>
          <a:xfrm>
            <a:off x="887304" y="5663297"/>
            <a:ext cx="5162550" cy="646331"/>
          </a:xfrm>
          <a:prstGeom prst="rect">
            <a:avLst/>
          </a:prstGeom>
          <a:noFill/>
        </p:spPr>
        <p:txBody>
          <a:bodyPr wrap="square" rtlCol="0">
            <a:spAutoFit/>
          </a:bodyPr>
          <a:lstStyle/>
          <a:p>
            <a:r>
              <a:rPr lang="zh-CN" altLang="en-US" dirty="0"/>
              <a:t>红色框框选的就是决策变量区域，</a:t>
            </a:r>
            <a:endParaRPr lang="en-US" altLang="zh-CN" dirty="0"/>
          </a:p>
          <a:p>
            <a:r>
              <a:rPr lang="zh-CN" altLang="en-US" dirty="0"/>
              <a:t>注意在规划求解中添加整数约束 </a:t>
            </a:r>
            <a:r>
              <a:rPr lang="en-US" altLang="zh-CN" dirty="0"/>
              <a:t>int</a:t>
            </a:r>
            <a:endParaRPr lang="zh-CN" altLang="en-US" dirty="0"/>
          </a:p>
        </p:txBody>
      </p:sp>
    </p:spTree>
    <p:extLst>
      <p:ext uri="{BB962C8B-B14F-4D97-AF65-F5344CB8AC3E}">
        <p14:creationId xmlns:p14="http://schemas.microsoft.com/office/powerpoint/2010/main" val="35872736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Step2</a:t>
            </a:r>
            <a:r>
              <a:rPr lang="zh-CN" altLang="en-US" sz="3600" dirty="0">
                <a:latin typeface="宋体" pitchFamily="2" charset="-122"/>
                <a:ea typeface="宋体" pitchFamily="2" charset="-122"/>
              </a:rPr>
              <a:t>：约束与表示</a:t>
            </a:r>
          </a:p>
        </p:txBody>
      </p:sp>
      <p:pic>
        <p:nvPicPr>
          <p:cNvPr id="4" name="图片 3">
            <a:extLst>
              <a:ext uri="{FF2B5EF4-FFF2-40B4-BE49-F238E27FC236}">
                <a16:creationId xmlns:a16="http://schemas.microsoft.com/office/drawing/2014/main" id="{DB795941-4D7C-401B-816A-16CD99FD9095}"/>
              </a:ext>
            </a:extLst>
          </p:cNvPr>
          <p:cNvPicPr>
            <a:picLocks noChangeAspect="1"/>
          </p:cNvPicPr>
          <p:nvPr/>
        </p:nvPicPr>
        <p:blipFill>
          <a:blip r:embed="rId2"/>
          <a:stretch>
            <a:fillRect/>
          </a:stretch>
        </p:blipFill>
        <p:spPr>
          <a:xfrm>
            <a:off x="845302" y="957243"/>
            <a:ext cx="10729991" cy="5324514"/>
          </a:xfrm>
          <a:prstGeom prst="rect">
            <a:avLst/>
          </a:prstGeom>
        </p:spPr>
      </p:pic>
    </p:spTree>
    <p:extLst>
      <p:ext uri="{BB962C8B-B14F-4D97-AF65-F5344CB8AC3E}">
        <p14:creationId xmlns:p14="http://schemas.microsoft.com/office/powerpoint/2010/main" val="37079100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Step2</a:t>
            </a:r>
            <a:r>
              <a:rPr lang="zh-CN" altLang="en-US" sz="3600" dirty="0">
                <a:latin typeface="宋体" pitchFamily="2" charset="-122"/>
                <a:ea typeface="宋体" pitchFamily="2" charset="-122"/>
              </a:rPr>
              <a:t>：约束与表示</a:t>
            </a:r>
          </a:p>
        </p:txBody>
      </p:sp>
      <p:pic>
        <p:nvPicPr>
          <p:cNvPr id="3" name="图片 2">
            <a:extLst>
              <a:ext uri="{FF2B5EF4-FFF2-40B4-BE49-F238E27FC236}">
                <a16:creationId xmlns:a16="http://schemas.microsoft.com/office/drawing/2014/main" id="{348B6913-F785-47D2-835E-FDC4953C9A09}"/>
              </a:ext>
            </a:extLst>
          </p:cNvPr>
          <p:cNvPicPr>
            <a:picLocks noChangeAspect="1"/>
          </p:cNvPicPr>
          <p:nvPr/>
        </p:nvPicPr>
        <p:blipFill>
          <a:blip r:embed="rId2"/>
          <a:stretch>
            <a:fillRect/>
          </a:stretch>
        </p:blipFill>
        <p:spPr>
          <a:xfrm>
            <a:off x="840543" y="1031061"/>
            <a:ext cx="10510914" cy="5519778"/>
          </a:xfrm>
          <a:prstGeom prst="rect">
            <a:avLst/>
          </a:prstGeom>
        </p:spPr>
      </p:pic>
    </p:spTree>
    <p:extLst>
      <p:ext uri="{BB962C8B-B14F-4D97-AF65-F5344CB8AC3E}">
        <p14:creationId xmlns:p14="http://schemas.microsoft.com/office/powerpoint/2010/main" val="6713928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Step3</a:t>
            </a:r>
            <a:r>
              <a:rPr lang="zh-CN" altLang="en-US" sz="3600" dirty="0">
                <a:latin typeface="宋体" pitchFamily="2" charset="-122"/>
                <a:ea typeface="宋体" pitchFamily="2" charset="-122"/>
              </a:rPr>
              <a:t>：保存模型</a:t>
            </a:r>
          </a:p>
        </p:txBody>
      </p:sp>
      <p:pic>
        <p:nvPicPr>
          <p:cNvPr id="4" name="图片 3">
            <a:extLst>
              <a:ext uri="{FF2B5EF4-FFF2-40B4-BE49-F238E27FC236}">
                <a16:creationId xmlns:a16="http://schemas.microsoft.com/office/drawing/2014/main" id="{395430CA-EAF7-4EA1-8679-E285B0FCB154}"/>
              </a:ext>
            </a:extLst>
          </p:cNvPr>
          <p:cNvPicPr>
            <a:picLocks noChangeAspect="1"/>
          </p:cNvPicPr>
          <p:nvPr/>
        </p:nvPicPr>
        <p:blipFill>
          <a:blip r:embed="rId2"/>
          <a:stretch>
            <a:fillRect/>
          </a:stretch>
        </p:blipFill>
        <p:spPr>
          <a:xfrm>
            <a:off x="0" y="808096"/>
            <a:ext cx="12192000" cy="5524500"/>
          </a:xfrm>
          <a:prstGeom prst="rect">
            <a:avLst/>
          </a:prstGeom>
        </p:spPr>
      </p:pic>
      <p:pic>
        <p:nvPicPr>
          <p:cNvPr id="7" name="图片 6">
            <a:extLst>
              <a:ext uri="{FF2B5EF4-FFF2-40B4-BE49-F238E27FC236}">
                <a16:creationId xmlns:a16="http://schemas.microsoft.com/office/drawing/2014/main" id="{21CD1EDC-7890-4856-87D6-7DE41C94BD59}"/>
              </a:ext>
            </a:extLst>
          </p:cNvPr>
          <p:cNvPicPr>
            <a:picLocks noChangeAspect="1"/>
          </p:cNvPicPr>
          <p:nvPr/>
        </p:nvPicPr>
        <p:blipFill>
          <a:blip r:embed="rId3"/>
          <a:stretch>
            <a:fillRect/>
          </a:stretch>
        </p:blipFill>
        <p:spPr>
          <a:xfrm>
            <a:off x="269066" y="3981443"/>
            <a:ext cx="4367244" cy="1771663"/>
          </a:xfrm>
          <a:prstGeom prst="rect">
            <a:avLst/>
          </a:prstGeom>
        </p:spPr>
      </p:pic>
    </p:spTree>
    <p:extLst>
      <p:ext uri="{BB962C8B-B14F-4D97-AF65-F5344CB8AC3E}">
        <p14:creationId xmlns:p14="http://schemas.microsoft.com/office/powerpoint/2010/main" val="882593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Step3</a:t>
            </a:r>
            <a:r>
              <a:rPr lang="zh-CN" altLang="en-US" sz="3600" dirty="0">
                <a:latin typeface="宋体" pitchFamily="2" charset="-122"/>
                <a:ea typeface="宋体" pitchFamily="2" charset="-122"/>
              </a:rPr>
              <a:t>：保存模型</a:t>
            </a:r>
          </a:p>
        </p:txBody>
      </p:sp>
      <p:pic>
        <p:nvPicPr>
          <p:cNvPr id="4" name="图片 3">
            <a:extLst>
              <a:ext uri="{FF2B5EF4-FFF2-40B4-BE49-F238E27FC236}">
                <a16:creationId xmlns:a16="http://schemas.microsoft.com/office/drawing/2014/main" id="{395430CA-EAF7-4EA1-8679-E285B0FCB154}"/>
              </a:ext>
            </a:extLst>
          </p:cNvPr>
          <p:cNvPicPr>
            <a:picLocks noChangeAspect="1"/>
          </p:cNvPicPr>
          <p:nvPr/>
        </p:nvPicPr>
        <p:blipFill>
          <a:blip r:embed="rId2"/>
          <a:stretch>
            <a:fillRect/>
          </a:stretch>
        </p:blipFill>
        <p:spPr>
          <a:xfrm>
            <a:off x="0" y="808096"/>
            <a:ext cx="12192000" cy="5524500"/>
          </a:xfrm>
          <a:prstGeom prst="rect">
            <a:avLst/>
          </a:prstGeom>
        </p:spPr>
      </p:pic>
      <p:pic>
        <p:nvPicPr>
          <p:cNvPr id="7" name="图片 6">
            <a:extLst>
              <a:ext uri="{FF2B5EF4-FFF2-40B4-BE49-F238E27FC236}">
                <a16:creationId xmlns:a16="http://schemas.microsoft.com/office/drawing/2014/main" id="{21CD1EDC-7890-4856-87D6-7DE41C94BD59}"/>
              </a:ext>
            </a:extLst>
          </p:cNvPr>
          <p:cNvPicPr>
            <a:picLocks noChangeAspect="1"/>
          </p:cNvPicPr>
          <p:nvPr/>
        </p:nvPicPr>
        <p:blipFill>
          <a:blip r:embed="rId3"/>
          <a:stretch>
            <a:fillRect/>
          </a:stretch>
        </p:blipFill>
        <p:spPr>
          <a:xfrm>
            <a:off x="269066" y="3981443"/>
            <a:ext cx="4367244" cy="1771663"/>
          </a:xfrm>
          <a:prstGeom prst="rect">
            <a:avLst/>
          </a:prstGeom>
        </p:spPr>
      </p:pic>
    </p:spTree>
    <p:extLst>
      <p:ext uri="{BB962C8B-B14F-4D97-AF65-F5344CB8AC3E}">
        <p14:creationId xmlns:p14="http://schemas.microsoft.com/office/powerpoint/2010/main" val="21272909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流动资金管理</a:t>
            </a:r>
          </a:p>
        </p:txBody>
      </p:sp>
      <p:pic>
        <p:nvPicPr>
          <p:cNvPr id="3" name="图片 2">
            <a:extLst>
              <a:ext uri="{FF2B5EF4-FFF2-40B4-BE49-F238E27FC236}">
                <a16:creationId xmlns:a16="http://schemas.microsoft.com/office/drawing/2014/main" id="{F366DC5B-BD53-4538-8256-EC0ACC02E3B5}"/>
              </a:ext>
            </a:extLst>
          </p:cNvPr>
          <p:cNvPicPr>
            <a:picLocks noChangeAspect="1"/>
          </p:cNvPicPr>
          <p:nvPr/>
        </p:nvPicPr>
        <p:blipFill>
          <a:blip r:embed="rId2"/>
          <a:stretch>
            <a:fillRect/>
          </a:stretch>
        </p:blipFill>
        <p:spPr>
          <a:xfrm>
            <a:off x="1724027" y="1007189"/>
            <a:ext cx="8924925" cy="4044107"/>
          </a:xfrm>
          <a:prstGeom prst="rect">
            <a:avLst/>
          </a:prstGeom>
        </p:spPr>
      </p:pic>
      <p:sp>
        <p:nvSpPr>
          <p:cNvPr id="2" name="文本框 1">
            <a:extLst>
              <a:ext uri="{FF2B5EF4-FFF2-40B4-BE49-F238E27FC236}">
                <a16:creationId xmlns:a16="http://schemas.microsoft.com/office/drawing/2014/main" id="{C2D6BD98-92B1-4FC5-90F4-6AD039895F48}"/>
              </a:ext>
            </a:extLst>
          </p:cNvPr>
          <p:cNvSpPr txBox="1"/>
          <p:nvPr/>
        </p:nvSpPr>
        <p:spPr>
          <a:xfrm>
            <a:off x="1724027" y="5250390"/>
            <a:ext cx="6805612"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可变单元格是</a:t>
            </a:r>
            <a:r>
              <a:rPr lang="en-US" altLang="zh-CN" dirty="0"/>
              <a:t>1-6</a:t>
            </a:r>
            <a:r>
              <a:rPr lang="zh-CN" altLang="en-US" dirty="0"/>
              <a:t>月份的三种产品购买量</a:t>
            </a:r>
            <a:endParaRPr lang="en-US" altLang="zh-CN" dirty="0"/>
          </a:p>
          <a:p>
            <a:pPr marL="285750" indent="-285750">
              <a:buFont typeface="Arial" panose="020B0604020202020204" pitchFamily="34" charset="0"/>
              <a:buChar char="•"/>
            </a:pPr>
            <a:r>
              <a:rPr lang="zh-CN" altLang="en-US" dirty="0"/>
              <a:t>到期总回报率 </a:t>
            </a:r>
            <a:r>
              <a:rPr lang="en-US" altLang="zh-CN" dirty="0"/>
              <a:t>= (1+</a:t>
            </a:r>
            <a:r>
              <a:rPr lang="zh-CN" altLang="en-US" dirty="0"/>
              <a:t>年回报率</a:t>
            </a:r>
            <a:r>
              <a:rPr lang="en-US" altLang="zh-CN" dirty="0"/>
              <a:t>/12)^</a:t>
            </a:r>
            <a:r>
              <a:rPr lang="zh-CN" altLang="en-US" dirty="0"/>
              <a:t>期数</a:t>
            </a:r>
            <a:r>
              <a:rPr lang="en-US" altLang="zh-CN" dirty="0"/>
              <a:t>-1</a:t>
            </a:r>
          </a:p>
          <a:p>
            <a:pPr marL="285750" indent="-285750">
              <a:buFont typeface="Arial" panose="020B0604020202020204" pitchFamily="34" charset="0"/>
              <a:buChar char="•"/>
            </a:pPr>
            <a:r>
              <a:rPr lang="zh-CN" altLang="en-US" dirty="0"/>
              <a:t>第</a:t>
            </a:r>
            <a:r>
              <a:rPr lang="en-US" altLang="zh-CN" dirty="0"/>
              <a:t>k</a:t>
            </a:r>
            <a:r>
              <a:rPr lang="zh-CN" altLang="en-US" dirty="0"/>
              <a:t>月的到期本金 </a:t>
            </a:r>
            <a:r>
              <a:rPr lang="en-US" altLang="zh-CN" dirty="0"/>
              <a:t>= x_(k-1)1+ x_(k-2)2+ x_(k-3)3</a:t>
            </a:r>
          </a:p>
          <a:p>
            <a:pPr marL="285750" indent="-285750">
              <a:buFont typeface="Arial" panose="020B0604020202020204" pitchFamily="34" charset="0"/>
              <a:buChar char="•"/>
            </a:pPr>
            <a:r>
              <a:rPr lang="zh-CN" altLang="en-US" dirty="0"/>
              <a:t>第</a:t>
            </a:r>
            <a:r>
              <a:rPr lang="en-US" altLang="zh-CN" dirty="0"/>
              <a:t>k</a:t>
            </a:r>
            <a:r>
              <a:rPr lang="zh-CN" altLang="en-US" dirty="0"/>
              <a:t>月的到期收益 </a:t>
            </a:r>
            <a:r>
              <a:rPr lang="en-US" altLang="zh-CN" dirty="0"/>
              <a:t>= (x_(k-1)1, x_(k-2)2, x_(k-3)3) · (r_1, r_2, r_3)</a:t>
            </a:r>
          </a:p>
        </p:txBody>
      </p:sp>
      <p:sp>
        <p:nvSpPr>
          <p:cNvPr id="8" name="文本框 7">
            <a:extLst>
              <a:ext uri="{FF2B5EF4-FFF2-40B4-BE49-F238E27FC236}">
                <a16:creationId xmlns:a16="http://schemas.microsoft.com/office/drawing/2014/main" id="{ADD21FBD-B953-4F0E-96DD-051773A76DA4}"/>
              </a:ext>
            </a:extLst>
          </p:cNvPr>
          <p:cNvSpPr txBox="1"/>
          <p:nvPr/>
        </p:nvSpPr>
        <p:spPr>
          <a:xfrm>
            <a:off x="3489722" y="143328"/>
            <a:ext cx="6188868"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err="1"/>
              <a:t>x_ij</a:t>
            </a:r>
            <a:r>
              <a:rPr lang="zh-CN" altLang="en-US" dirty="0"/>
              <a:t>表示在第</a:t>
            </a:r>
            <a:r>
              <a:rPr lang="en-US" altLang="zh-CN" dirty="0" err="1"/>
              <a:t>i</a:t>
            </a:r>
            <a:r>
              <a:rPr lang="zh-CN" altLang="en-US" dirty="0"/>
              <a:t>月购买期数为</a:t>
            </a:r>
            <a:r>
              <a:rPr lang="en-US" altLang="zh-CN" dirty="0"/>
              <a:t>j</a:t>
            </a:r>
            <a:r>
              <a:rPr lang="zh-CN" altLang="en-US" dirty="0"/>
              <a:t>月的产品</a:t>
            </a:r>
            <a:endParaRPr lang="en-US" altLang="zh-CN" dirty="0"/>
          </a:p>
          <a:p>
            <a:pPr marL="285750" indent="-285750">
              <a:buFont typeface="Arial" panose="020B0604020202020204" pitchFamily="34" charset="0"/>
              <a:buChar char="•"/>
            </a:pPr>
            <a:r>
              <a:rPr lang="en-US" altLang="zh-CN" dirty="0" err="1"/>
              <a:t>r_j</a:t>
            </a:r>
            <a:r>
              <a:rPr lang="zh-CN" altLang="en-US" dirty="0"/>
              <a:t>表示期数为</a:t>
            </a:r>
            <a:r>
              <a:rPr lang="en-US" altLang="zh-CN" dirty="0"/>
              <a:t>j</a:t>
            </a:r>
            <a:r>
              <a:rPr lang="zh-CN" altLang="en-US" dirty="0"/>
              <a:t>的产品的到期回报率</a:t>
            </a:r>
          </a:p>
        </p:txBody>
      </p:sp>
    </p:spTree>
    <p:extLst>
      <p:ext uri="{BB962C8B-B14F-4D97-AF65-F5344CB8AC3E}">
        <p14:creationId xmlns:p14="http://schemas.microsoft.com/office/powerpoint/2010/main" val="22939196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7067</Words>
  <Application>Microsoft Office PowerPoint</Application>
  <PresentationFormat>宽屏</PresentationFormat>
  <Paragraphs>449</Paragraphs>
  <Slides>113</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113</vt:i4>
      </vt:variant>
    </vt:vector>
  </HeadingPairs>
  <TitlesOfParts>
    <vt:vector size="126" baseType="lpstr">
      <vt:lpstr>??</vt:lpstr>
      <vt:lpstr>Arial Unicode MS</vt:lpstr>
      <vt:lpstr>等线</vt:lpstr>
      <vt:lpstr>等线 Light</vt:lpstr>
      <vt:lpstr>宋体</vt:lpstr>
      <vt:lpstr>Arial</vt:lpstr>
      <vt:lpstr>Calibri</vt:lpstr>
      <vt:lpstr>Cambria Math</vt:lpstr>
      <vt:lpstr>Times New Roman</vt:lpstr>
      <vt:lpstr>Trebuchet MS</vt:lpstr>
      <vt:lpstr>Office 主题​​</vt:lpstr>
      <vt:lpstr>公式</vt:lpstr>
      <vt:lpstr>Equation.3</vt:lpstr>
      <vt:lpstr>One Last JGJ</vt:lpstr>
      <vt:lpstr>Part 1</vt:lpstr>
      <vt:lpstr>开启 Microsoft Query 功能 </vt:lpstr>
      <vt:lpstr>取消 “使用” 前的勾进入“高手模式” </vt:lpstr>
      <vt:lpstr>创建新数据源</vt:lpstr>
      <vt:lpstr>如果遇到了“无法选中对象”</vt:lpstr>
      <vt:lpstr>养成跳到最后一个结果观察查询总数的习惯</vt:lpstr>
      <vt:lpstr>确保 ER 图中所有表都是被连接的 </vt:lpstr>
      <vt:lpstr>订购明细.单价*数量*(1-折扣)</vt:lpstr>
      <vt:lpstr>Part 2</vt:lpstr>
      <vt:lpstr>好习惯：为数据透视表查询数据时一定要把.dqy文件保存</vt:lpstr>
      <vt:lpstr>柱状图宽度调节</vt:lpstr>
      <vt:lpstr>填充数据透视表中的空值</vt:lpstr>
      <vt:lpstr>把“订购日期”拖到数据透视表中自动出现“年”与“季度”字段</vt:lpstr>
      <vt:lpstr>熟练使用“分类汇总”、“总计”、“报表布局”调整数据透视表格式</vt:lpstr>
      <vt:lpstr>Excel bug：从右下拖到左上无法分组</vt:lpstr>
      <vt:lpstr>开始-&gt;条件格式-&gt;数据条</vt:lpstr>
      <vt:lpstr>注意检查数据透视表的查询是否正确1</vt:lpstr>
      <vt:lpstr>注意检查数据透视表的查询是否正确2</vt:lpstr>
      <vt:lpstr>注意检查数据透视表的查询是否正确3</vt:lpstr>
      <vt:lpstr>其他坑点</vt:lpstr>
      <vt:lpstr>Part 3</vt:lpstr>
      <vt:lpstr>获取年份</vt:lpstr>
      <vt:lpstr>获取所有不重复的值</vt:lpstr>
      <vt:lpstr>index(数据源，行号，列号)  获取一个区域中的指定元素 </vt:lpstr>
      <vt:lpstr>控件选择“全部”，就把相应的条件设置为空</vt:lpstr>
      <vt:lpstr>图表的标题可以指定到excel中的某个单元格上</vt:lpstr>
      <vt:lpstr>=DATE(YEAR([@订购日期]),MONTH([@订购日期]),1) 构建日期</vt:lpstr>
      <vt:lpstr>Excel bug：dsum的条件区匹配字符时只要从左往右字符一致就算是匹配成功</vt:lpstr>
      <vt:lpstr>找前10大客户</vt:lpstr>
      <vt:lpstr>找前10大客户</vt:lpstr>
      <vt:lpstr>像图中显示选中月份前一个月与后一个月的销售额柱状图0</vt:lpstr>
      <vt:lpstr>像图中显示选中月份前一个月与后一个月的销售额柱状图1</vt:lpstr>
      <vt:lpstr>像图中显示选中月份前一个月与后一个月的销售额柱状图2</vt:lpstr>
      <vt:lpstr>饼图、气泡图显示引导线</vt:lpstr>
      <vt:lpstr>气泡图可以为数据标签添加单元格中的值</vt:lpstr>
      <vt:lpstr>Count只统计有数值的单元格数目 Counta统计所有被编辑过的单元格数目</vt:lpstr>
      <vt:lpstr>Part4</vt:lpstr>
      <vt:lpstr>移动平均模型</vt:lpstr>
      <vt:lpstr>移动平均模型</vt:lpstr>
      <vt:lpstr>指数平滑模型</vt:lpstr>
      <vt:lpstr>指数平滑模型</vt:lpstr>
      <vt:lpstr>指数平滑模型</vt:lpstr>
      <vt:lpstr>趋势预测模型</vt:lpstr>
      <vt:lpstr>线性趋势预测模型</vt:lpstr>
      <vt:lpstr>非线性趋势预测模型</vt:lpstr>
      <vt:lpstr>季节指数预测模型 Y=趋势成分*不规则成分*季节成分</vt:lpstr>
      <vt:lpstr>PowerPoint 演示文稿</vt:lpstr>
      <vt:lpstr>PowerPoint 演示文稿</vt:lpstr>
      <vt:lpstr>PowerPoint 演示文稿</vt:lpstr>
      <vt:lpstr>PowerPoint 演示文稿</vt:lpstr>
      <vt:lpstr>PowerPoint 演示文稿</vt:lpstr>
      <vt:lpstr>PowerPoint 演示文稿</vt:lpstr>
      <vt:lpstr>Part5</vt:lpstr>
      <vt:lpstr>PowerPoint 演示文稿</vt:lpstr>
      <vt:lpstr>PowerPoint 演示文稿</vt:lpstr>
      <vt:lpstr>PowerPoint 演示文稿</vt:lpstr>
      <vt:lpstr>Part6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Part7</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Last JGJ</dc:title>
  <dc:creator>Tunson Ebony</dc:creator>
  <cp:lastModifiedBy>Tunson Ebony</cp:lastModifiedBy>
  <cp:revision>57</cp:revision>
  <dcterms:created xsi:type="dcterms:W3CDTF">2026-05-06T12:50:17Z</dcterms:created>
  <dcterms:modified xsi:type="dcterms:W3CDTF">2026-06-20T07:44:08Z</dcterms:modified>
</cp:coreProperties>
</file>