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6" r:id="rId20"/>
    <p:sldId id="272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9" r:id="rId53"/>
    <p:sldId id="308" r:id="rId54"/>
    <p:sldId id="310" r:id="rId55"/>
    <p:sldId id="311" r:id="rId56"/>
    <p:sldId id="312" r:id="rId5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unson Ebony" initials="TE" lastIdx="3" clrIdx="0">
    <p:extLst>
      <p:ext uri="{19B8F6BF-5375-455C-9EA6-DF929625EA0E}">
        <p15:presenceInfo xmlns:p15="http://schemas.microsoft.com/office/powerpoint/2012/main" userId="d8299e3f28fc716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1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B5336-6A1F-403E-8F22-1C74B9388531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45986-7256-498E-A8B4-3AF4BCC36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102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D68F7-223D-4F4E-8882-A91373F2F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344AC9-284C-41D4-A06A-6F9747DD9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CC99C9-1DF3-4D98-A5C0-4510396B6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6E547A-AF30-4A5E-B11A-4511FA48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46DFB5-F0BE-440B-B2FA-6F7E5090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72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4627E-2097-477B-85E8-837F6ACB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ED9E76-08F5-4FA3-AFA6-B3D3D3B61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9E1953-AB6F-4DC1-A638-7D48E332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65E3EF-9B9B-476C-A563-0E09EFAD1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83F053-13FF-4BD4-B454-7DEC029B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03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FBC8D-6956-4A4E-868E-20C5AB939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A97249-89A4-4F2A-9B23-5CE6F094D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B68E38-A6C8-4D51-922B-364E5398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B9ACAE-88E0-4CED-88B8-F8C8B02A5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B222A2-F1EC-47B3-A124-1CF4E9B5D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8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3CC6E9-A5B6-4F60-888C-86C6D2B16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B0F217-7F56-4B26-AAD1-61D24FE3B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BDACE5-B52B-48DD-8012-8C2B2A02B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779245-8E0E-46C5-8742-13AEC6E3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96C279-BEC6-4CDF-BE6F-1C28671F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F109DF-F05C-4910-A828-35ECC656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0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6F22D-134B-468A-B7DA-0E7E84BA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40B21F-DDB8-45D7-81DD-B72226E6F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6F3BED-CC4F-4078-AC90-4B2C1102E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59AA7F-9A4D-4EE8-847B-F5E2A8E197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4F2553-EA8C-4713-BDA5-30F037834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931A57-76DA-41B0-AADA-80B8E9D34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787810-5D17-42A1-998F-C6E2B1F00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754C992-E2BF-485F-9DB6-4D6248C7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16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DB7A56-9FF9-4FD1-A04F-3F2D89272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8EBB91-F109-4691-89B9-0F98A855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05151-CC37-48DE-B313-2F61D417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E23689-B1FC-4C2D-9BCB-3FFB1A3A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85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4287D0-CA94-413D-841F-4470718CA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6B2333-734F-4352-A184-D00EEB423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B44D18-F3FE-4684-96E7-6145BE83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33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3D38B-08DF-4448-9F78-C61B0CF97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5D4490-BFBA-42EB-A68F-787A91AF7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7CA574-64AE-4C5E-8700-D8C03B329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CF8BDD-538B-422B-A548-A2A2CC617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C3E524-5A6E-4060-A7DB-7A223538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792AEB-08D5-4F42-8ED0-BF025E2FD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201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66923-BA1A-4871-A503-5E39E2AB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994CFA-4B3B-4309-9E43-7AB03DFC9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9FE2BC-1E60-46DE-8C83-F664CF9EB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7F7AFE-6F6B-4768-8186-C68D09E1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B91D22-9FE2-40C0-B627-1AE8A5085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DA6443-3402-43A2-BF32-9DD08DEE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69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7C168-2C3B-49FB-9152-6F1EA20F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0E1B69-5AF5-41DB-9E3F-E40CC2A93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6E491-8B52-4629-81CA-E7E275291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CFD5A4-1A68-47BD-BF15-64C89FD0B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F085A5-025C-44F7-9ACD-1CC7E5D1C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29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7536BE-14E6-404D-A35F-17F8B7D425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636F32-E661-4C69-991F-C4BBE4380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92AE63-5347-476E-9233-23F277CF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D0279-227A-406D-A6F5-0344681E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7CB889-DA66-4E33-A8A8-82A627F89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680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0BB587-EB3B-4458-9DBB-2A43BDDE0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8219C0-4EA5-430D-9FA7-CDAEC8A62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E7A9B7-D334-4D48-9481-3DF3E661DE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C7C7A-EA8E-4CAB-8F59-20A821E58524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287770-9BA7-426C-8757-B3E9FAE143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137A55-612F-473F-B3DD-EB1AE0156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72821-6B0B-43E1-8A6F-35D6BDBDF9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94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6AA48-4864-4815-88E8-193AAEF5A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One Last JGJ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BDFBCB-0C6D-4266-97E5-4C2B6A7E56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222222"/>
                </a:solidFill>
                <a:effectLst/>
                <a:latin typeface="??"/>
              </a:rPr>
              <a:t>经济管理中的计算机应用考试注意事项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78741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3E21B-5B36-4D17-8829-35411F99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 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2AACA5-64C9-4EA6-88B9-94345CC9B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数据获取与数据库查询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606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906BA4-0B77-4095-AFF0-C3419D13A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开启 </a:t>
            </a:r>
            <a:r>
              <a:rPr lang="en-US" altLang="zh-CN" b="1" dirty="0"/>
              <a:t>Microsoft Query </a:t>
            </a:r>
            <a:r>
              <a:rPr lang="zh-CN" altLang="en-US" b="1" dirty="0"/>
              <a:t>功能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6AE380-C909-4926-9C12-E5FA36A93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853" y="1275173"/>
            <a:ext cx="5764616" cy="466906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613570B-8230-48FA-A923-F0DA749D1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218330"/>
            <a:ext cx="81644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路径：文件 -&gt; 选项 -&gt; 数据 -&gt; 把“显示旧数据导入向导” 全勾上 -&gt; 确定 </a:t>
            </a:r>
            <a:endParaRPr kumimoji="0" lang="zh-CN" altLang="zh-CN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52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4F6C0-287A-4655-A457-08843DF84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取消 “使用” 前的勾进入“高手模式”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78085E-D863-4A74-81E2-02C7B931D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77" y="1490369"/>
            <a:ext cx="868680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8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4F6C0-287A-4655-A457-08843DF84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创建新数据源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78085E-D863-4A74-81E2-02C7B931D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277" y="1690688"/>
            <a:ext cx="868680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192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3E441-4BC9-4D8E-8C97-43ACAD63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64594" cy="1325563"/>
          </a:xfrm>
        </p:spPr>
        <p:txBody>
          <a:bodyPr/>
          <a:lstStyle/>
          <a:p>
            <a:r>
              <a:rPr lang="zh-CN" altLang="en-US" b="1" dirty="0"/>
              <a:t>养成跳到最后一个结果观察查询总数的习惯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B5EBE3-55D4-4C05-859F-3D883DC7E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089" y="1535032"/>
            <a:ext cx="9117100" cy="514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26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2BBD5-FBEA-44DE-8756-A9196A79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确保 </a:t>
            </a:r>
            <a:r>
              <a:rPr lang="en-US" altLang="zh-CN" b="1" dirty="0"/>
              <a:t>ER </a:t>
            </a:r>
            <a:r>
              <a:rPr lang="zh-CN" altLang="en-US" b="1" dirty="0"/>
              <a:t>图中所有表都是被连接的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6F2F5B-7214-4F7A-9BB0-43FE18962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432" y="1294227"/>
            <a:ext cx="8370647" cy="449094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59527B5-F0EC-4ABF-8476-EBE55B31622A}"/>
              </a:ext>
            </a:extLst>
          </p:cNvPr>
          <p:cNvSpPr txBox="1"/>
          <p:nvPr/>
        </p:nvSpPr>
        <p:spPr>
          <a:xfrm>
            <a:off x="838200" y="6182751"/>
            <a:ext cx="10289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NorthWind</a:t>
            </a:r>
            <a:r>
              <a:rPr lang="zh-CN" altLang="en-US" dirty="0"/>
              <a:t>中的运货商和所有的表都没有连接关系。其他的表如果未连接，说明表添加的时候就错了</a:t>
            </a:r>
          </a:p>
        </p:txBody>
      </p:sp>
    </p:spTree>
    <p:extLst>
      <p:ext uri="{BB962C8B-B14F-4D97-AF65-F5344CB8AC3E}">
        <p14:creationId xmlns:p14="http://schemas.microsoft.com/office/powerpoint/2010/main" val="17629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2BBD5-FBEA-44DE-8756-A9196A794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863"/>
            <a:ext cx="10515600" cy="1325563"/>
          </a:xfrm>
        </p:spPr>
        <p:txBody>
          <a:bodyPr/>
          <a:lstStyle/>
          <a:p>
            <a:r>
              <a:rPr lang="zh-CN" altLang="en-US" b="1" dirty="0"/>
              <a:t>订购明细</a:t>
            </a:r>
            <a:r>
              <a:rPr lang="en-US" altLang="zh-CN" b="1" dirty="0"/>
              <a:t>.</a:t>
            </a:r>
            <a:r>
              <a:rPr lang="zh-CN" altLang="en-US" b="1" dirty="0"/>
              <a:t>单价</a:t>
            </a:r>
            <a:r>
              <a:rPr lang="en-US" altLang="zh-CN" b="1" dirty="0"/>
              <a:t>*</a:t>
            </a:r>
            <a:r>
              <a:rPr lang="zh-CN" altLang="en-US" b="1" dirty="0"/>
              <a:t>数量</a:t>
            </a:r>
            <a:r>
              <a:rPr lang="en-US" altLang="zh-CN" b="1" dirty="0"/>
              <a:t>*(1-</a:t>
            </a:r>
            <a:r>
              <a:rPr lang="zh-CN" altLang="en-US" b="1" dirty="0"/>
              <a:t>折扣</a:t>
            </a:r>
            <a:r>
              <a:rPr lang="en-US" altLang="zh-CN" b="1" dirty="0"/>
              <a:t>)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C18542-0530-4A8A-B6F0-0A34AEA54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254" y="1451823"/>
            <a:ext cx="8276093" cy="440163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605393E-7A40-4540-B99C-1C8BC0C87407}"/>
              </a:ext>
            </a:extLst>
          </p:cNvPr>
          <p:cNvSpPr txBox="1"/>
          <p:nvPr/>
        </p:nvSpPr>
        <p:spPr>
          <a:xfrm>
            <a:off x="991772" y="6175717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产品表中也有单价，注意以订单明细中的为准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5093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EDE591-5C61-45E7-BF42-18E74DB60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 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86D409-9805-4A22-B9B4-6829DDA12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数据透视表</a:t>
            </a:r>
          </a:p>
        </p:txBody>
      </p:sp>
    </p:spTree>
    <p:extLst>
      <p:ext uri="{BB962C8B-B14F-4D97-AF65-F5344CB8AC3E}">
        <p14:creationId xmlns:p14="http://schemas.microsoft.com/office/powerpoint/2010/main" val="453749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B5179-1C26-4B1E-926C-E8EA00612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好习惯：为数据透视表查询数据时一定要把</a:t>
            </a:r>
            <a:r>
              <a:rPr lang="en-US" altLang="zh-CN" b="1" dirty="0"/>
              <a:t>.</a:t>
            </a:r>
            <a:r>
              <a:rPr lang="en-US" altLang="zh-CN" b="1" dirty="0" err="1"/>
              <a:t>dqy</a:t>
            </a:r>
            <a:r>
              <a:rPr lang="zh-CN" altLang="en-US" b="1" dirty="0"/>
              <a:t>文件保存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24F001-ACB9-4873-8BB4-799E5C452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88" y="2189360"/>
            <a:ext cx="6295292" cy="31219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5FCE222-18BB-4897-8A26-85B9CF025290}"/>
              </a:ext>
            </a:extLst>
          </p:cNvPr>
          <p:cNvSpPr txBox="1"/>
          <p:nvPr/>
        </p:nvSpPr>
        <p:spPr>
          <a:xfrm>
            <a:off x="838200" y="5809957"/>
            <a:ext cx="6417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数据透视表查询结果无法回溯，唯一的办法是把查询记录保存</a:t>
            </a:r>
            <a:endParaRPr lang="en-US" altLang="zh-CN" dirty="0"/>
          </a:p>
          <a:p>
            <a:r>
              <a:rPr lang="zh-CN" altLang="en-US" dirty="0"/>
              <a:t>在 </a:t>
            </a:r>
            <a:r>
              <a:rPr lang="en-US" altLang="zh-CN" dirty="0"/>
              <a:t>MQ </a:t>
            </a:r>
            <a:r>
              <a:rPr lang="zh-CN" altLang="en-US" dirty="0"/>
              <a:t>中，点“文件”</a:t>
            </a:r>
            <a:r>
              <a:rPr lang="en-US" altLang="zh-CN" dirty="0"/>
              <a:t>-&gt;</a:t>
            </a:r>
            <a:r>
              <a:rPr lang="zh-CN" altLang="en-US" dirty="0"/>
              <a:t>“另存为”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5D7765-3FB5-496B-8598-7B8F6BB91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272294"/>
            <a:ext cx="5235238" cy="295605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A935D5E-8D9B-4CBA-8FB1-EF9E2CA46169}"/>
              </a:ext>
            </a:extLst>
          </p:cNvPr>
          <p:cNvSpPr txBox="1"/>
          <p:nvPr/>
        </p:nvSpPr>
        <p:spPr>
          <a:xfrm>
            <a:off x="7306606" y="5856849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也可以选中数据透视表之后</a:t>
            </a:r>
            <a:r>
              <a:rPr lang="en-US" altLang="zh-CN" dirty="0" err="1"/>
              <a:t>Alt+D+P</a:t>
            </a:r>
            <a:r>
              <a:rPr lang="zh-CN" altLang="en-US" dirty="0"/>
              <a:t>编辑查询</a:t>
            </a:r>
          </a:p>
        </p:txBody>
      </p:sp>
    </p:spTree>
    <p:extLst>
      <p:ext uri="{BB962C8B-B14F-4D97-AF65-F5344CB8AC3E}">
        <p14:creationId xmlns:p14="http://schemas.microsoft.com/office/powerpoint/2010/main" val="3110162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D298D5-1D0C-4596-99A3-85C6BE38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柱状图宽度调节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EEE387-682B-49D7-B314-71EC87F3D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565" y="1789088"/>
            <a:ext cx="9575409" cy="433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20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填充数据透视表中的空值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CE3EAE-931C-425E-BD20-46EEA29B8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820301"/>
            <a:ext cx="7831015" cy="37686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E605160-E522-453E-A7E3-F0C68233DD77}"/>
              </a:ext>
            </a:extLst>
          </p:cNvPr>
          <p:cNvSpPr txBox="1"/>
          <p:nvPr/>
        </p:nvSpPr>
        <p:spPr>
          <a:xfrm>
            <a:off x="675249" y="6056142"/>
            <a:ext cx="7983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右键数据透视表 </a:t>
            </a:r>
            <a:r>
              <a:rPr lang="en-US" altLang="zh-CN" dirty="0"/>
              <a:t>-&gt; </a:t>
            </a:r>
            <a:r>
              <a:rPr lang="zh-CN" altLang="en-US" dirty="0"/>
              <a:t>数据透视表选项 </a:t>
            </a:r>
            <a:r>
              <a:rPr lang="en-US" altLang="zh-CN" dirty="0"/>
              <a:t>-&gt; </a:t>
            </a:r>
            <a:r>
              <a:rPr lang="zh-CN" altLang="en-US" dirty="0"/>
              <a:t>“布局与格式”</a:t>
            </a:r>
          </a:p>
        </p:txBody>
      </p:sp>
    </p:spTree>
    <p:extLst>
      <p:ext uri="{BB962C8B-B14F-4D97-AF65-F5344CB8AC3E}">
        <p14:creationId xmlns:p14="http://schemas.microsoft.com/office/powerpoint/2010/main" val="2017048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把“订购日期”拖到数据透视表中自动出现“年”与“季度”字段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CF345D5-415E-4490-BDFA-B4A987F61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645" y="1757565"/>
            <a:ext cx="8063831" cy="479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02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熟练使用“分类汇总”、“总计”、“报表布局”调整数据透视表格式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A6E8897-B795-49AD-A298-3B9672247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85" y="1848255"/>
            <a:ext cx="7801918" cy="445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78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Excel bug</a:t>
            </a:r>
            <a:r>
              <a:rPr lang="zh-CN" altLang="en-US" dirty="0"/>
              <a:t>：从右下拖到左上无法分组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383FA3-6040-4EA0-AD84-B9B930209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124" y="1522518"/>
            <a:ext cx="4233893" cy="43053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486A9B3-02CA-4450-871E-225EA88E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660" y="1522518"/>
            <a:ext cx="3386162" cy="466728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3CB98C9-7800-4ED9-877B-D35E8A8DC2C4}"/>
              </a:ext>
            </a:extLst>
          </p:cNvPr>
          <p:cNvSpPr txBox="1"/>
          <p:nvPr/>
        </p:nvSpPr>
        <p:spPr>
          <a:xfrm>
            <a:off x="1610751" y="6323428"/>
            <a:ext cx="2560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右下往左上拖无法组合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210708-3826-4C80-AC57-9A886EA093C4}"/>
              </a:ext>
            </a:extLst>
          </p:cNvPr>
          <p:cNvSpPr txBox="1"/>
          <p:nvPr/>
        </p:nvSpPr>
        <p:spPr>
          <a:xfrm>
            <a:off x="7411330" y="6338131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左上往右下拖可以组合</a:t>
            </a:r>
          </a:p>
        </p:txBody>
      </p:sp>
    </p:spTree>
    <p:extLst>
      <p:ext uri="{BB962C8B-B14F-4D97-AF65-F5344CB8AC3E}">
        <p14:creationId xmlns:p14="http://schemas.microsoft.com/office/powerpoint/2010/main" val="1754134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开始</a:t>
            </a:r>
            <a:r>
              <a:rPr lang="en-US" altLang="zh-CN" dirty="0"/>
              <a:t>-&gt;</a:t>
            </a:r>
            <a:r>
              <a:rPr lang="zh-CN" altLang="en-US" dirty="0"/>
              <a:t>条件格式</a:t>
            </a:r>
            <a:r>
              <a:rPr lang="en-US" altLang="zh-CN" dirty="0"/>
              <a:t>-&gt;</a:t>
            </a:r>
            <a:r>
              <a:rPr lang="zh-CN" altLang="en-US" dirty="0"/>
              <a:t>数据条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898D10-5707-47B9-AFE4-E3400B4EC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81" y="1526345"/>
            <a:ext cx="9812639" cy="50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61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注意检查数据透视表的查询是否正确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文本框 5">
            <a:extLst>
              <a:ext uri="{FF2B5EF4-FFF2-40B4-BE49-F238E27FC236}">
                <a16:creationId xmlns:a16="http://schemas.microsoft.com/office/drawing/2014/main" id="{00000000-0008-0000-0100-000006000000}"/>
              </a:ext>
            </a:extLst>
          </p:cNvPr>
          <p:cNvSpPr txBox="1"/>
          <p:nvPr/>
        </p:nvSpPr>
        <p:spPr>
          <a:xfrm>
            <a:off x="838200" y="1503503"/>
            <a:ext cx="7285333" cy="49893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2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题</a:t>
            </a:r>
            <a:r>
              <a:rPr lang="zh-CN" altLang="en-US" sz="1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lang="zh-CN" altLang="en-US" sz="1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分）使用数据透视表和</a:t>
            </a:r>
            <a:r>
              <a:rPr lang="en-US" altLang="zh-CN" sz="1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Microsoft</a:t>
            </a:r>
            <a:r>
              <a:rPr lang="en-US" altLang="zh-CN" sz="1200" b="0" baseline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Query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软件，在不导入数据的情况下，汇总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Northwind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公司两个销售团队的销售情况。</a:t>
            </a:r>
            <a:r>
              <a:rPr lang="zh-CN" altLang="en-US" sz="1200" b="1" i="1">
                <a:latin typeface="宋体" panose="02010600030101010101" pitchFamily="2" charset="-122"/>
                <a:ea typeface="宋体" panose="02010600030101010101" pitchFamily="2" charset="-122"/>
              </a:rPr>
              <a:t>销售团队</a:t>
            </a:r>
            <a:r>
              <a:rPr lang="en-US" altLang="zh-CN" sz="1200" b="1" i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包括：</a:t>
            </a:r>
            <a:r>
              <a:rPr lang="zh-CN" altLang="zh-CN" sz="1200">
                <a:solidFill>
                  <a:schemeClr val="dk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赵军、张雪眉、金士鹏、孙林</a:t>
            </a:r>
            <a:r>
              <a:rPr lang="zh-CN" altLang="en-US" sz="1200">
                <a:solidFill>
                  <a:schemeClr val="dk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等四名员工，其他员工属于</a:t>
            </a:r>
            <a:r>
              <a:rPr lang="zh-CN" altLang="en-US" sz="1200" b="1" i="1">
                <a:solidFill>
                  <a:schemeClr val="dk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销售团队</a:t>
            </a:r>
            <a:r>
              <a:rPr lang="en-US" altLang="zh-CN" sz="1200" b="1" i="1">
                <a:solidFill>
                  <a:schemeClr val="dk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lang="zh-CN" altLang="en-US" sz="1200">
                <a:solidFill>
                  <a:schemeClr val="dk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。请按照客户所在地区、销售团队、雇员，汇总</a:t>
            </a:r>
            <a:r>
              <a:rPr lang="en-US" altLang="zh-CN" sz="1200">
                <a:solidFill>
                  <a:schemeClr val="dk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1997</a:t>
            </a:r>
            <a:r>
              <a:rPr lang="zh-CN" altLang="en-US" sz="1200">
                <a:solidFill>
                  <a:schemeClr val="dk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年和</a:t>
            </a:r>
            <a:r>
              <a:rPr lang="en-US" altLang="zh-CN" sz="1200">
                <a:solidFill>
                  <a:schemeClr val="dk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1998</a:t>
            </a:r>
            <a:r>
              <a:rPr lang="zh-CN" altLang="en-US" sz="1200">
                <a:solidFill>
                  <a:schemeClr val="dk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年的总销售额和订单张数，汇总结果需如下图所示。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汇总数据需要按照雇员的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1997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年销售额从高到低排序，对于没有销售额的项目，需要显示为</a:t>
            </a:r>
            <a:r>
              <a:rPr lang="en-US" altLang="zh-CN" sz="12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200">
                <a:latin typeface="宋体" panose="02010600030101010101" pitchFamily="2" charset="-122"/>
                <a:ea typeface="宋体" panose="02010600030101010101" pitchFamily="2" charset="-122"/>
              </a:rPr>
              <a:t>，并添加地区切片器。</a:t>
            </a:r>
            <a:endParaRPr lang="en-US" altLang="zh-CN" sz="1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0000000-0008-0000-0100-000007000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915" y="2958299"/>
            <a:ext cx="5705315" cy="28124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93506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注意检查数据透视表的查询是否正确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D9D9E5-6AF8-4D1B-BA30-BF462F56D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198010" cy="41735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ECD4436-A879-4DA8-B4B6-3D1C8A7F5249}"/>
              </a:ext>
            </a:extLst>
          </p:cNvPr>
          <p:cNvSpPr txBox="1"/>
          <p:nvPr/>
        </p:nvSpPr>
        <p:spPr>
          <a:xfrm>
            <a:off x="764060" y="6123543"/>
            <a:ext cx="4134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不对销售额求和导致订单</a:t>
            </a:r>
            <a:r>
              <a:rPr lang="en-US" altLang="zh-CN" dirty="0"/>
              <a:t>ID</a:t>
            </a:r>
            <a:r>
              <a:rPr lang="zh-CN" altLang="en-US" dirty="0"/>
              <a:t>被多次计数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D405D7-8937-4FA8-8C42-F5905B916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926" y="2657851"/>
            <a:ext cx="6529435" cy="269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39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注意检查数据透视表的查询是否正确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CD4436-A879-4DA8-B4B6-3D1C8A7F5249}"/>
              </a:ext>
            </a:extLst>
          </p:cNvPr>
          <p:cNvSpPr txBox="1"/>
          <p:nvPr/>
        </p:nvSpPr>
        <p:spPr>
          <a:xfrm>
            <a:off x="764060" y="6123543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求和后只被计数</a:t>
            </a:r>
            <a:r>
              <a:rPr lang="en-US" altLang="zh-CN" dirty="0"/>
              <a:t>1</a:t>
            </a:r>
            <a:r>
              <a:rPr lang="zh-CN" altLang="en-US" dirty="0"/>
              <a:t>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36E1DF-A15C-4278-A739-26EECCDD3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38" y="1545347"/>
            <a:ext cx="7187762" cy="40694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CD010C4-89D1-4A6E-B5FD-929593CB2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26076"/>
            <a:ext cx="5269654" cy="291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49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其他坑点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BF105C-8079-4F44-A7D3-76F17F97A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45" y="1596682"/>
            <a:ext cx="5689815" cy="42554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038E6DF-BCC7-4547-A981-DBC1EB4DA144}"/>
              </a:ext>
            </a:extLst>
          </p:cNvPr>
          <p:cNvSpPr txBox="1"/>
          <p:nvPr/>
        </p:nvSpPr>
        <p:spPr>
          <a:xfrm>
            <a:off x="1112216" y="6009243"/>
            <a:ext cx="4628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不要忘记修改数据透视表中单元格的名称</a:t>
            </a:r>
            <a:endParaRPr lang="en-US" altLang="zh-CN" dirty="0"/>
          </a:p>
          <a:p>
            <a:r>
              <a:rPr lang="zh-CN" altLang="en-US" dirty="0"/>
              <a:t>注意看是否要求对数据排序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FA92E96-1068-44C2-99FC-0C6C92B2D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541" y="1596682"/>
            <a:ext cx="4433431" cy="421272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5B30107-1A7F-4001-BB49-F9F0B7B3C80F}"/>
              </a:ext>
            </a:extLst>
          </p:cNvPr>
          <p:cNvSpPr txBox="1"/>
          <p:nvPr/>
        </p:nvSpPr>
        <p:spPr>
          <a:xfrm>
            <a:off x="6775701" y="6063168"/>
            <a:ext cx="462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按要求调整值显示方式</a:t>
            </a:r>
          </a:p>
        </p:txBody>
      </p:sp>
    </p:spTree>
    <p:extLst>
      <p:ext uri="{BB962C8B-B14F-4D97-AF65-F5344CB8AC3E}">
        <p14:creationId xmlns:p14="http://schemas.microsoft.com/office/powerpoint/2010/main" val="989058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8B40D1-A955-4854-ABA3-FF9CF404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 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46E2D5-C3A5-4147-9600-A90573648F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动态图表</a:t>
            </a:r>
          </a:p>
        </p:txBody>
      </p:sp>
    </p:spTree>
    <p:extLst>
      <p:ext uri="{BB962C8B-B14F-4D97-AF65-F5344CB8AC3E}">
        <p14:creationId xmlns:p14="http://schemas.microsoft.com/office/powerpoint/2010/main" val="1376099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获取年份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678F8D7-8408-4961-9C57-7973CEC1A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7693"/>
            <a:ext cx="9316995" cy="446051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6920852-3F02-46B0-8AAD-56BBC8F6C91D}"/>
              </a:ext>
            </a:extLst>
          </p:cNvPr>
          <p:cNvSpPr txBox="1"/>
          <p:nvPr/>
        </p:nvSpPr>
        <p:spPr>
          <a:xfrm>
            <a:off x="838200" y="6219568"/>
            <a:ext cx="9228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=YEAR(A3)&amp;“</a:t>
            </a:r>
            <a:r>
              <a:rPr lang="zh-CN" altLang="en-US" b="1" dirty="0"/>
              <a:t>年</a:t>
            </a:r>
            <a:r>
              <a:rPr lang="en-US" altLang="zh-CN" b="1" dirty="0"/>
              <a:t>“ </a:t>
            </a:r>
            <a:r>
              <a:rPr lang="zh-CN" altLang="en-US" dirty="0"/>
              <a:t>或者 </a:t>
            </a:r>
            <a:r>
              <a:rPr lang="en-US" altLang="zh-CN" b="1" dirty="0"/>
              <a:t>=YEAR(A3)&amp;“</a:t>
            </a:r>
            <a:r>
              <a:rPr lang="zh-CN" altLang="en-US" b="1" dirty="0"/>
              <a:t> </a:t>
            </a:r>
            <a:r>
              <a:rPr lang="en-US" altLang="zh-CN" b="1" dirty="0"/>
              <a:t>“    </a:t>
            </a:r>
            <a:r>
              <a:rPr lang="zh-CN" altLang="en-US" dirty="0"/>
              <a:t>不然会被</a:t>
            </a:r>
            <a:r>
              <a:rPr lang="en-US" altLang="zh-CN" dirty="0"/>
              <a:t>excel</a:t>
            </a:r>
            <a:r>
              <a:rPr lang="zh-CN" altLang="en-US" dirty="0"/>
              <a:t>识别为日期出错</a:t>
            </a:r>
          </a:p>
        </p:txBody>
      </p:sp>
    </p:spTree>
    <p:extLst>
      <p:ext uri="{BB962C8B-B14F-4D97-AF65-F5344CB8AC3E}">
        <p14:creationId xmlns:p14="http://schemas.microsoft.com/office/powerpoint/2010/main" val="286622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获取所有不重复的值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920852-3F02-46B0-8AAD-56BBC8F6C91D}"/>
              </a:ext>
            </a:extLst>
          </p:cNvPr>
          <p:cNvSpPr txBox="1"/>
          <p:nvPr/>
        </p:nvSpPr>
        <p:spPr>
          <a:xfrm>
            <a:off x="632255" y="6308209"/>
            <a:ext cx="9228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数据</a:t>
            </a:r>
            <a:r>
              <a:rPr lang="en-US" altLang="zh-CN" b="1" dirty="0"/>
              <a:t>-&gt;</a:t>
            </a:r>
            <a:r>
              <a:rPr lang="zh-CN" altLang="en-US" b="1" dirty="0"/>
              <a:t>高级</a:t>
            </a:r>
            <a:r>
              <a:rPr lang="en-US" altLang="zh-CN" b="1" dirty="0"/>
              <a:t>-&gt;</a:t>
            </a:r>
            <a:r>
              <a:rPr lang="zh-CN" altLang="en-US" b="1" dirty="0"/>
              <a:t>选择不重复记录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546535-7837-42E1-9AC4-7ED0A5AAB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362" y="1383751"/>
            <a:ext cx="8410116" cy="483581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7F40C74-0A1A-4868-9358-F2EF712A8665}"/>
              </a:ext>
            </a:extLst>
          </p:cNvPr>
          <p:cNvSpPr txBox="1"/>
          <p:nvPr/>
        </p:nvSpPr>
        <p:spPr>
          <a:xfrm>
            <a:off x="7331676" y="369934"/>
            <a:ext cx="4022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一般用于找到所有年份、类别、地区，构建模拟运算表</a:t>
            </a:r>
          </a:p>
        </p:txBody>
      </p:sp>
    </p:spTree>
    <p:extLst>
      <p:ext uri="{BB962C8B-B14F-4D97-AF65-F5344CB8AC3E}">
        <p14:creationId xmlns:p14="http://schemas.microsoft.com/office/powerpoint/2010/main" val="2083745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index(</a:t>
            </a:r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数据源，行号，列号</a:t>
            </a:r>
            <a:r>
              <a:rPr lang="en-US" altLang="zh-CN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)  </a:t>
            </a:r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获取一个区域中的指定元素</a:t>
            </a:r>
            <a:r>
              <a:rPr lang="zh-CN" altLang="en-US" sz="7200" dirty="0"/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920852-3F02-46B0-8AAD-56BBC8F6C91D}"/>
              </a:ext>
            </a:extLst>
          </p:cNvPr>
          <p:cNvSpPr txBox="1"/>
          <p:nvPr/>
        </p:nvSpPr>
        <p:spPr>
          <a:xfrm>
            <a:off x="689920" y="6293185"/>
            <a:ext cx="9228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一般用于选中模拟控件指定的某个元素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19FD829-7244-4B9C-B21C-94589120C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11" y="1325563"/>
            <a:ext cx="9531178" cy="446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31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控件选择“全部”，就把相应的条件设置为空</a:t>
            </a:r>
            <a:endParaRPr lang="zh-CN" altLang="en-US" sz="7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19FD829-7244-4B9C-B21C-94589120C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411" y="1416179"/>
            <a:ext cx="9531178" cy="446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11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图表的标题可以指定到</a:t>
            </a:r>
            <a:r>
              <a:rPr lang="en-US" altLang="zh-CN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excel</a:t>
            </a:r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中的某个单元格上</a:t>
            </a:r>
            <a:endParaRPr lang="zh-CN" altLang="en-US" sz="7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5E9C28-ADA9-4838-8AE8-14AE02B4C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833" y="1477524"/>
            <a:ext cx="8072333" cy="461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1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=DATE(YEAR([@</a:t>
            </a:r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订购日期</a:t>
            </a:r>
            <a:r>
              <a:rPr lang="en-US" altLang="zh-CN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]),MONTH([@</a:t>
            </a:r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订购日期</a:t>
            </a:r>
            <a:r>
              <a:rPr lang="en-US" altLang="zh-CN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]),1)</a:t>
            </a:r>
            <a:br>
              <a:rPr lang="en-US" altLang="zh-CN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构建日期</a:t>
            </a:r>
            <a:endParaRPr lang="zh-CN" altLang="en-US" sz="7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168F68-4FDA-4C44-9390-07A2F605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881" y="1656410"/>
            <a:ext cx="9943070" cy="4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53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Excel bug</a:t>
            </a:r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3600" b="0" i="0" u="none" strike="noStrike" dirty="0" err="1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dsum</a:t>
            </a:r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的条件区匹配字符时只要从左往右字符一致就算是匹配成功</a:t>
            </a:r>
            <a:endParaRPr lang="zh-CN" altLang="en-US" sz="7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1EC1BE-2BBC-4CD2-9489-62D4AC906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40" y="1949979"/>
            <a:ext cx="3889038" cy="326603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2CB53F5-431D-414E-A6B0-02ACA10F467B}"/>
              </a:ext>
            </a:extLst>
          </p:cNvPr>
          <p:cNvSpPr txBox="1"/>
          <p:nvPr/>
        </p:nvSpPr>
        <p:spPr>
          <a:xfrm>
            <a:off x="741406" y="5601730"/>
            <a:ext cx="43742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直接构建模拟运算表，</a:t>
            </a:r>
            <a:r>
              <a:rPr lang="en-US" altLang="zh-CN" dirty="0"/>
              <a:t>A</a:t>
            </a:r>
            <a:r>
              <a:rPr lang="zh-CN" altLang="en-US" dirty="0"/>
              <a:t>被</a:t>
            </a:r>
            <a:r>
              <a:rPr lang="en-US" altLang="zh-CN" dirty="0" err="1"/>
              <a:t>dcounta</a:t>
            </a:r>
            <a:r>
              <a:rPr lang="zh-CN" altLang="en-US" dirty="0"/>
              <a:t>了</a:t>
            </a:r>
            <a:r>
              <a:rPr lang="en-US" altLang="zh-CN" dirty="0"/>
              <a:t>7</a:t>
            </a:r>
            <a:r>
              <a:rPr lang="zh-CN" altLang="en-US" dirty="0"/>
              <a:t>次，这是错误的因为把</a:t>
            </a:r>
            <a:r>
              <a:rPr lang="en-US" altLang="zh-CN" dirty="0"/>
              <a:t>AB</a:t>
            </a:r>
            <a:r>
              <a:rPr lang="zh-CN" altLang="en-US" dirty="0"/>
              <a:t>、</a:t>
            </a:r>
            <a:r>
              <a:rPr lang="en-US" altLang="zh-CN" dirty="0"/>
              <a:t>ABC</a:t>
            </a:r>
            <a:r>
              <a:rPr lang="zh-CN" altLang="en-US" dirty="0"/>
              <a:t>、</a:t>
            </a:r>
            <a:r>
              <a:rPr lang="en-US" altLang="zh-CN" dirty="0"/>
              <a:t>AC</a:t>
            </a:r>
            <a:r>
              <a:rPr lang="zh-CN" altLang="en-US" dirty="0"/>
              <a:t>都算进去了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5465A9-A154-4788-90CA-0F8BBF670A49}"/>
              </a:ext>
            </a:extLst>
          </p:cNvPr>
          <p:cNvSpPr txBox="1"/>
          <p:nvPr/>
        </p:nvSpPr>
        <p:spPr>
          <a:xfrm>
            <a:off x="6281352" y="5469924"/>
            <a:ext cx="54699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解决方案：在条件区的旁边设置一个单元格</a:t>
            </a:r>
            <a:r>
              <a:rPr lang="en-US" altLang="zh-CN" dirty="0"/>
              <a:t>”A”</a:t>
            </a:r>
            <a:r>
              <a:rPr lang="zh-CN" altLang="en-US" dirty="0"/>
              <a:t>放被限制的元素，在条件区内，使用</a:t>
            </a:r>
            <a:r>
              <a:rPr lang="en-US" altLang="zh-CN" dirty="0"/>
              <a:t>”=A”</a:t>
            </a:r>
            <a:r>
              <a:rPr lang="zh-CN" altLang="en-US" dirty="0"/>
              <a:t>，要求严格匹配，模拟运算表列引用的是条件区旁边设置的单元格</a:t>
            </a:r>
            <a:r>
              <a:rPr lang="en-US" altLang="zh-CN" dirty="0"/>
              <a:t>”A”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A261B38-2808-476E-ADE5-1A2D99FFC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319" y="1718853"/>
            <a:ext cx="5659340" cy="3509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2250FB0-CCB4-4BC6-947A-23919B43E901}"/>
              </a:ext>
            </a:extLst>
          </p:cNvPr>
          <p:cNvSpPr txBox="1"/>
          <p:nvPr/>
        </p:nvSpPr>
        <p:spPr>
          <a:xfrm>
            <a:off x="6328720" y="6431695"/>
            <a:ext cx="1495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="="&amp;W31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3598F34-B49C-448A-9D53-B934CDB59BB7}"/>
              </a:ext>
            </a:extLst>
          </p:cNvPr>
          <p:cNvSpPr txBox="1"/>
          <p:nvPr/>
        </p:nvSpPr>
        <p:spPr>
          <a:xfrm>
            <a:off x="5824151" y="806504"/>
            <a:ext cx="2858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看谢老师的例</a:t>
            </a:r>
            <a:r>
              <a:rPr lang="en-US" altLang="zh-CN" sz="2400" b="1" dirty="0">
                <a:solidFill>
                  <a:srgbClr val="FF0000"/>
                </a:solidFill>
              </a:rPr>
              <a:t>4-5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3431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找前</a:t>
            </a:r>
            <a:r>
              <a:rPr lang="en-US" altLang="zh-CN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大客户</a:t>
            </a:r>
            <a:endParaRPr lang="zh-CN" altLang="en-US" sz="7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5EA26E-DADA-4CBE-83FE-F5EB82ACA21D}"/>
              </a:ext>
            </a:extLst>
          </p:cNvPr>
          <p:cNvSpPr txBox="1"/>
          <p:nvPr/>
        </p:nvSpPr>
        <p:spPr>
          <a:xfrm>
            <a:off x="601901" y="1469286"/>
            <a:ext cx="73254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large(数据源，名次) 找到排名前</a:t>
            </a:r>
            <a:r>
              <a:rPr lang="en-US" altLang="zh-CN" sz="2800" dirty="0"/>
              <a:t>10</a:t>
            </a:r>
            <a:r>
              <a:rPr lang="zh-CN" altLang="en-US" sz="2800" dirty="0"/>
              <a:t>的销售额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7A5CC3-D729-420A-ABBD-EC1B6EBEE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01" y="2418485"/>
            <a:ext cx="10988197" cy="3578659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F386607-BD47-43E6-9C90-17D8AC949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083516"/>
              </p:ext>
            </p:extLst>
          </p:nvPr>
        </p:nvGraphicFramePr>
        <p:xfrm>
          <a:off x="8045794" y="663726"/>
          <a:ext cx="3701364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1364">
                  <a:extLst>
                    <a:ext uri="{9D8B030D-6E8A-4147-A177-3AD203B41FA5}">
                      <a16:colId xmlns:a16="http://schemas.microsoft.com/office/drawing/2014/main" val="267089434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large(</a:t>
                      </a:r>
                      <a:r>
                        <a:rPr lang="zh-CN" altLang="en-US" sz="2800" u="none" strike="noStrike">
                          <a:effectLst/>
                        </a:rPr>
                        <a:t>数据源，名次</a:t>
                      </a:r>
                      <a:r>
                        <a:rPr lang="en-US" altLang="zh-CN" sz="2800" u="none" strike="noStrike">
                          <a:effectLst/>
                        </a:rPr>
                        <a:t>)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857707724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small(</a:t>
                      </a:r>
                      <a:r>
                        <a:rPr lang="zh-CN" altLang="en-US" sz="2800" u="none" strike="noStrike">
                          <a:effectLst/>
                        </a:rPr>
                        <a:t>数据源，名次</a:t>
                      </a:r>
                      <a:r>
                        <a:rPr lang="en-US" altLang="zh-CN" sz="2800" u="none" strike="noStrike">
                          <a:effectLst/>
                        </a:rPr>
                        <a:t>)</a:t>
                      </a:r>
                      <a:endParaRPr lang="en-US" altLang="zh-CN" sz="2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4164503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rank(</a:t>
                      </a:r>
                      <a:r>
                        <a:rPr lang="zh-CN" altLang="en-US" sz="2800" u="none" strike="noStrike" dirty="0">
                          <a:effectLst/>
                        </a:rPr>
                        <a:t>数据，数据源</a:t>
                      </a:r>
                      <a:r>
                        <a:rPr lang="en-US" altLang="zh-CN" sz="2800" u="none" strike="noStrike" dirty="0">
                          <a:effectLst/>
                        </a:rPr>
                        <a:t>)</a:t>
                      </a:r>
                      <a:endParaRPr lang="en-US" altLang="zh-CN" sz="2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50376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3284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找前</a:t>
            </a:r>
            <a:r>
              <a:rPr lang="en-US" altLang="zh-CN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10</a:t>
            </a:r>
            <a:r>
              <a:rPr lang="zh-CN" altLang="en-US" sz="3600" b="0" i="0" u="none" strike="noStrike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大客户</a:t>
            </a:r>
            <a:endParaRPr lang="zh-CN" altLang="en-US" sz="7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5EA26E-DADA-4CBE-83FE-F5EB82ACA21D}"/>
              </a:ext>
            </a:extLst>
          </p:cNvPr>
          <p:cNvSpPr txBox="1"/>
          <p:nvPr/>
        </p:nvSpPr>
        <p:spPr>
          <a:xfrm>
            <a:off x="601901" y="1279815"/>
            <a:ext cx="86656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 err="1"/>
              <a:t>xlookup</a:t>
            </a:r>
            <a:r>
              <a:rPr lang="en-US" altLang="zh-CN" sz="2800" dirty="0"/>
              <a:t>(</a:t>
            </a:r>
            <a:r>
              <a:rPr lang="zh-CN" altLang="en-US" sz="2800" dirty="0"/>
              <a:t>要匹配的数据，来源列表，返回列表</a:t>
            </a:r>
            <a:r>
              <a:rPr lang="en-US" altLang="zh-CN" sz="2800" dirty="0"/>
              <a:t>)</a:t>
            </a:r>
          </a:p>
          <a:p>
            <a:r>
              <a:rPr lang="zh-CN" altLang="en-US" sz="2800" dirty="0"/>
              <a:t>找到销售额对应的客户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A1C44F-1A37-4EAE-9704-2B0EBD8F3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503" y="2403083"/>
            <a:ext cx="6834237" cy="3495701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368E9B0-8C33-469B-B32E-17BB175EA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625483"/>
              </p:ext>
            </p:extLst>
          </p:nvPr>
        </p:nvGraphicFramePr>
        <p:xfrm>
          <a:off x="8130231" y="547816"/>
          <a:ext cx="3495418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5418">
                  <a:extLst>
                    <a:ext uri="{9D8B030D-6E8A-4147-A177-3AD203B41FA5}">
                      <a16:colId xmlns:a16="http://schemas.microsoft.com/office/drawing/2014/main" val="1013231017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u="none" strike="noStrike">
                          <a:effectLst/>
                        </a:rPr>
                        <a:t>round(</a:t>
                      </a:r>
                      <a:r>
                        <a:rPr lang="zh-CN" altLang="en-US" sz="1800" u="none" strike="noStrike">
                          <a:effectLst/>
                        </a:rPr>
                        <a:t>数据，小数点位数</a:t>
                      </a:r>
                      <a:r>
                        <a:rPr lang="en-US" altLang="zh-CN" sz="1800" u="none" strike="noStrike">
                          <a:effectLst/>
                        </a:rPr>
                        <a:t>)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994161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800" u="none" strike="noStrike">
                          <a:effectLst/>
                        </a:rPr>
                        <a:t>roundup(</a:t>
                      </a:r>
                      <a:r>
                        <a:rPr lang="zh-CN" altLang="en-US" sz="1800" u="none" strike="noStrike">
                          <a:effectLst/>
                        </a:rPr>
                        <a:t>数据，小数点位数</a:t>
                      </a:r>
                      <a:r>
                        <a:rPr lang="en-US" altLang="zh-CN" sz="1800" u="none" strike="noStrike">
                          <a:effectLst/>
                        </a:rPr>
                        <a:t>)</a:t>
                      </a:r>
                      <a:endParaRPr lang="en-US" altLang="zh-CN" sz="18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25451991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 err="1">
                          <a:effectLst/>
                        </a:rPr>
                        <a:t>rounddown</a:t>
                      </a:r>
                      <a:r>
                        <a:rPr lang="en-US" sz="1800" u="none" strike="noStrike" dirty="0">
                          <a:effectLst/>
                        </a:rPr>
                        <a:t>(</a:t>
                      </a:r>
                      <a:r>
                        <a:rPr lang="zh-CN" altLang="en-US" sz="1800" u="none" strike="noStrike" dirty="0">
                          <a:effectLst/>
                        </a:rPr>
                        <a:t>数据，小数点位数</a:t>
                      </a:r>
                      <a:r>
                        <a:rPr lang="en-US" altLang="zh-CN" sz="1800" u="none" strike="noStrike" dirty="0">
                          <a:effectLst/>
                        </a:rPr>
                        <a:t>)</a:t>
                      </a:r>
                      <a:endParaRPr lang="en-US" altLang="zh-CN" sz="1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0166765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7107794C-AFF9-4987-B99E-B188C85CF4FE}"/>
              </a:ext>
            </a:extLst>
          </p:cNvPr>
          <p:cNvSpPr txBox="1"/>
          <p:nvPr/>
        </p:nvSpPr>
        <p:spPr>
          <a:xfrm>
            <a:off x="602170" y="60679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=INDEX($F$6:$F$94,MATCH(L6,$G$6:$G$94,0))</a:t>
            </a:r>
          </a:p>
          <a:p>
            <a:r>
              <a:rPr lang="en-US" altLang="zh-CN" sz="1800" dirty="0"/>
              <a:t>=XLOOKUP(L6,$G$6:$G$94,$F$6:$F$94)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024465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像图中显示选中月份前一个月与后一个月的销售额柱状图</a:t>
            </a:r>
            <a:r>
              <a:rPr lang="en-US" altLang="zh-CN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endParaRPr lang="zh-CN" altLang="en-US" sz="7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6781377-ADB1-49CA-A15E-0DA77A3F7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208" y="2156626"/>
            <a:ext cx="5448340" cy="389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9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像图中显示选中月份前一个月与后一个月的销售额柱状图</a:t>
            </a:r>
            <a:r>
              <a:rPr lang="en-US" altLang="zh-CN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endParaRPr lang="zh-CN" altLang="en-US" sz="7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3DA166-ECB4-4407-9B2A-B2228199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203" y="1268626"/>
            <a:ext cx="7618212" cy="524038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BD60E86-18FF-496F-8961-F09BA63AA86E}"/>
              </a:ext>
            </a:extLst>
          </p:cNvPr>
          <p:cNvSpPr txBox="1"/>
          <p:nvPr/>
        </p:nvSpPr>
        <p:spPr>
          <a:xfrm>
            <a:off x="420130" y="1804086"/>
            <a:ext cx="3097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对于被选中的月份显示其数值，对于未选中的显示为</a:t>
            </a:r>
            <a:r>
              <a:rPr lang="en-US" altLang="zh-CN" dirty="0"/>
              <a:t>0</a:t>
            </a:r>
          </a:p>
          <a:p>
            <a:endParaRPr lang="en-US" altLang="zh-CN" dirty="0"/>
          </a:p>
          <a:p>
            <a:r>
              <a:rPr lang="zh-CN" altLang="en-US" dirty="0"/>
              <a:t>之后绘制组合图</a:t>
            </a:r>
          </a:p>
        </p:txBody>
      </p:sp>
    </p:spTree>
    <p:extLst>
      <p:ext uri="{BB962C8B-B14F-4D97-AF65-F5344CB8AC3E}">
        <p14:creationId xmlns:p14="http://schemas.microsoft.com/office/powerpoint/2010/main" val="3113352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像图中显示选中月份前一个月与后一个月的销售额柱状图</a:t>
            </a:r>
            <a:r>
              <a:rPr lang="en-US" altLang="zh-CN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endParaRPr lang="zh-CN" altLang="en-US" sz="7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D60E86-18FF-496F-8961-F09BA63AA86E}"/>
              </a:ext>
            </a:extLst>
          </p:cNvPr>
          <p:cNvSpPr txBox="1"/>
          <p:nvPr/>
        </p:nvSpPr>
        <p:spPr>
          <a:xfrm>
            <a:off x="420130" y="1804086"/>
            <a:ext cx="3097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对于被选中的月份显示其数值，对于未选中的显示为</a:t>
            </a:r>
            <a:r>
              <a:rPr lang="en-US" altLang="zh-CN" dirty="0"/>
              <a:t>0</a:t>
            </a:r>
          </a:p>
          <a:p>
            <a:endParaRPr lang="en-US" altLang="zh-CN" dirty="0"/>
          </a:p>
          <a:p>
            <a:r>
              <a:rPr lang="zh-CN" altLang="en-US" dirty="0"/>
              <a:t>之后绘制组合图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1D4D0B-2884-4D11-BDA0-C9F7CC9C0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973" y="1189838"/>
            <a:ext cx="7452832" cy="51633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70A19D3-0029-4208-A961-3869A3B85837}"/>
              </a:ext>
            </a:extLst>
          </p:cNvPr>
          <p:cNvSpPr txBox="1"/>
          <p:nvPr/>
        </p:nvSpPr>
        <p:spPr>
          <a:xfrm>
            <a:off x="420130" y="3476358"/>
            <a:ext cx="18555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后面回归分析标注最优值的思路也一致</a:t>
            </a:r>
          </a:p>
        </p:txBody>
      </p:sp>
    </p:spTree>
    <p:extLst>
      <p:ext uri="{BB962C8B-B14F-4D97-AF65-F5344CB8AC3E}">
        <p14:creationId xmlns:p14="http://schemas.microsoft.com/office/powerpoint/2010/main" val="37854376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饼图、气泡图显示引导线</a:t>
            </a:r>
            <a:endParaRPr lang="zh-CN" altLang="en-US" sz="7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7D90C2E-D617-4BC2-810A-952A34595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365" y="1530951"/>
            <a:ext cx="10781270" cy="468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44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气泡图可以为数据标签添加单元格中的值</a:t>
            </a:r>
            <a:endParaRPr lang="zh-CN" altLang="en-US" sz="7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29DAE5-90E0-4932-B22C-E60CADDC9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51" y="1469286"/>
            <a:ext cx="11055178" cy="480900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CBD7E49-9B70-4C10-AF3E-7210D3E73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129" y="2640800"/>
            <a:ext cx="2371742" cy="157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844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29891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Count</a:t>
            </a:r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只统计有数值的单元格数目</a:t>
            </a:r>
            <a:br>
              <a:rPr lang="en-US" altLang="zh-CN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en-US" altLang="zh-CN" sz="3600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Counta</a:t>
            </a:r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统计所有被编辑过的单元格数目</a:t>
            </a:r>
            <a:endParaRPr lang="zh-CN" altLang="en-US" sz="72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CBD7E49-9B70-4C10-AF3E-7210D3E73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420" y="1882920"/>
            <a:ext cx="5939103" cy="394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70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0320C-4886-4EEC-829E-F2FFEFBE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14902A-7BC0-45CE-9C4D-17FCE4920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时间序列预测模型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7060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移动平均模型</a:t>
            </a:r>
            <a:endParaRPr lang="zh-CN" altLang="en-US" sz="7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88220-A122-43EC-84AF-82A25922366A}"/>
              </a:ext>
            </a:extLst>
          </p:cNvPr>
          <p:cNvSpPr txBox="1"/>
          <p:nvPr/>
        </p:nvSpPr>
        <p:spPr>
          <a:xfrm>
            <a:off x="566351" y="1401770"/>
            <a:ext cx="463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在</a:t>
            </a:r>
            <a:r>
              <a:rPr lang="en-US" altLang="zh-CN" b="1" dirty="0"/>
              <a:t>t+1</a:t>
            </a:r>
            <a:r>
              <a:rPr lang="zh-CN" altLang="en-US" b="1" dirty="0"/>
              <a:t>时刻的预测值</a:t>
            </a:r>
            <a:r>
              <a:rPr lang="en-US" altLang="zh-CN" b="1" dirty="0"/>
              <a:t>=</a:t>
            </a:r>
            <a:r>
              <a:rPr lang="zh-CN" altLang="en-US" b="1" dirty="0"/>
              <a:t>前</a:t>
            </a:r>
            <a:r>
              <a:rPr lang="en-US" altLang="zh-CN" b="1" dirty="0"/>
              <a:t>N</a:t>
            </a:r>
            <a:r>
              <a:rPr lang="zh-CN" altLang="en-US" b="1" dirty="0"/>
              <a:t>个真实值的平均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E223B0-6EC2-499F-B145-C69AE4CFF4BB}"/>
              </a:ext>
            </a:extLst>
          </p:cNvPr>
          <p:cNvSpPr txBox="1"/>
          <p:nvPr/>
        </p:nvSpPr>
        <p:spPr>
          <a:xfrm>
            <a:off x="566351" y="2174924"/>
            <a:ext cx="33393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在</a:t>
            </a:r>
            <a:r>
              <a:rPr lang="en-US" altLang="zh-CN" dirty="0"/>
              <a:t>excel</a:t>
            </a:r>
            <a:r>
              <a:rPr lang="zh-CN" altLang="en-US" dirty="0"/>
              <a:t>中，模型需要</a:t>
            </a:r>
            <a:r>
              <a:rPr lang="en-US" altLang="zh-CN" dirty="0"/>
              <a:t>3</a:t>
            </a:r>
            <a:r>
              <a:rPr lang="zh-CN" altLang="en-US" dirty="0"/>
              <a:t>个部分：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预测值列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条件区与模拟运算表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最优值与结论</a:t>
            </a:r>
            <a:endParaRPr lang="en-US" altLang="zh-CN" dirty="0"/>
          </a:p>
          <a:p>
            <a:pPr marL="342900" indent="-342900">
              <a:buAutoNum type="arabicPeriod"/>
            </a:pP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1612E2D-6B5A-44EF-B50F-381BF13A9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588" y="382375"/>
            <a:ext cx="5267460" cy="394974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AF650BD-90C5-4D26-BBBC-967F6198715F}"/>
              </a:ext>
            </a:extLst>
          </p:cNvPr>
          <p:cNvSpPr txBox="1"/>
          <p:nvPr/>
        </p:nvSpPr>
        <p:spPr>
          <a:xfrm>
            <a:off x="473727" y="4450119"/>
            <a:ext cx="117182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如何选中一个区域？</a:t>
            </a:r>
            <a:endParaRPr lang="en-US" altLang="zh-CN" dirty="0"/>
          </a:p>
          <a:p>
            <a:r>
              <a:rPr lang="en-US" altLang="zh-CN" dirty="0"/>
              <a:t>offset(</a:t>
            </a:r>
            <a:r>
              <a:rPr lang="zh-CN" altLang="en-US" dirty="0"/>
              <a:t>参考单元格，偏移的行数，偏移的列数，高度，宽度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average(offset())</a:t>
            </a:r>
            <a:r>
              <a:rPr lang="zh-CN" altLang="en-US" dirty="0"/>
              <a:t>可以用来计算选中区域的平均值</a:t>
            </a:r>
            <a:endParaRPr lang="en-US" altLang="zh-CN" dirty="0"/>
          </a:p>
          <a:p>
            <a:r>
              <a:rPr lang="zh-CN" altLang="en-US" dirty="0"/>
              <a:t>对于序号</a:t>
            </a:r>
            <a:r>
              <a:rPr lang="en-US" altLang="zh-CN" dirty="0"/>
              <a:t>&lt;=</a:t>
            </a:r>
            <a:r>
              <a:rPr lang="zh-CN" altLang="en-US" dirty="0"/>
              <a:t>移动平均跨度的样本显示空值（使用</a:t>
            </a:r>
            <a:r>
              <a:rPr lang="en-US" altLang="zh-CN" dirty="0"/>
              <a:t>if</a:t>
            </a:r>
            <a:r>
              <a:rPr lang="zh-CN" altLang="en-US" dirty="0"/>
              <a:t>函数），空值不要设置为</a:t>
            </a:r>
            <a:r>
              <a:rPr lang="en-US" altLang="zh-CN" dirty="0"/>
              <a:t>0</a:t>
            </a:r>
            <a:r>
              <a:rPr lang="zh-CN" altLang="en-US" dirty="0"/>
              <a:t>，而是设置为</a:t>
            </a:r>
            <a:r>
              <a:rPr lang="en-US" altLang="zh-CN" dirty="0"/>
              <a:t>””</a:t>
            </a:r>
            <a:r>
              <a:rPr lang="zh-CN" altLang="en-US" dirty="0"/>
              <a:t>，否则会影响</a:t>
            </a:r>
            <a:r>
              <a:rPr lang="en-US" altLang="zh-CN" dirty="0"/>
              <a:t>MSE</a:t>
            </a:r>
            <a:r>
              <a:rPr lang="zh-CN" altLang="en-US" dirty="0"/>
              <a:t>计算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8CD4A7-58E3-4EDE-9920-39BA30A89408}"/>
              </a:ext>
            </a:extLst>
          </p:cNvPr>
          <p:cNvSpPr txBox="1"/>
          <p:nvPr/>
        </p:nvSpPr>
        <p:spPr>
          <a:xfrm>
            <a:off x="566351" y="5952264"/>
            <a:ext cx="8229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MSE</a:t>
            </a:r>
            <a:r>
              <a:rPr lang="zh-CN" altLang="en-US" dirty="0"/>
              <a:t>=SUMXMY2(D2:D29,E2:E29)/COUNT(E2:E29)</a:t>
            </a:r>
            <a:endParaRPr lang="en-US" altLang="zh-CN" dirty="0"/>
          </a:p>
          <a:p>
            <a:r>
              <a:rPr lang="zh-CN" altLang="en-US" dirty="0"/>
              <a:t>注意： SUMXMY2和COUNT都是直接选中整个预测值区域以及实际值区域即可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3624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移动平均模型</a:t>
            </a:r>
            <a:endParaRPr lang="zh-CN" altLang="en-US" sz="72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388220-A122-43EC-84AF-82A25922366A}"/>
              </a:ext>
            </a:extLst>
          </p:cNvPr>
          <p:cNvSpPr txBox="1"/>
          <p:nvPr/>
        </p:nvSpPr>
        <p:spPr>
          <a:xfrm>
            <a:off x="566351" y="1401770"/>
            <a:ext cx="463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可以使用数据分析功能验证结果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E223B0-6EC2-499F-B145-C69AE4CFF4BB}"/>
              </a:ext>
            </a:extLst>
          </p:cNvPr>
          <p:cNvSpPr txBox="1"/>
          <p:nvPr/>
        </p:nvSpPr>
        <p:spPr>
          <a:xfrm>
            <a:off x="566351" y="2174924"/>
            <a:ext cx="33938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注意，输出区域要往下选一格</a:t>
            </a:r>
            <a:endParaRPr lang="en-US" altLang="zh-CN" dirty="0"/>
          </a:p>
          <a:p>
            <a:r>
              <a:rPr lang="zh-CN" altLang="en-US" dirty="0"/>
              <a:t>比如，右图中输入是</a:t>
            </a:r>
            <a:r>
              <a:rPr lang="en-US" altLang="zh-CN" dirty="0"/>
              <a:t>D2:D29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输出区域要选</a:t>
            </a:r>
            <a:r>
              <a:rPr lang="en-US" altLang="zh-CN" dirty="0"/>
              <a:t>F3:F30</a:t>
            </a:r>
            <a:r>
              <a:rPr lang="zh-CN" altLang="en-US" dirty="0"/>
              <a:t>，才能一致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65CD06-0A8D-4F7D-AF54-926AD2291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018" y="370283"/>
            <a:ext cx="6967631" cy="4904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3336A1F-6951-438D-8C9F-B75E74404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51" y="3540373"/>
            <a:ext cx="2858824" cy="3173904"/>
          </a:xfrm>
          <a:prstGeom prst="rect">
            <a:avLst/>
          </a:prstGeom>
        </p:spPr>
      </p:pic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E9DD47F0-17FA-4C00-ACE9-8572015EC636}"/>
              </a:ext>
            </a:extLst>
          </p:cNvPr>
          <p:cNvSpPr/>
          <p:nvPr/>
        </p:nvSpPr>
        <p:spPr>
          <a:xfrm>
            <a:off x="4559545" y="6433089"/>
            <a:ext cx="3444972" cy="281188"/>
          </a:xfrm>
          <a:prstGeom prst="wedgeRectCallout">
            <a:avLst>
              <a:gd name="adj1" fmla="val -87128"/>
              <a:gd name="adj2" fmla="val -3177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甚至还贴心地给出了公式</a:t>
            </a:r>
          </a:p>
        </p:txBody>
      </p:sp>
    </p:spTree>
    <p:extLst>
      <p:ext uri="{BB962C8B-B14F-4D97-AF65-F5344CB8AC3E}">
        <p14:creationId xmlns:p14="http://schemas.microsoft.com/office/powerpoint/2010/main" val="35060288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指数平滑模型</a:t>
            </a:r>
            <a:endParaRPr lang="zh-CN" altLang="en-US" sz="7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401770"/>
            <a:ext cx="7431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在</a:t>
            </a:r>
            <a:r>
              <a:rPr lang="en-US" altLang="zh-CN" b="1" dirty="0"/>
              <a:t>t+1</a:t>
            </a:r>
            <a:r>
              <a:rPr lang="zh-CN" altLang="en-US" b="1" dirty="0"/>
              <a:t>时刻的预测值</a:t>
            </a:r>
            <a:r>
              <a:rPr lang="en-US" altLang="zh-CN" b="1" dirty="0"/>
              <a:t>=a*t</a:t>
            </a:r>
            <a:r>
              <a:rPr lang="zh-CN" altLang="en-US" b="1" dirty="0"/>
              <a:t>时刻真实值</a:t>
            </a:r>
            <a:r>
              <a:rPr lang="en-US" altLang="zh-CN" b="1" dirty="0"/>
              <a:t>+(1-a)*t</a:t>
            </a:r>
            <a:r>
              <a:rPr lang="zh-CN" altLang="en-US" b="1" dirty="0"/>
              <a:t>时刻预测值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其中</a:t>
            </a:r>
            <a:r>
              <a:rPr lang="en-US" altLang="zh-CN" b="1" dirty="0"/>
              <a:t>a</a:t>
            </a:r>
            <a:r>
              <a:rPr lang="zh-CN" altLang="en-US" b="1" dirty="0"/>
              <a:t>是平滑常数，</a:t>
            </a:r>
            <a:r>
              <a:rPr lang="en-US" altLang="zh-CN" b="1" dirty="0"/>
              <a:t>(1-a)</a:t>
            </a:r>
            <a:r>
              <a:rPr lang="zh-CN" altLang="en-US" b="1" dirty="0"/>
              <a:t>是阻尼系数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283D03-931F-4083-9681-DB783E60A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947" y="2587702"/>
            <a:ext cx="7346144" cy="389039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DD8368C-B324-4693-869B-93D9315E48F0}"/>
              </a:ext>
            </a:extLst>
          </p:cNvPr>
          <p:cNvSpPr txBox="1"/>
          <p:nvPr/>
        </p:nvSpPr>
        <p:spPr>
          <a:xfrm>
            <a:off x="566351" y="311917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建模区域要素与移动平均一致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212891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指数平滑模型</a:t>
            </a:r>
            <a:endParaRPr lang="zh-CN" altLang="en-US" sz="7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401770"/>
            <a:ext cx="9287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解决这个问题比较快的方法就是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b="1" dirty="0"/>
              <a:t>先使用数据分析，把预测值算出来（注意数据分析要填的是阻尼系数不是平滑常数）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b="1" dirty="0"/>
              <a:t>把预测值中静态的数值改为条件区的平滑常数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7DF03E-0C8D-404C-8EA3-F5A0EB38E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396" y="2500032"/>
            <a:ext cx="7801023" cy="369817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1F10811-585C-46B1-8C67-92EB07DD45B1}"/>
              </a:ext>
            </a:extLst>
          </p:cNvPr>
          <p:cNvSpPr txBox="1"/>
          <p:nvPr/>
        </p:nvSpPr>
        <p:spPr>
          <a:xfrm>
            <a:off x="2427569" y="6344945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先用</a:t>
            </a:r>
            <a:r>
              <a:rPr lang="zh-CN" altLang="en-US" b="1" dirty="0"/>
              <a:t>数据分析，把预测值算好，我们注意到数据分析已经给出了公式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1491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指数平滑模型</a:t>
            </a:r>
            <a:endParaRPr lang="zh-CN" altLang="en-US" sz="7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401770"/>
            <a:ext cx="9287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解决这个问题比较快的方法就是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b="1" dirty="0"/>
              <a:t>先使用数据分析，把预测值算出来（注意数据分析要填的是阻尼系数不是平滑常数）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b="1" dirty="0"/>
              <a:t>把预测值中静态的数值改为条件区的平滑常数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F10811-585C-46B1-8C67-92EB07DD45B1}"/>
              </a:ext>
            </a:extLst>
          </p:cNvPr>
          <p:cNvSpPr txBox="1"/>
          <p:nvPr/>
        </p:nvSpPr>
        <p:spPr>
          <a:xfrm>
            <a:off x="3538910" y="6344945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把公式中的系数换成一旁的平滑常数，即可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FC3DFA-082A-4AE8-99E9-61C1F2182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82" y="2366988"/>
            <a:ext cx="8281011" cy="393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17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趋势预测模型</a:t>
            </a:r>
            <a:endParaRPr lang="zh-CN" altLang="en-US" sz="7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431744" y="1118631"/>
            <a:ext cx="92878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一共有</a:t>
            </a:r>
            <a:r>
              <a:rPr lang="en-US" altLang="zh-CN" b="1" dirty="0"/>
              <a:t>4</a:t>
            </a:r>
            <a:r>
              <a:rPr lang="zh-CN" altLang="en-US" b="1" dirty="0"/>
              <a:t>种方法，分别是：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b="1" dirty="0"/>
              <a:t>绘图添加趋势线（验证，一般非法）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en-US" altLang="zh-CN" b="1" dirty="0"/>
              <a:t>Intercept</a:t>
            </a:r>
            <a:r>
              <a:rPr lang="zh-CN" altLang="en-US" b="1" dirty="0"/>
              <a:t>计算斜率，</a:t>
            </a:r>
            <a:r>
              <a:rPr lang="en-US" altLang="zh-CN" b="1" dirty="0"/>
              <a:t>slope</a:t>
            </a:r>
            <a:r>
              <a:rPr lang="zh-CN" altLang="en-US" b="1" dirty="0"/>
              <a:t>计算截距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en-US" altLang="zh-CN" b="1" dirty="0" err="1"/>
              <a:t>Linest</a:t>
            </a:r>
            <a:r>
              <a:rPr lang="zh-CN" altLang="en-US" b="1" dirty="0"/>
              <a:t>直接计算出斜率与截距（输出行向量</a:t>
            </a:r>
            <a:r>
              <a:rPr lang="en-US" altLang="zh-CN" b="1" dirty="0"/>
              <a:t>(a, b)</a:t>
            </a:r>
            <a:r>
              <a:rPr lang="zh-CN" altLang="en-US" b="1" dirty="0"/>
              <a:t>，可以使用转置函数</a:t>
            </a:r>
            <a:r>
              <a:rPr lang="en-US" altLang="zh-CN" b="1" dirty="0"/>
              <a:t>transpose</a:t>
            </a:r>
            <a:r>
              <a:rPr lang="zh-CN" altLang="en-US" b="1" dirty="0"/>
              <a:t>变为列向量）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en-US" altLang="zh-CN" b="1" dirty="0"/>
              <a:t>FORECAST.LINEAR(B4,$C$2:$C$18,$B$2:$B$18)</a:t>
            </a:r>
            <a:r>
              <a:rPr lang="zh-CN" altLang="en-US" b="1" dirty="0"/>
              <a:t>，第一个参数是变的，输入</a:t>
            </a:r>
            <a:r>
              <a:rPr lang="en-US" altLang="zh-CN" b="1" dirty="0"/>
              <a:t>x</a:t>
            </a:r>
            <a:r>
              <a:rPr lang="zh-CN" altLang="en-US" b="1" dirty="0"/>
              <a:t>，另外两个参数分别是已知的</a:t>
            </a:r>
            <a:r>
              <a:rPr lang="en-US" altLang="zh-CN" b="1" dirty="0"/>
              <a:t>y</a:t>
            </a:r>
            <a:r>
              <a:rPr lang="zh-CN" altLang="en-US" b="1" dirty="0"/>
              <a:t>与已知的</a:t>
            </a:r>
            <a:r>
              <a:rPr lang="en-US" altLang="zh-CN" b="1" dirty="0"/>
              <a:t>x</a:t>
            </a:r>
          </a:p>
          <a:p>
            <a:pPr marL="342900" indent="-342900">
              <a:buAutoNum type="arabicPeriod"/>
            </a:pPr>
            <a:r>
              <a:rPr lang="de-DE" altLang="zh-CN" b="1" dirty="0"/>
              <a:t>TREND($C$2:$C$18,$B$2:$B$18,B3)</a:t>
            </a:r>
            <a:r>
              <a:rPr lang="zh-CN" altLang="en-US" b="1" dirty="0"/>
              <a:t>，第三个参数是变的，输入</a:t>
            </a:r>
            <a:r>
              <a:rPr lang="en-US" altLang="zh-CN" b="1" dirty="0"/>
              <a:t>x</a:t>
            </a:r>
            <a:r>
              <a:rPr lang="zh-CN" altLang="en-US" b="1" dirty="0"/>
              <a:t>，第一个参数是已知的</a:t>
            </a:r>
            <a:r>
              <a:rPr lang="en-US" altLang="zh-CN" b="1" dirty="0"/>
              <a:t>y</a:t>
            </a:r>
            <a:r>
              <a:rPr lang="zh-CN" altLang="en-US" b="1" dirty="0"/>
              <a:t>第二个参数是已知的</a:t>
            </a:r>
            <a:r>
              <a:rPr lang="en-US" altLang="zh-CN" b="1" dirty="0"/>
              <a:t>x</a:t>
            </a:r>
          </a:p>
          <a:p>
            <a:pPr marL="342900" indent="-342900">
              <a:buAutoNum type="arabicPeriod"/>
            </a:pPr>
            <a:r>
              <a:rPr lang="zh-CN" altLang="en-US" b="1" dirty="0"/>
              <a:t>数据分析直接输出报告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B5681B-767F-4B9B-B5CF-AC9A391F3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205" y="3495142"/>
            <a:ext cx="7200051" cy="32625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E3370D0-1EE5-4190-9772-406BC099B40B}"/>
              </a:ext>
            </a:extLst>
          </p:cNvPr>
          <p:cNvSpPr txBox="1"/>
          <p:nvPr/>
        </p:nvSpPr>
        <p:spPr>
          <a:xfrm>
            <a:off x="909758" y="4688041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详见例</a:t>
            </a:r>
            <a:r>
              <a:rPr lang="en-US" altLang="zh-CN" dirty="0"/>
              <a:t>5.3</a:t>
            </a:r>
          </a:p>
        </p:txBody>
      </p:sp>
    </p:spTree>
    <p:extLst>
      <p:ext uri="{BB962C8B-B14F-4D97-AF65-F5344CB8AC3E}">
        <p14:creationId xmlns:p14="http://schemas.microsoft.com/office/powerpoint/2010/main" val="2189416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线性趋势预测模型</a:t>
            </a:r>
            <a:endParaRPr lang="zh-CN" altLang="en-US" sz="7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431744" y="1118631"/>
            <a:ext cx="92878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一共有</a:t>
            </a:r>
            <a:r>
              <a:rPr lang="en-US" altLang="zh-CN" b="1" dirty="0"/>
              <a:t>4</a:t>
            </a:r>
            <a:r>
              <a:rPr lang="zh-CN" altLang="en-US" b="1" dirty="0"/>
              <a:t>种方法，分别是：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b="1" dirty="0"/>
              <a:t>绘图添加趋势线（验证，一般非法）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en-US" altLang="zh-CN" b="1" dirty="0"/>
              <a:t>Intercept</a:t>
            </a:r>
            <a:r>
              <a:rPr lang="zh-CN" altLang="en-US" b="1" dirty="0"/>
              <a:t>计算截距，</a:t>
            </a:r>
            <a:r>
              <a:rPr lang="en-US" altLang="zh-CN" b="1" dirty="0"/>
              <a:t>slope</a:t>
            </a:r>
            <a:r>
              <a:rPr lang="zh-CN" altLang="en-US" b="1" dirty="0"/>
              <a:t>计算斜率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en-US" altLang="zh-CN" b="1" dirty="0" err="1"/>
              <a:t>Linest</a:t>
            </a:r>
            <a:r>
              <a:rPr lang="zh-CN" altLang="en-US" b="1" dirty="0"/>
              <a:t>直接计算出斜率与截距（输出行向量</a:t>
            </a:r>
            <a:r>
              <a:rPr lang="en-US" altLang="zh-CN" b="1" dirty="0"/>
              <a:t>(a, b)</a:t>
            </a:r>
            <a:r>
              <a:rPr lang="zh-CN" altLang="en-US" b="1" dirty="0"/>
              <a:t>，可以使用转置函数</a:t>
            </a:r>
            <a:r>
              <a:rPr lang="en-US" altLang="zh-CN" b="1" dirty="0"/>
              <a:t>transpose</a:t>
            </a:r>
            <a:r>
              <a:rPr lang="zh-CN" altLang="en-US" b="1" dirty="0"/>
              <a:t>变为列向量）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en-US" altLang="zh-CN" b="1" dirty="0"/>
              <a:t>FORECAST.LINEAR(B4,$C$2:$C$18,$B$2:$B$18)</a:t>
            </a:r>
            <a:r>
              <a:rPr lang="zh-CN" altLang="en-US" b="1" dirty="0"/>
              <a:t>，第一个参数是变的，输入</a:t>
            </a:r>
            <a:r>
              <a:rPr lang="en-US" altLang="zh-CN" b="1" dirty="0"/>
              <a:t>x</a:t>
            </a:r>
            <a:r>
              <a:rPr lang="zh-CN" altLang="en-US" b="1" dirty="0"/>
              <a:t>，另外两个参数分别是已知的</a:t>
            </a:r>
            <a:r>
              <a:rPr lang="en-US" altLang="zh-CN" b="1" dirty="0"/>
              <a:t>y</a:t>
            </a:r>
            <a:r>
              <a:rPr lang="zh-CN" altLang="en-US" b="1" dirty="0"/>
              <a:t>与已知的</a:t>
            </a:r>
            <a:r>
              <a:rPr lang="en-US" altLang="zh-CN" b="1" dirty="0"/>
              <a:t>x</a:t>
            </a:r>
          </a:p>
          <a:p>
            <a:pPr marL="342900" indent="-342900">
              <a:buAutoNum type="arabicPeriod"/>
            </a:pPr>
            <a:r>
              <a:rPr lang="de-DE" altLang="zh-CN" b="1" dirty="0"/>
              <a:t>TREND($C$2:$C$18,$B$2:$B$18,B3)</a:t>
            </a:r>
            <a:r>
              <a:rPr lang="zh-CN" altLang="en-US" b="1" dirty="0"/>
              <a:t>，第三个参数是变的，输入</a:t>
            </a:r>
            <a:r>
              <a:rPr lang="en-US" altLang="zh-CN" b="1" dirty="0"/>
              <a:t>x</a:t>
            </a:r>
            <a:r>
              <a:rPr lang="zh-CN" altLang="en-US" b="1" dirty="0"/>
              <a:t>，第一个参数是已知的</a:t>
            </a:r>
            <a:r>
              <a:rPr lang="en-US" altLang="zh-CN" b="1" dirty="0"/>
              <a:t>y</a:t>
            </a:r>
            <a:r>
              <a:rPr lang="zh-CN" altLang="en-US" b="1" dirty="0"/>
              <a:t>第二个参数是已知的</a:t>
            </a:r>
            <a:r>
              <a:rPr lang="en-US" altLang="zh-CN" b="1" dirty="0"/>
              <a:t>x</a:t>
            </a:r>
          </a:p>
          <a:p>
            <a:pPr marL="342900" indent="-342900">
              <a:buAutoNum type="arabicPeriod"/>
            </a:pPr>
            <a:r>
              <a:rPr lang="zh-CN" altLang="en-US" b="1" dirty="0"/>
              <a:t>数据分析直接输出报告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B5681B-767F-4B9B-B5CF-AC9A391F3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205" y="3495142"/>
            <a:ext cx="7200051" cy="326252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E3370D0-1EE5-4190-9772-406BC099B40B}"/>
              </a:ext>
            </a:extLst>
          </p:cNvPr>
          <p:cNvSpPr txBox="1"/>
          <p:nvPr/>
        </p:nvSpPr>
        <p:spPr>
          <a:xfrm>
            <a:off x="909758" y="4688041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详见例</a:t>
            </a:r>
            <a:r>
              <a:rPr lang="en-US" altLang="zh-CN" dirty="0"/>
              <a:t>5.3</a:t>
            </a:r>
          </a:p>
        </p:txBody>
      </p:sp>
    </p:spTree>
    <p:extLst>
      <p:ext uri="{BB962C8B-B14F-4D97-AF65-F5344CB8AC3E}">
        <p14:creationId xmlns:p14="http://schemas.microsoft.com/office/powerpoint/2010/main" val="12996356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非线性趋势预测模型</a:t>
            </a:r>
            <a:endParaRPr lang="zh-CN" altLang="en-US" sz="72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275793"/>
            <a:ext cx="92878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没太多好说的，书上的例题</a:t>
            </a:r>
            <a:r>
              <a:rPr lang="en-US" altLang="zh-CN" b="1" dirty="0"/>
              <a:t>5.4</a:t>
            </a:r>
            <a:r>
              <a:rPr lang="zh-CN" altLang="en-US" b="1" dirty="0"/>
              <a:t>是绘图，添加趋势线，选择多项式，提高阶数，直到</a:t>
            </a:r>
            <a:r>
              <a:rPr lang="en-US" altLang="zh-CN" b="1" dirty="0"/>
              <a:t>R^2</a:t>
            </a:r>
            <a:r>
              <a:rPr lang="zh-CN" altLang="en-US" b="1" dirty="0"/>
              <a:t>绝对值提升不显著，甚至下降为止，即为最佳的非线性预测模型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严谨的方法是利用第六章的知识，使用数据分析，依次从比较高的阶次（比如这里是从</a:t>
            </a:r>
            <a:r>
              <a:rPr lang="en-US" altLang="zh-CN" b="1" dirty="0"/>
              <a:t>4</a:t>
            </a:r>
            <a:r>
              <a:rPr lang="zh-CN" altLang="en-US" b="1" dirty="0"/>
              <a:t>次多项式开始，因为</a:t>
            </a:r>
            <a:r>
              <a:rPr lang="en-US" altLang="zh-CN" b="1" dirty="0"/>
              <a:t>4</a:t>
            </a:r>
            <a:r>
              <a:rPr lang="zh-CN" altLang="en-US" b="1" dirty="0"/>
              <a:t>次多项式回归的</a:t>
            </a:r>
            <a:r>
              <a:rPr lang="en-US" altLang="zh-CN" b="1" dirty="0"/>
              <a:t>R^2</a:t>
            </a:r>
            <a:r>
              <a:rPr lang="zh-CN" altLang="en-US" b="1" dirty="0"/>
              <a:t>相比</a:t>
            </a:r>
            <a:r>
              <a:rPr lang="en-US" altLang="zh-CN" b="1" dirty="0"/>
              <a:t>3</a:t>
            </a:r>
            <a:r>
              <a:rPr lang="zh-CN" altLang="en-US" b="1" dirty="0"/>
              <a:t>次有降低）开始做回归分析，观察</a:t>
            </a:r>
            <a:r>
              <a:rPr lang="en-US" altLang="zh-CN" b="1" dirty="0"/>
              <a:t>p</a:t>
            </a:r>
            <a:r>
              <a:rPr lang="zh-CN" altLang="en-US" b="1" dirty="0"/>
              <a:t>值，如果有</a:t>
            </a:r>
            <a:r>
              <a:rPr lang="en-US" altLang="zh-CN" b="1" dirty="0"/>
              <a:t>p</a:t>
            </a:r>
            <a:r>
              <a:rPr lang="zh-CN" altLang="en-US" b="1" dirty="0"/>
              <a:t>值</a:t>
            </a:r>
            <a:r>
              <a:rPr lang="en-US" altLang="zh-CN" b="1" dirty="0"/>
              <a:t>&gt;0.05</a:t>
            </a:r>
            <a:r>
              <a:rPr lang="zh-CN" altLang="en-US" b="1" dirty="0"/>
              <a:t>的，那就降低阶次。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8580B33-6232-4AB6-AFF2-2E0A7A649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2" y="3377748"/>
            <a:ext cx="3783124" cy="229915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E4EC512-59F5-4C57-A938-4B6572DD8F5B}"/>
              </a:ext>
            </a:extLst>
          </p:cNvPr>
          <p:cNvSpPr txBox="1"/>
          <p:nvPr/>
        </p:nvSpPr>
        <p:spPr>
          <a:xfrm>
            <a:off x="171452" y="5754720"/>
            <a:ext cx="3741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4</a:t>
            </a:r>
            <a:r>
              <a:rPr lang="zh-CN" altLang="en-US" sz="1200" dirty="0"/>
              <a:t>次多项式回归中有</a:t>
            </a:r>
            <a:r>
              <a:rPr lang="en-US" altLang="zh-CN" sz="1200" dirty="0"/>
              <a:t>p</a:t>
            </a:r>
            <a:r>
              <a:rPr lang="zh-CN" altLang="en-US" sz="1200" dirty="0"/>
              <a:t>值</a:t>
            </a:r>
            <a:r>
              <a:rPr lang="en-US" altLang="zh-CN" sz="1200" dirty="0"/>
              <a:t>&gt;0.05</a:t>
            </a:r>
            <a:r>
              <a:rPr lang="zh-CN" altLang="en-US" sz="1200" dirty="0"/>
              <a:t>项，降为</a:t>
            </a:r>
            <a:r>
              <a:rPr lang="en-US" altLang="zh-CN" sz="1200" dirty="0"/>
              <a:t>3</a:t>
            </a:r>
            <a:r>
              <a:rPr lang="zh-CN" altLang="en-US" sz="1200" dirty="0"/>
              <a:t>次多项式回归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3023EBE-CD11-4F77-8EB9-2ED21060C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409" y="3429000"/>
            <a:ext cx="3984996" cy="229915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BA229FA-3042-4D72-8031-0C67ABB82400}"/>
              </a:ext>
            </a:extLst>
          </p:cNvPr>
          <p:cNvSpPr txBox="1"/>
          <p:nvPr/>
        </p:nvSpPr>
        <p:spPr>
          <a:xfrm>
            <a:off x="4171944" y="5747530"/>
            <a:ext cx="3741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3</a:t>
            </a:r>
            <a:r>
              <a:rPr lang="zh-CN" altLang="en-US" sz="1200" dirty="0"/>
              <a:t>次多项式回归中有</a:t>
            </a:r>
            <a:r>
              <a:rPr lang="en-US" altLang="zh-CN" sz="1200" dirty="0"/>
              <a:t>p</a:t>
            </a:r>
            <a:r>
              <a:rPr lang="zh-CN" altLang="en-US" sz="1200" dirty="0"/>
              <a:t>值</a:t>
            </a:r>
            <a:r>
              <a:rPr lang="en-US" altLang="zh-CN" sz="1200" dirty="0"/>
              <a:t>&gt;0.05</a:t>
            </a:r>
            <a:r>
              <a:rPr lang="zh-CN" altLang="en-US" sz="1200" dirty="0"/>
              <a:t>项，降为</a:t>
            </a:r>
            <a:r>
              <a:rPr lang="en-US" altLang="zh-CN" sz="1200" dirty="0"/>
              <a:t>2</a:t>
            </a:r>
            <a:r>
              <a:rPr lang="zh-CN" altLang="en-US" sz="1200" dirty="0"/>
              <a:t>次多项式回归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D963165-06E3-4326-B56A-0637B4CC3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405" y="3377748"/>
            <a:ext cx="4010595" cy="220445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419961A-0759-4735-AF27-6301D0D0CD0A}"/>
              </a:ext>
            </a:extLst>
          </p:cNvPr>
          <p:cNvSpPr txBox="1"/>
          <p:nvPr/>
        </p:nvSpPr>
        <p:spPr>
          <a:xfrm>
            <a:off x="8402643" y="5765444"/>
            <a:ext cx="3198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2</a:t>
            </a:r>
            <a:r>
              <a:rPr lang="zh-CN" altLang="en-US" sz="1200" b="1" dirty="0"/>
              <a:t>次多项式回归中</a:t>
            </a:r>
            <a:r>
              <a:rPr lang="en-US" altLang="zh-CN" sz="1200" b="1" dirty="0"/>
              <a:t>p</a:t>
            </a:r>
            <a:r>
              <a:rPr lang="zh-CN" altLang="en-US" sz="1200" b="1" dirty="0"/>
              <a:t>值都</a:t>
            </a:r>
            <a:r>
              <a:rPr lang="en-US" altLang="zh-CN" sz="1200" b="1" dirty="0"/>
              <a:t>&lt;0.05</a:t>
            </a:r>
            <a:r>
              <a:rPr lang="zh-CN" altLang="en-US" sz="1200" b="1" dirty="0"/>
              <a:t>，接受这个模型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FC6BCE44-0440-4AD0-AE8A-701ACF983E63}"/>
              </a:ext>
            </a:extLst>
          </p:cNvPr>
          <p:cNvCxnSpPr>
            <a:cxnSpLocks/>
          </p:cNvCxnSpPr>
          <p:nvPr/>
        </p:nvCxnSpPr>
        <p:spPr>
          <a:xfrm>
            <a:off x="3633788" y="4429125"/>
            <a:ext cx="804862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467D915-E52A-4CDF-A1B5-DEAB0E1A2799}"/>
              </a:ext>
            </a:extLst>
          </p:cNvPr>
          <p:cNvCxnSpPr>
            <a:cxnSpLocks/>
          </p:cNvCxnSpPr>
          <p:nvPr/>
        </p:nvCxnSpPr>
        <p:spPr>
          <a:xfrm>
            <a:off x="7720013" y="4414837"/>
            <a:ext cx="804862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1228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69877B-FD1E-4EB3-A6E1-E94BEFBB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51" y="143723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季节指数预测模型 </a:t>
            </a:r>
            <a:r>
              <a:rPr lang="en-US" altLang="zh-CN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Y=</a:t>
            </a:r>
            <a:r>
              <a:rPr lang="zh-CN" altLang="en-US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趋势成分</a:t>
            </a:r>
            <a:r>
              <a:rPr lang="en-US" altLang="zh-CN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不规则成分</a:t>
            </a:r>
            <a:r>
              <a:rPr lang="en-US" altLang="zh-CN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季节成分</a:t>
            </a:r>
            <a:endParaRPr lang="zh-CN" altLang="en-US" sz="72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275793"/>
            <a:ext cx="1076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如果题目没告诉我们季节模式长度，那就先使用 </a:t>
            </a:r>
            <a:r>
              <a:rPr lang="en-US" altLang="zh-CN" b="1" dirty="0"/>
              <a:t>FORECAST.ETS.SEASONALITY(y, x)</a:t>
            </a:r>
            <a:r>
              <a:rPr lang="zh-CN" altLang="en-US" b="1" dirty="0"/>
              <a:t> 季节模式长度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15D42E8-1243-4EFA-8FCC-EA0E769DC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30729"/>
            <a:ext cx="8650514" cy="416163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46AA09A-A367-44EC-AEB4-21244E77F670}"/>
              </a:ext>
            </a:extLst>
          </p:cNvPr>
          <p:cNvSpPr txBox="1"/>
          <p:nvPr/>
        </p:nvSpPr>
        <p:spPr>
          <a:xfrm>
            <a:off x="3657600" y="6177967"/>
            <a:ext cx="5133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注意这里公式里的</a:t>
            </a:r>
            <a:r>
              <a:rPr lang="en-US" altLang="zh-CN" dirty="0"/>
              <a:t>x</a:t>
            </a:r>
            <a:r>
              <a:rPr lang="zh-CN" altLang="en-US" dirty="0"/>
              <a:t>选年这一列而不是周期这一列</a:t>
            </a:r>
          </a:p>
        </p:txBody>
      </p:sp>
    </p:spTree>
    <p:extLst>
      <p:ext uri="{BB962C8B-B14F-4D97-AF65-F5344CB8AC3E}">
        <p14:creationId xmlns:p14="http://schemas.microsoft.com/office/powerpoint/2010/main" val="14318769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275793"/>
            <a:ext cx="10769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可以使用数据透视表汇总计算各月的平均值，也可以使用</a:t>
            </a:r>
            <a:r>
              <a:rPr lang="en-US" altLang="zh-CN" b="1" dirty="0"/>
              <a:t>average</a:t>
            </a:r>
            <a:r>
              <a:rPr lang="zh-CN" altLang="en-US" b="1" dirty="0"/>
              <a:t>手工计算，之后计算所有月的平均值得到了季节指数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2ED5944-86F2-4B1E-A937-07222A1C3B73}"/>
              </a:ext>
            </a:extLst>
          </p:cNvPr>
          <p:cNvSpPr txBox="1">
            <a:spLocks/>
          </p:cNvSpPr>
          <p:nvPr/>
        </p:nvSpPr>
        <p:spPr>
          <a:xfrm>
            <a:off x="566351" y="1437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季节指数预测模型 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Y=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趋势成分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不规则成分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季节成分</a:t>
            </a:r>
            <a:endParaRPr lang="zh-CN" altLang="en-US" sz="7200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B66C093-AF09-4B93-91C7-157FECAD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829" y="2215358"/>
            <a:ext cx="8650514" cy="416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126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275793"/>
            <a:ext cx="1076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将真实值</a:t>
            </a:r>
            <a:r>
              <a:rPr lang="en-US" altLang="zh-CN" b="1" dirty="0"/>
              <a:t>y</a:t>
            </a:r>
            <a:r>
              <a:rPr lang="zh-CN" altLang="en-US" b="1" dirty="0"/>
              <a:t>中的季节成分除去，得到趋势值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2ED5944-86F2-4B1E-A937-07222A1C3B73}"/>
              </a:ext>
            </a:extLst>
          </p:cNvPr>
          <p:cNvSpPr txBox="1">
            <a:spLocks/>
          </p:cNvSpPr>
          <p:nvPr/>
        </p:nvSpPr>
        <p:spPr>
          <a:xfrm>
            <a:off x="566351" y="1437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季节指数预测模型 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Y=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趋势成分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不规则成分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季节成分</a:t>
            </a:r>
            <a:endParaRPr lang="zh-CN" altLang="en-US" sz="7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9F29FC-5A16-49F0-A7BD-17290D5E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372" y="2082623"/>
            <a:ext cx="8997540" cy="390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908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275793"/>
            <a:ext cx="1076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将真实值</a:t>
            </a:r>
            <a:r>
              <a:rPr lang="en-US" altLang="zh-CN" b="1" dirty="0"/>
              <a:t>y</a:t>
            </a:r>
            <a:r>
              <a:rPr lang="zh-CN" altLang="en-US" b="1" dirty="0"/>
              <a:t>中的季节成分除去，得到趋势值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2ED5944-86F2-4B1E-A937-07222A1C3B73}"/>
              </a:ext>
            </a:extLst>
          </p:cNvPr>
          <p:cNvSpPr txBox="1">
            <a:spLocks/>
          </p:cNvSpPr>
          <p:nvPr/>
        </p:nvSpPr>
        <p:spPr>
          <a:xfrm>
            <a:off x="566351" y="1437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季节指数预测模型 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Y=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趋势成分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不规则成分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季节成分</a:t>
            </a:r>
            <a:endParaRPr lang="zh-CN" altLang="en-US" sz="7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9F29FC-5A16-49F0-A7BD-17290D5E3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372" y="2082623"/>
            <a:ext cx="8997540" cy="390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603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406622"/>
            <a:ext cx="1076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使用 </a:t>
            </a:r>
            <a:r>
              <a:rPr lang="en-US" altLang="zh-CN" b="1" dirty="0"/>
              <a:t>FORECAST.LINEAR </a:t>
            </a:r>
            <a:r>
              <a:rPr lang="zh-CN" altLang="en-US" b="1" dirty="0"/>
              <a:t>函数计算趋势值的预测值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2ED5944-86F2-4B1E-A937-07222A1C3B73}"/>
              </a:ext>
            </a:extLst>
          </p:cNvPr>
          <p:cNvSpPr txBox="1">
            <a:spLocks/>
          </p:cNvSpPr>
          <p:nvPr/>
        </p:nvSpPr>
        <p:spPr>
          <a:xfrm>
            <a:off x="566351" y="1437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季节指数预测模型 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Y=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趋势成分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不规则成分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季节成分</a:t>
            </a:r>
            <a:endParaRPr lang="zh-CN" altLang="en-US" sz="72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C4AC391-796C-4167-A2D4-49873FF0D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0" y="1940260"/>
            <a:ext cx="6867668" cy="448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583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406622"/>
            <a:ext cx="1076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最后乘上季节成分，我们就得到了预测值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2ED5944-86F2-4B1E-A937-07222A1C3B73}"/>
              </a:ext>
            </a:extLst>
          </p:cNvPr>
          <p:cNvSpPr txBox="1">
            <a:spLocks/>
          </p:cNvSpPr>
          <p:nvPr/>
        </p:nvSpPr>
        <p:spPr>
          <a:xfrm>
            <a:off x="566351" y="1437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季节指数预测模型 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Y=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趋势成分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不规则成分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季节成分</a:t>
            </a:r>
            <a:endParaRPr lang="zh-CN" altLang="en-US" sz="7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6C45A1-FBBF-4A5E-A939-A80883C48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976377"/>
            <a:ext cx="5721941" cy="45940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8139934-B9AB-437B-9468-BEA36FA2B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330" y="2448486"/>
            <a:ext cx="4805398" cy="29194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6A5B05A-AE41-4808-B399-39257CD5822B}"/>
              </a:ext>
            </a:extLst>
          </p:cNvPr>
          <p:cNvSpPr txBox="1"/>
          <p:nvPr/>
        </p:nvSpPr>
        <p:spPr>
          <a:xfrm>
            <a:off x="7808686" y="545137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画图验证答案是否正确</a:t>
            </a:r>
          </a:p>
        </p:txBody>
      </p:sp>
    </p:spTree>
    <p:extLst>
      <p:ext uri="{BB962C8B-B14F-4D97-AF65-F5344CB8AC3E}">
        <p14:creationId xmlns:p14="http://schemas.microsoft.com/office/powerpoint/2010/main" val="29919870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79AA7E1-62B5-4968-9EE0-054E4E2E04E4}"/>
              </a:ext>
            </a:extLst>
          </p:cNvPr>
          <p:cNvSpPr txBox="1"/>
          <p:nvPr/>
        </p:nvSpPr>
        <p:spPr>
          <a:xfrm>
            <a:off x="566351" y="1406622"/>
            <a:ext cx="1076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最后乘上季节成分，我们就得到了预测值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2ED5944-86F2-4B1E-A937-07222A1C3B73}"/>
              </a:ext>
            </a:extLst>
          </p:cNvPr>
          <p:cNvSpPr txBox="1">
            <a:spLocks/>
          </p:cNvSpPr>
          <p:nvPr/>
        </p:nvSpPr>
        <p:spPr>
          <a:xfrm>
            <a:off x="566351" y="1437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季节指数预测模型 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Y=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趋势成分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不规则成分</a:t>
            </a:r>
            <a:r>
              <a:rPr lang="en-US" altLang="zh-CN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*</a:t>
            </a:r>
            <a:r>
              <a:rPr lang="zh-CN" altLang="en-US" sz="3200" b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季节成分</a:t>
            </a:r>
            <a:endParaRPr lang="zh-CN" altLang="en-US" sz="7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6C45A1-FBBF-4A5E-A939-A80883C48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1976377"/>
            <a:ext cx="5721941" cy="459407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8139934-B9AB-437B-9468-BEA36FA2B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330" y="2448486"/>
            <a:ext cx="4805398" cy="29194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6A5B05A-AE41-4808-B399-39257CD5822B}"/>
              </a:ext>
            </a:extLst>
          </p:cNvPr>
          <p:cNvSpPr txBox="1"/>
          <p:nvPr/>
        </p:nvSpPr>
        <p:spPr>
          <a:xfrm>
            <a:off x="7808686" y="5451378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画图验证答案是否正确</a:t>
            </a:r>
          </a:p>
        </p:txBody>
      </p:sp>
    </p:spTree>
    <p:extLst>
      <p:ext uri="{BB962C8B-B14F-4D97-AF65-F5344CB8AC3E}">
        <p14:creationId xmlns:p14="http://schemas.microsoft.com/office/powerpoint/2010/main" val="36064461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50320C-4886-4EEC-829E-F2FFEFBE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Part5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14902A-7BC0-45CE-9C4D-17FCE4920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回归分析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304292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2ED5944-86F2-4B1E-A937-07222A1C3B73}"/>
              </a:ext>
            </a:extLst>
          </p:cNvPr>
          <p:cNvSpPr txBox="1">
            <a:spLocks/>
          </p:cNvSpPr>
          <p:nvPr/>
        </p:nvSpPr>
        <p:spPr>
          <a:xfrm>
            <a:off x="566351" y="1437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规划求解法</a:t>
            </a:r>
            <a:endParaRPr lang="zh-CN" altLang="en-US" sz="7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4AC3D58-3DC9-4960-8246-FC4B407C1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049" y="1279977"/>
            <a:ext cx="6987712" cy="429804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C753DE2-05B2-446E-A123-CC6F537E5710}"/>
              </a:ext>
            </a:extLst>
          </p:cNvPr>
          <p:cNvSpPr txBox="1"/>
          <p:nvPr/>
        </p:nvSpPr>
        <p:spPr>
          <a:xfrm>
            <a:off x="638629" y="6016171"/>
            <a:ext cx="11245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规划求解法需要构建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两参数与</a:t>
            </a:r>
            <a:r>
              <a:rPr lang="en-US" altLang="zh-CN" dirty="0"/>
              <a:t>MSE</a:t>
            </a:r>
            <a:r>
              <a:rPr lang="zh-CN" altLang="en-US" dirty="0"/>
              <a:t>这个目标函数的关系，在此之后把目标设为</a:t>
            </a:r>
            <a:r>
              <a:rPr lang="en-US" altLang="zh-CN" dirty="0"/>
              <a:t>MSE</a:t>
            </a:r>
            <a:r>
              <a:rPr lang="zh-CN" altLang="en-US" dirty="0"/>
              <a:t>，可变单元格设为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</a:p>
          <a:p>
            <a:r>
              <a:rPr lang="zh-CN" altLang="en-US" dirty="0"/>
              <a:t>之后直接求解即可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274E87-FB3D-483A-8D4F-EE060E14D04D}"/>
              </a:ext>
            </a:extLst>
          </p:cNvPr>
          <p:cNvSpPr txBox="1"/>
          <p:nvPr/>
        </p:nvSpPr>
        <p:spPr>
          <a:xfrm>
            <a:off x="8220866" y="3105834"/>
            <a:ext cx="3810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注意要关闭“使无约束变量为非负数”</a:t>
            </a:r>
            <a:endParaRPr lang="en-US" altLang="zh-CN" dirty="0"/>
          </a:p>
          <a:p>
            <a:r>
              <a:rPr lang="zh-CN" altLang="en-US" dirty="0"/>
              <a:t>截距与斜率可以是负的</a:t>
            </a:r>
          </a:p>
        </p:txBody>
      </p:sp>
    </p:spTree>
    <p:extLst>
      <p:ext uri="{BB962C8B-B14F-4D97-AF65-F5344CB8AC3E}">
        <p14:creationId xmlns:p14="http://schemas.microsoft.com/office/powerpoint/2010/main" val="38997140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2ED5944-86F2-4B1E-A937-07222A1C3B73}"/>
              </a:ext>
            </a:extLst>
          </p:cNvPr>
          <p:cNvSpPr txBox="1">
            <a:spLocks/>
          </p:cNvSpPr>
          <p:nvPr/>
        </p:nvSpPr>
        <p:spPr>
          <a:xfrm>
            <a:off x="566351" y="1437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数据分析法</a:t>
            </a:r>
            <a:endParaRPr lang="zh-CN" altLang="en-US" sz="72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C753DE2-05B2-446E-A123-CC6F537E5710}"/>
              </a:ext>
            </a:extLst>
          </p:cNvPr>
          <p:cNvSpPr txBox="1"/>
          <p:nvPr/>
        </p:nvSpPr>
        <p:spPr>
          <a:xfrm>
            <a:off x="638629" y="6175828"/>
            <a:ext cx="10759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直接填入</a:t>
            </a:r>
            <a:r>
              <a:rPr lang="en-US" altLang="zh-CN" dirty="0"/>
              <a:t>y</a:t>
            </a:r>
            <a:r>
              <a:rPr lang="zh-CN" altLang="en-US" dirty="0"/>
              <a:t>值输入区域以及</a:t>
            </a:r>
            <a:r>
              <a:rPr lang="en-US" altLang="zh-CN" dirty="0"/>
              <a:t>x</a:t>
            </a:r>
            <a:r>
              <a:rPr lang="zh-CN" altLang="en-US" dirty="0"/>
              <a:t>值输入区域即可，如果是非线性的回归比如</a:t>
            </a:r>
            <a:r>
              <a:rPr lang="en-US" altLang="zh-CN" dirty="0"/>
              <a:t>y=</a:t>
            </a:r>
            <a:r>
              <a:rPr lang="en-US" altLang="zh-CN" dirty="0" err="1"/>
              <a:t>ax^b</a:t>
            </a:r>
            <a:r>
              <a:rPr lang="zh-CN" altLang="en-US" dirty="0"/>
              <a:t>，那就取对数，化曲为直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2C7A24-D423-452A-AEDF-539AC8473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1" y="1243389"/>
            <a:ext cx="8737598" cy="470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455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2ED5944-86F2-4B1E-A937-07222A1C3B73}"/>
              </a:ext>
            </a:extLst>
          </p:cNvPr>
          <p:cNvSpPr txBox="1">
            <a:spLocks/>
          </p:cNvSpPr>
          <p:nvPr/>
        </p:nvSpPr>
        <p:spPr>
          <a:xfrm>
            <a:off x="566351" y="1437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多元线性回归</a:t>
            </a:r>
            <a:endParaRPr lang="zh-CN" altLang="en-US" sz="72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1F1585-DB4B-405E-8BA3-C400487C6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77" y="3027396"/>
            <a:ext cx="8091547" cy="34909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37EB513-D293-457F-9803-929D20C5514D}"/>
              </a:ext>
            </a:extLst>
          </p:cNvPr>
          <p:cNvSpPr txBox="1"/>
          <p:nvPr/>
        </p:nvSpPr>
        <p:spPr>
          <a:xfrm>
            <a:off x="791029" y="1469286"/>
            <a:ext cx="113896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先做单变量回归，选择</a:t>
            </a:r>
            <a:r>
              <a:rPr lang="en-US" altLang="zh-CN" dirty="0"/>
              <a:t>R^2</a:t>
            </a:r>
            <a:r>
              <a:rPr lang="zh-CN" altLang="en-US" dirty="0"/>
              <a:t>以及调整后</a:t>
            </a:r>
            <a:r>
              <a:rPr lang="en-US" altLang="zh-CN" dirty="0"/>
              <a:t>R^2</a:t>
            </a:r>
            <a:r>
              <a:rPr lang="zh-CN" altLang="en-US" dirty="0"/>
              <a:t>最大的变量（比如这里我们选择了</a:t>
            </a:r>
            <a:r>
              <a:rPr lang="en-US" altLang="zh-CN" dirty="0"/>
              <a:t>X1</a:t>
            </a:r>
            <a:r>
              <a:rPr lang="zh-CN" altLang="en-US" dirty="0"/>
              <a:t>），之后在</a:t>
            </a:r>
            <a:r>
              <a:rPr lang="en-US" altLang="zh-CN" dirty="0"/>
              <a:t>X1</a:t>
            </a:r>
            <a:r>
              <a:rPr lang="zh-CN" altLang="en-US" dirty="0"/>
              <a:t>基础上，分别做</a:t>
            </a:r>
            <a:endParaRPr lang="en-US" altLang="zh-CN" dirty="0"/>
          </a:p>
          <a:p>
            <a:r>
              <a:rPr lang="en-US" altLang="zh-CN" dirty="0"/>
              <a:t>X1</a:t>
            </a:r>
            <a:r>
              <a:rPr lang="zh-CN" altLang="en-US" dirty="0"/>
              <a:t>与其他变量的二元线性回归，选择选择</a:t>
            </a:r>
            <a:r>
              <a:rPr lang="en-US" altLang="zh-CN" dirty="0"/>
              <a:t>R^2</a:t>
            </a:r>
            <a:r>
              <a:rPr lang="zh-CN" altLang="en-US" dirty="0"/>
              <a:t>以及调整后</a:t>
            </a:r>
            <a:r>
              <a:rPr lang="en-US" altLang="zh-CN" dirty="0"/>
              <a:t>R^2</a:t>
            </a:r>
            <a:r>
              <a:rPr lang="zh-CN" altLang="en-US" dirty="0"/>
              <a:t>最大的变量，以此类推</a:t>
            </a:r>
            <a:r>
              <a:rPr lang="en-US" altLang="zh-CN" dirty="0"/>
              <a:t>……</a:t>
            </a:r>
            <a:r>
              <a:rPr lang="zh-CN" altLang="en-US" dirty="0"/>
              <a:t>直到我们发现在某一个</a:t>
            </a:r>
            <a:endParaRPr lang="en-US" altLang="zh-CN" dirty="0"/>
          </a:p>
          <a:p>
            <a:r>
              <a:rPr lang="zh-CN" altLang="en-US" dirty="0"/>
              <a:t>子集的基础上，无论加入哪一个未参与多元线性回归的变量，都无法提高</a:t>
            </a:r>
            <a:r>
              <a:rPr lang="en-US" altLang="zh-CN" dirty="0"/>
              <a:t>R^2</a:t>
            </a:r>
            <a:r>
              <a:rPr lang="zh-CN" altLang="en-US" dirty="0"/>
              <a:t>以及调整后</a:t>
            </a:r>
            <a:r>
              <a:rPr lang="en-US" altLang="zh-CN" dirty="0"/>
              <a:t>R^2</a:t>
            </a:r>
            <a:r>
              <a:rPr lang="zh-CN" altLang="en-US" dirty="0"/>
              <a:t>，那么当前的子集</a:t>
            </a:r>
            <a:endParaRPr lang="en-US" altLang="zh-CN" dirty="0"/>
          </a:p>
          <a:p>
            <a:r>
              <a:rPr lang="zh-CN" altLang="en-US" dirty="0"/>
              <a:t>就是最优子集。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1542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2232</Words>
  <Application>Microsoft Office PowerPoint</Application>
  <PresentationFormat>宽屏</PresentationFormat>
  <Paragraphs>172</Paragraphs>
  <Slides>56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63" baseType="lpstr">
      <vt:lpstr>??</vt:lpstr>
      <vt:lpstr>Arial Unicode MS</vt:lpstr>
      <vt:lpstr>等线</vt:lpstr>
      <vt:lpstr>等线 Light</vt:lpstr>
      <vt:lpstr>宋体</vt:lpstr>
      <vt:lpstr>Arial</vt:lpstr>
      <vt:lpstr>Office 主题​​</vt:lpstr>
      <vt:lpstr>One Last JGJ</vt:lpstr>
      <vt:lpstr>Part 1</vt:lpstr>
      <vt:lpstr>开启 Microsoft Query 功能 </vt:lpstr>
      <vt:lpstr>取消 “使用” 前的勾进入“高手模式” </vt:lpstr>
      <vt:lpstr>创建新数据源</vt:lpstr>
      <vt:lpstr>养成跳到最后一个结果观察查询总数的习惯</vt:lpstr>
      <vt:lpstr>确保 ER 图中所有表都是被连接的 </vt:lpstr>
      <vt:lpstr>订购明细.单价*数量*(1-折扣)</vt:lpstr>
      <vt:lpstr>Part 2</vt:lpstr>
      <vt:lpstr>好习惯：为数据透视表查询数据时一定要把.dqy文件保存</vt:lpstr>
      <vt:lpstr>柱状图宽度调节</vt:lpstr>
      <vt:lpstr>填充数据透视表中的空值</vt:lpstr>
      <vt:lpstr>把“订购日期”拖到数据透视表中自动出现“年”与“季度”字段</vt:lpstr>
      <vt:lpstr>熟练使用“分类汇总”、“总计”、“报表布局”调整数据透视表格式</vt:lpstr>
      <vt:lpstr>Excel bug：从右下拖到左上无法分组</vt:lpstr>
      <vt:lpstr>开始-&gt;条件格式-&gt;数据条</vt:lpstr>
      <vt:lpstr>注意检查数据透视表的查询是否正确1</vt:lpstr>
      <vt:lpstr>注意检查数据透视表的查询是否正确2</vt:lpstr>
      <vt:lpstr>注意检查数据透视表的查询是否正确3</vt:lpstr>
      <vt:lpstr>其他坑点</vt:lpstr>
      <vt:lpstr>Part 3</vt:lpstr>
      <vt:lpstr>获取年份</vt:lpstr>
      <vt:lpstr>获取所有不重复的值</vt:lpstr>
      <vt:lpstr>index(数据源，行号，列号)  获取一个区域中的指定元素 </vt:lpstr>
      <vt:lpstr>控件选择“全部”，就把相应的条件设置为空</vt:lpstr>
      <vt:lpstr>图表的标题可以指定到excel中的某个单元格上</vt:lpstr>
      <vt:lpstr>=DATE(YEAR([@订购日期]),MONTH([@订购日期]),1) 构建日期</vt:lpstr>
      <vt:lpstr>Excel bug：dsum的条件区匹配字符时只要从左往右字符一致就算是匹配成功</vt:lpstr>
      <vt:lpstr>找前10大客户</vt:lpstr>
      <vt:lpstr>找前10大客户</vt:lpstr>
      <vt:lpstr>像图中显示选中月份前一个月与后一个月的销售额柱状图0</vt:lpstr>
      <vt:lpstr>像图中显示选中月份前一个月与后一个月的销售额柱状图1</vt:lpstr>
      <vt:lpstr>像图中显示选中月份前一个月与后一个月的销售额柱状图2</vt:lpstr>
      <vt:lpstr>饼图、气泡图显示引导线</vt:lpstr>
      <vt:lpstr>气泡图可以为数据标签添加单元格中的值</vt:lpstr>
      <vt:lpstr>Count只统计有数值的单元格数目 Counta统计所有被编辑过的单元格数目</vt:lpstr>
      <vt:lpstr>Part4</vt:lpstr>
      <vt:lpstr>移动平均模型</vt:lpstr>
      <vt:lpstr>移动平均模型</vt:lpstr>
      <vt:lpstr>指数平滑模型</vt:lpstr>
      <vt:lpstr>指数平滑模型</vt:lpstr>
      <vt:lpstr>指数平滑模型</vt:lpstr>
      <vt:lpstr>趋势预测模型</vt:lpstr>
      <vt:lpstr>线性趋势预测模型</vt:lpstr>
      <vt:lpstr>非线性趋势预测模型</vt:lpstr>
      <vt:lpstr>季节指数预测模型 Y=趋势成分*不规则成分*季节成分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Part5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Last JGJ</dc:title>
  <dc:creator>Tunson Ebony</dc:creator>
  <cp:lastModifiedBy>Tunson Ebony</cp:lastModifiedBy>
  <cp:revision>26</cp:revision>
  <dcterms:created xsi:type="dcterms:W3CDTF">2026-05-06T12:50:17Z</dcterms:created>
  <dcterms:modified xsi:type="dcterms:W3CDTF">2026-05-10T06:39:23Z</dcterms:modified>
</cp:coreProperties>
</file>